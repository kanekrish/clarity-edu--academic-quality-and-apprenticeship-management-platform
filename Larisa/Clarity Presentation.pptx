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86" r:id="rId5"/>
    <p:sldId id="287" r:id="rId6"/>
    <p:sldId id="288" r:id="rId7"/>
    <p:sldId id="259" r:id="rId8"/>
    <p:sldId id="276" r:id="rId9"/>
    <p:sldId id="289" r:id="rId10"/>
    <p:sldId id="290" r:id="rId11"/>
    <p:sldId id="291" r:id="rId12"/>
    <p:sldId id="284" r:id="rId13"/>
    <p:sldId id="285" r:id="rId14"/>
    <p:sldId id="265" r:id="rId15"/>
    <p:sldId id="266" r:id="rId16"/>
    <p:sldId id="267" r:id="rId17"/>
    <p:sldId id="268" r:id="rId18"/>
    <p:sldId id="292" r:id="rId19"/>
    <p:sldId id="293" r:id="rId20"/>
    <p:sldId id="294" r:id="rId21"/>
    <p:sldId id="295" r:id="rId22"/>
    <p:sldId id="279" r:id="rId23"/>
    <p:sldId id="280" r:id="rId24"/>
    <p:sldId id="281" r:id="rId25"/>
    <p:sldId id="283" r:id="rId26"/>
    <p:sldId id="282"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69281" autoAdjust="0"/>
  </p:normalViewPr>
  <p:slideViewPr>
    <p:cSldViewPr snapToGrid="0" snapToObjects="1">
      <p:cViewPr varScale="1">
        <p:scale>
          <a:sx n="75" d="100"/>
          <a:sy n="75" d="100"/>
        </p:scale>
        <p:origin x="1627"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167E2B-7268-48C3-9626-8303C101791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3257B4-9621-4084-8F58-3103AC8F21D1}">
      <dgm:prSet/>
      <dgm:spPr/>
      <dgm:t>
        <a:bodyPr/>
        <a:lstStyle/>
        <a:p>
          <a:pPr>
            <a:lnSpc>
              <a:spcPct val="100000"/>
            </a:lnSpc>
          </a:pPr>
          <a:r>
            <a:rPr lang="en-US"/>
            <a:t>• Manual administrative processes</a:t>
          </a:r>
        </a:p>
      </dgm:t>
    </dgm:pt>
    <dgm:pt modelId="{D7E27917-38C5-4590-A547-EC96EBE52836}" type="parTrans" cxnId="{2551D465-B003-40A3-ABF5-98BF4E3CE68F}">
      <dgm:prSet/>
      <dgm:spPr/>
      <dgm:t>
        <a:bodyPr/>
        <a:lstStyle/>
        <a:p>
          <a:endParaRPr lang="en-US"/>
        </a:p>
      </dgm:t>
    </dgm:pt>
    <dgm:pt modelId="{4D5CC25B-C8F4-4796-92E8-E24E7184E213}" type="sibTrans" cxnId="{2551D465-B003-40A3-ABF5-98BF4E3CE68F}">
      <dgm:prSet/>
      <dgm:spPr/>
      <dgm:t>
        <a:bodyPr/>
        <a:lstStyle/>
        <a:p>
          <a:endParaRPr lang="en-US"/>
        </a:p>
      </dgm:t>
    </dgm:pt>
    <dgm:pt modelId="{4D6CCA5B-6FC2-463B-B20F-DF19FDE891BA}">
      <dgm:prSet/>
      <dgm:spPr/>
      <dgm:t>
        <a:bodyPr/>
        <a:lstStyle/>
        <a:p>
          <a:pPr>
            <a:lnSpc>
              <a:spcPct val="100000"/>
            </a:lnSpc>
          </a:pPr>
          <a:r>
            <a:rPr lang="en-US"/>
            <a:t>• Disconnected spreadsheets and records</a:t>
          </a:r>
        </a:p>
      </dgm:t>
    </dgm:pt>
    <dgm:pt modelId="{8AE19F55-82E4-4ADF-BCF1-0B3D5343965D}" type="parTrans" cxnId="{ED397619-3E97-4CCB-945D-55ED53B14AE8}">
      <dgm:prSet/>
      <dgm:spPr/>
      <dgm:t>
        <a:bodyPr/>
        <a:lstStyle/>
        <a:p>
          <a:endParaRPr lang="en-US"/>
        </a:p>
      </dgm:t>
    </dgm:pt>
    <dgm:pt modelId="{58212D6E-899E-4B9D-8453-4FA67C864868}" type="sibTrans" cxnId="{ED397619-3E97-4CCB-945D-55ED53B14AE8}">
      <dgm:prSet/>
      <dgm:spPr/>
      <dgm:t>
        <a:bodyPr/>
        <a:lstStyle/>
        <a:p>
          <a:endParaRPr lang="en-US"/>
        </a:p>
      </dgm:t>
    </dgm:pt>
    <dgm:pt modelId="{CA12F583-E699-41A7-B77C-C5E207192A49}">
      <dgm:prSet/>
      <dgm:spPr/>
      <dgm:t>
        <a:bodyPr/>
        <a:lstStyle/>
        <a:p>
          <a:pPr>
            <a:lnSpc>
              <a:spcPct val="100000"/>
            </a:lnSpc>
          </a:pPr>
          <a:r>
            <a:rPr lang="en-US"/>
            <a:t>• Difficulty monitoring learner progress</a:t>
          </a:r>
        </a:p>
      </dgm:t>
    </dgm:pt>
    <dgm:pt modelId="{9732B532-0446-4D87-8D63-B46B3BEB8416}" type="parTrans" cxnId="{48EA232C-918D-4603-B701-F719CAE92927}">
      <dgm:prSet/>
      <dgm:spPr/>
      <dgm:t>
        <a:bodyPr/>
        <a:lstStyle/>
        <a:p>
          <a:endParaRPr lang="en-US"/>
        </a:p>
      </dgm:t>
    </dgm:pt>
    <dgm:pt modelId="{E2E3CD8F-AC55-460D-A598-A4AB4E629687}" type="sibTrans" cxnId="{48EA232C-918D-4603-B701-F719CAE92927}">
      <dgm:prSet/>
      <dgm:spPr/>
      <dgm:t>
        <a:bodyPr/>
        <a:lstStyle/>
        <a:p>
          <a:endParaRPr lang="en-US"/>
        </a:p>
      </dgm:t>
    </dgm:pt>
    <dgm:pt modelId="{A595561B-EC86-4CAF-8860-BCC42040869E}">
      <dgm:prSet/>
      <dgm:spPr/>
      <dgm:t>
        <a:bodyPr/>
        <a:lstStyle/>
        <a:p>
          <a:pPr>
            <a:lnSpc>
              <a:spcPct val="100000"/>
            </a:lnSpc>
          </a:pPr>
          <a:r>
            <a:rPr lang="en-US"/>
            <a:t>• Challenges preparing for Ofsted inspections</a:t>
          </a:r>
        </a:p>
      </dgm:t>
    </dgm:pt>
    <dgm:pt modelId="{58222BE6-FD24-4D55-9488-4F7F683BC971}" type="parTrans" cxnId="{864629AD-23C3-49A8-AF9D-C52E85EC8B74}">
      <dgm:prSet/>
      <dgm:spPr/>
      <dgm:t>
        <a:bodyPr/>
        <a:lstStyle/>
        <a:p>
          <a:endParaRPr lang="en-US"/>
        </a:p>
      </dgm:t>
    </dgm:pt>
    <dgm:pt modelId="{CC041DD4-F7D7-4572-B41F-20C7B5ADD387}" type="sibTrans" cxnId="{864629AD-23C3-49A8-AF9D-C52E85EC8B74}">
      <dgm:prSet/>
      <dgm:spPr/>
      <dgm:t>
        <a:bodyPr/>
        <a:lstStyle/>
        <a:p>
          <a:endParaRPr lang="en-US"/>
        </a:p>
      </dgm:t>
    </dgm:pt>
    <dgm:pt modelId="{7E265B98-DA0B-4925-9AC1-0EA77813CB0E}">
      <dgm:prSet/>
      <dgm:spPr/>
      <dgm:t>
        <a:bodyPr/>
        <a:lstStyle/>
        <a:p>
          <a:pPr>
            <a:lnSpc>
              <a:spcPct val="100000"/>
            </a:lnSpc>
          </a:pPr>
          <a:r>
            <a:rPr lang="en-US"/>
            <a:t>• Need for a centralised digital solution</a:t>
          </a:r>
        </a:p>
      </dgm:t>
    </dgm:pt>
    <dgm:pt modelId="{07C649F2-638E-4C35-BFCA-D71F287BE35D}" type="parTrans" cxnId="{16573060-84D6-48D4-9762-B1956AD46341}">
      <dgm:prSet/>
      <dgm:spPr/>
      <dgm:t>
        <a:bodyPr/>
        <a:lstStyle/>
        <a:p>
          <a:endParaRPr lang="en-US"/>
        </a:p>
      </dgm:t>
    </dgm:pt>
    <dgm:pt modelId="{DBFBBB62-CEBB-4E2E-8B00-3DF747B49606}" type="sibTrans" cxnId="{16573060-84D6-48D4-9762-B1956AD46341}">
      <dgm:prSet/>
      <dgm:spPr/>
      <dgm:t>
        <a:bodyPr/>
        <a:lstStyle/>
        <a:p>
          <a:endParaRPr lang="en-US"/>
        </a:p>
      </dgm:t>
    </dgm:pt>
    <dgm:pt modelId="{6FB41E26-F53C-4BA4-A3B2-1491115A1DBF}" type="pres">
      <dgm:prSet presAssocID="{E2167E2B-7268-48C3-9626-8303C1017911}" presName="root" presStyleCnt="0">
        <dgm:presLayoutVars>
          <dgm:dir/>
          <dgm:resizeHandles val="exact"/>
        </dgm:presLayoutVars>
      </dgm:prSet>
      <dgm:spPr/>
    </dgm:pt>
    <dgm:pt modelId="{E62EDFD2-3429-414A-8976-2E9164DD7BA8}" type="pres">
      <dgm:prSet presAssocID="{CF3257B4-9621-4084-8F58-3103AC8F21D1}" presName="compNode" presStyleCnt="0"/>
      <dgm:spPr/>
    </dgm:pt>
    <dgm:pt modelId="{A48D7C0F-4B0A-4AD8-B317-4BF3ACB22C1E}" type="pres">
      <dgm:prSet presAssocID="{CF3257B4-9621-4084-8F58-3103AC8F21D1}" presName="bgRect" presStyleLbl="bgShp" presStyleIdx="0" presStyleCnt="5"/>
      <dgm:spPr/>
    </dgm:pt>
    <dgm:pt modelId="{EC5B64C9-D990-4E74-A6F5-8F7668FC96D1}" type="pres">
      <dgm:prSet presAssocID="{CF3257B4-9621-4084-8F58-3103AC8F21D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ears"/>
        </a:ext>
      </dgm:extLst>
    </dgm:pt>
    <dgm:pt modelId="{57E0F341-2061-4DCE-83D5-79D14E4CDF17}" type="pres">
      <dgm:prSet presAssocID="{CF3257B4-9621-4084-8F58-3103AC8F21D1}" presName="spaceRect" presStyleCnt="0"/>
      <dgm:spPr/>
    </dgm:pt>
    <dgm:pt modelId="{C0AF22B7-3CFD-4D8A-B634-9C082CF1818C}" type="pres">
      <dgm:prSet presAssocID="{CF3257B4-9621-4084-8F58-3103AC8F21D1}" presName="parTx" presStyleLbl="revTx" presStyleIdx="0" presStyleCnt="5">
        <dgm:presLayoutVars>
          <dgm:chMax val="0"/>
          <dgm:chPref val="0"/>
        </dgm:presLayoutVars>
      </dgm:prSet>
      <dgm:spPr/>
    </dgm:pt>
    <dgm:pt modelId="{FA7B6EC9-96C0-4E49-8F9E-763AF090D6B4}" type="pres">
      <dgm:prSet presAssocID="{4D5CC25B-C8F4-4796-92E8-E24E7184E213}" presName="sibTrans" presStyleCnt="0"/>
      <dgm:spPr/>
    </dgm:pt>
    <dgm:pt modelId="{47612056-55F6-4091-B78B-DF29B26238F0}" type="pres">
      <dgm:prSet presAssocID="{4D6CCA5B-6FC2-463B-B20F-DF19FDE891BA}" presName="compNode" presStyleCnt="0"/>
      <dgm:spPr/>
    </dgm:pt>
    <dgm:pt modelId="{53EFBA0C-7509-465B-A014-6FD9A67F6F6B}" type="pres">
      <dgm:prSet presAssocID="{4D6CCA5B-6FC2-463B-B20F-DF19FDE891BA}" presName="bgRect" presStyleLbl="bgShp" presStyleIdx="1" presStyleCnt="5"/>
      <dgm:spPr/>
    </dgm:pt>
    <dgm:pt modelId="{462F0D34-0E77-4320-A01B-8C3145B58044}" type="pres">
      <dgm:prSet presAssocID="{4D6CCA5B-6FC2-463B-B20F-DF19FDE891B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4535847A-EEFF-450C-B2BD-BBC2CC0D8AD9}" type="pres">
      <dgm:prSet presAssocID="{4D6CCA5B-6FC2-463B-B20F-DF19FDE891BA}" presName="spaceRect" presStyleCnt="0"/>
      <dgm:spPr/>
    </dgm:pt>
    <dgm:pt modelId="{646CC95A-E623-4597-8030-3D87BFEFB808}" type="pres">
      <dgm:prSet presAssocID="{4D6CCA5B-6FC2-463B-B20F-DF19FDE891BA}" presName="parTx" presStyleLbl="revTx" presStyleIdx="1" presStyleCnt="5">
        <dgm:presLayoutVars>
          <dgm:chMax val="0"/>
          <dgm:chPref val="0"/>
        </dgm:presLayoutVars>
      </dgm:prSet>
      <dgm:spPr/>
    </dgm:pt>
    <dgm:pt modelId="{BC9EC6B4-693F-4BEF-AA06-E3AD86C02636}" type="pres">
      <dgm:prSet presAssocID="{58212D6E-899E-4B9D-8453-4FA67C864868}" presName="sibTrans" presStyleCnt="0"/>
      <dgm:spPr/>
    </dgm:pt>
    <dgm:pt modelId="{6524C352-2CAF-4651-A61D-C510BE6647E4}" type="pres">
      <dgm:prSet presAssocID="{CA12F583-E699-41A7-B77C-C5E207192A49}" presName="compNode" presStyleCnt="0"/>
      <dgm:spPr/>
    </dgm:pt>
    <dgm:pt modelId="{E641F274-A216-4EFE-BD27-8E65E69C8515}" type="pres">
      <dgm:prSet presAssocID="{CA12F583-E699-41A7-B77C-C5E207192A49}" presName="bgRect" presStyleLbl="bgShp" presStyleIdx="2" presStyleCnt="5"/>
      <dgm:spPr/>
    </dgm:pt>
    <dgm:pt modelId="{8E6B5FB4-99F6-47E3-B0C8-761F4FEBFFE0}" type="pres">
      <dgm:prSet presAssocID="{CA12F583-E699-41A7-B77C-C5E207192A49}"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arning"/>
        </a:ext>
      </dgm:extLst>
    </dgm:pt>
    <dgm:pt modelId="{EAF88987-4125-41F0-92D6-1930837576E7}" type="pres">
      <dgm:prSet presAssocID="{CA12F583-E699-41A7-B77C-C5E207192A49}" presName="spaceRect" presStyleCnt="0"/>
      <dgm:spPr/>
    </dgm:pt>
    <dgm:pt modelId="{EF683AE2-3DA7-4DFF-A860-DD2A09E7445A}" type="pres">
      <dgm:prSet presAssocID="{CA12F583-E699-41A7-B77C-C5E207192A49}" presName="parTx" presStyleLbl="revTx" presStyleIdx="2" presStyleCnt="5">
        <dgm:presLayoutVars>
          <dgm:chMax val="0"/>
          <dgm:chPref val="0"/>
        </dgm:presLayoutVars>
      </dgm:prSet>
      <dgm:spPr/>
    </dgm:pt>
    <dgm:pt modelId="{6EDEDD45-189D-43E8-A1D6-392B4481F090}" type="pres">
      <dgm:prSet presAssocID="{E2E3CD8F-AC55-460D-A598-A4AB4E629687}" presName="sibTrans" presStyleCnt="0"/>
      <dgm:spPr/>
    </dgm:pt>
    <dgm:pt modelId="{E1E9E979-AFE0-42DC-870D-54A9E3A58B40}" type="pres">
      <dgm:prSet presAssocID="{A595561B-EC86-4CAF-8860-BCC42040869E}" presName="compNode" presStyleCnt="0"/>
      <dgm:spPr/>
    </dgm:pt>
    <dgm:pt modelId="{F1A9C480-09EA-4370-9D8C-169632CB66F3}" type="pres">
      <dgm:prSet presAssocID="{A595561B-EC86-4CAF-8860-BCC42040869E}" presName="bgRect" presStyleLbl="bgShp" presStyleIdx="3" presStyleCnt="5"/>
      <dgm:spPr/>
    </dgm:pt>
    <dgm:pt modelId="{BA720599-99A8-436F-9912-99FD08997D29}" type="pres">
      <dgm:prSet presAssocID="{A595561B-EC86-4CAF-8860-BCC42040869E}"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81944214-2C31-4DA9-96DE-C9BAFAAD548B}" type="pres">
      <dgm:prSet presAssocID="{A595561B-EC86-4CAF-8860-BCC42040869E}" presName="spaceRect" presStyleCnt="0"/>
      <dgm:spPr/>
    </dgm:pt>
    <dgm:pt modelId="{8BA4AD65-9340-4D6C-9A34-C15F0DA685F9}" type="pres">
      <dgm:prSet presAssocID="{A595561B-EC86-4CAF-8860-BCC42040869E}" presName="parTx" presStyleLbl="revTx" presStyleIdx="3" presStyleCnt="5">
        <dgm:presLayoutVars>
          <dgm:chMax val="0"/>
          <dgm:chPref val="0"/>
        </dgm:presLayoutVars>
      </dgm:prSet>
      <dgm:spPr/>
    </dgm:pt>
    <dgm:pt modelId="{CA8D5F36-E039-4EDD-915A-316264FF11D2}" type="pres">
      <dgm:prSet presAssocID="{CC041DD4-F7D7-4572-B41F-20C7B5ADD387}" presName="sibTrans" presStyleCnt="0"/>
      <dgm:spPr/>
    </dgm:pt>
    <dgm:pt modelId="{B2BA6E39-C978-45B4-8F7C-D2D4148BA869}" type="pres">
      <dgm:prSet presAssocID="{7E265B98-DA0B-4925-9AC1-0EA77813CB0E}" presName="compNode" presStyleCnt="0"/>
      <dgm:spPr/>
    </dgm:pt>
    <dgm:pt modelId="{AF213026-623F-4145-AA8A-09BBBEE334B8}" type="pres">
      <dgm:prSet presAssocID="{7E265B98-DA0B-4925-9AC1-0EA77813CB0E}" presName="bgRect" presStyleLbl="bgShp" presStyleIdx="4" presStyleCnt="5"/>
      <dgm:spPr/>
    </dgm:pt>
    <dgm:pt modelId="{D81D2E5C-5557-4D7E-8690-7973F2F73D4B}" type="pres">
      <dgm:prSet presAssocID="{7E265B98-DA0B-4925-9AC1-0EA77813CB0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C2FFF0FC-006A-4458-9676-B8A9245C2410}" type="pres">
      <dgm:prSet presAssocID="{7E265B98-DA0B-4925-9AC1-0EA77813CB0E}" presName="spaceRect" presStyleCnt="0"/>
      <dgm:spPr/>
    </dgm:pt>
    <dgm:pt modelId="{052D0D41-2A91-47FE-8861-02E16EE3E726}" type="pres">
      <dgm:prSet presAssocID="{7E265B98-DA0B-4925-9AC1-0EA77813CB0E}" presName="parTx" presStyleLbl="revTx" presStyleIdx="4" presStyleCnt="5">
        <dgm:presLayoutVars>
          <dgm:chMax val="0"/>
          <dgm:chPref val="0"/>
        </dgm:presLayoutVars>
      </dgm:prSet>
      <dgm:spPr/>
    </dgm:pt>
  </dgm:ptLst>
  <dgm:cxnLst>
    <dgm:cxn modelId="{DF414305-75EF-4ECB-84FF-27CD2237A133}" type="presOf" srcId="{CF3257B4-9621-4084-8F58-3103AC8F21D1}" destId="{C0AF22B7-3CFD-4D8A-B634-9C082CF1818C}" srcOrd="0" destOrd="0" presId="urn:microsoft.com/office/officeart/2018/2/layout/IconVerticalSolidList"/>
    <dgm:cxn modelId="{ED397619-3E97-4CCB-945D-55ED53B14AE8}" srcId="{E2167E2B-7268-48C3-9626-8303C1017911}" destId="{4D6CCA5B-6FC2-463B-B20F-DF19FDE891BA}" srcOrd="1" destOrd="0" parTransId="{8AE19F55-82E4-4ADF-BCF1-0B3D5343965D}" sibTransId="{58212D6E-899E-4B9D-8453-4FA67C864868}"/>
    <dgm:cxn modelId="{48EA232C-918D-4603-B701-F719CAE92927}" srcId="{E2167E2B-7268-48C3-9626-8303C1017911}" destId="{CA12F583-E699-41A7-B77C-C5E207192A49}" srcOrd="2" destOrd="0" parTransId="{9732B532-0446-4D87-8D63-B46B3BEB8416}" sibTransId="{E2E3CD8F-AC55-460D-A598-A4AB4E629687}"/>
    <dgm:cxn modelId="{16573060-84D6-48D4-9762-B1956AD46341}" srcId="{E2167E2B-7268-48C3-9626-8303C1017911}" destId="{7E265B98-DA0B-4925-9AC1-0EA77813CB0E}" srcOrd="4" destOrd="0" parTransId="{07C649F2-638E-4C35-BFCA-D71F287BE35D}" sibTransId="{DBFBBB62-CEBB-4E2E-8B00-3DF747B49606}"/>
    <dgm:cxn modelId="{2551D465-B003-40A3-ABF5-98BF4E3CE68F}" srcId="{E2167E2B-7268-48C3-9626-8303C1017911}" destId="{CF3257B4-9621-4084-8F58-3103AC8F21D1}" srcOrd="0" destOrd="0" parTransId="{D7E27917-38C5-4590-A547-EC96EBE52836}" sibTransId="{4D5CC25B-C8F4-4796-92E8-E24E7184E213}"/>
    <dgm:cxn modelId="{F9108D6A-5FEC-4EAA-8439-B09B7F03FE70}" type="presOf" srcId="{A595561B-EC86-4CAF-8860-BCC42040869E}" destId="{8BA4AD65-9340-4D6C-9A34-C15F0DA685F9}" srcOrd="0" destOrd="0" presId="urn:microsoft.com/office/officeart/2018/2/layout/IconVerticalSolidList"/>
    <dgm:cxn modelId="{94D75956-4DA3-4C27-9D24-AB4729E3ED6F}" type="presOf" srcId="{4D6CCA5B-6FC2-463B-B20F-DF19FDE891BA}" destId="{646CC95A-E623-4597-8030-3D87BFEFB808}" srcOrd="0" destOrd="0" presId="urn:microsoft.com/office/officeart/2018/2/layout/IconVerticalSolidList"/>
    <dgm:cxn modelId="{864629AD-23C3-49A8-AF9D-C52E85EC8B74}" srcId="{E2167E2B-7268-48C3-9626-8303C1017911}" destId="{A595561B-EC86-4CAF-8860-BCC42040869E}" srcOrd="3" destOrd="0" parTransId="{58222BE6-FD24-4D55-9488-4F7F683BC971}" sibTransId="{CC041DD4-F7D7-4572-B41F-20C7B5ADD387}"/>
    <dgm:cxn modelId="{9E5F29C8-828E-40FC-91DC-85DEA4C96A8A}" type="presOf" srcId="{CA12F583-E699-41A7-B77C-C5E207192A49}" destId="{EF683AE2-3DA7-4DFF-A860-DD2A09E7445A}" srcOrd="0" destOrd="0" presId="urn:microsoft.com/office/officeart/2018/2/layout/IconVerticalSolidList"/>
    <dgm:cxn modelId="{EB83E2D0-A9CB-4241-833F-B357C080F503}" type="presOf" srcId="{7E265B98-DA0B-4925-9AC1-0EA77813CB0E}" destId="{052D0D41-2A91-47FE-8861-02E16EE3E726}" srcOrd="0" destOrd="0" presId="urn:microsoft.com/office/officeart/2018/2/layout/IconVerticalSolidList"/>
    <dgm:cxn modelId="{AA704FE7-D493-46F3-A8EE-266FBFE88DC6}" type="presOf" srcId="{E2167E2B-7268-48C3-9626-8303C1017911}" destId="{6FB41E26-F53C-4BA4-A3B2-1491115A1DBF}" srcOrd="0" destOrd="0" presId="urn:microsoft.com/office/officeart/2018/2/layout/IconVerticalSolidList"/>
    <dgm:cxn modelId="{0C5D14DD-6744-4938-954E-466C91E5E400}" type="presParOf" srcId="{6FB41E26-F53C-4BA4-A3B2-1491115A1DBF}" destId="{E62EDFD2-3429-414A-8976-2E9164DD7BA8}" srcOrd="0" destOrd="0" presId="urn:microsoft.com/office/officeart/2018/2/layout/IconVerticalSolidList"/>
    <dgm:cxn modelId="{9DD9D831-9DDE-4E53-9F68-CEB099420E20}" type="presParOf" srcId="{E62EDFD2-3429-414A-8976-2E9164DD7BA8}" destId="{A48D7C0F-4B0A-4AD8-B317-4BF3ACB22C1E}" srcOrd="0" destOrd="0" presId="urn:microsoft.com/office/officeart/2018/2/layout/IconVerticalSolidList"/>
    <dgm:cxn modelId="{05E56E58-FFC1-4FF4-9CAF-0A94510C0EE6}" type="presParOf" srcId="{E62EDFD2-3429-414A-8976-2E9164DD7BA8}" destId="{EC5B64C9-D990-4E74-A6F5-8F7668FC96D1}" srcOrd="1" destOrd="0" presId="urn:microsoft.com/office/officeart/2018/2/layout/IconVerticalSolidList"/>
    <dgm:cxn modelId="{B0DAFEA8-9D45-41A7-BC29-271DC59AD73D}" type="presParOf" srcId="{E62EDFD2-3429-414A-8976-2E9164DD7BA8}" destId="{57E0F341-2061-4DCE-83D5-79D14E4CDF17}" srcOrd="2" destOrd="0" presId="urn:microsoft.com/office/officeart/2018/2/layout/IconVerticalSolidList"/>
    <dgm:cxn modelId="{8AA6EF39-9B64-4A0A-8450-186F1476E1C7}" type="presParOf" srcId="{E62EDFD2-3429-414A-8976-2E9164DD7BA8}" destId="{C0AF22B7-3CFD-4D8A-B634-9C082CF1818C}" srcOrd="3" destOrd="0" presId="urn:microsoft.com/office/officeart/2018/2/layout/IconVerticalSolidList"/>
    <dgm:cxn modelId="{7BFD6140-C530-48C7-BE45-94CD8AEED1DF}" type="presParOf" srcId="{6FB41E26-F53C-4BA4-A3B2-1491115A1DBF}" destId="{FA7B6EC9-96C0-4E49-8F9E-763AF090D6B4}" srcOrd="1" destOrd="0" presId="urn:microsoft.com/office/officeart/2018/2/layout/IconVerticalSolidList"/>
    <dgm:cxn modelId="{70838727-A92F-4359-B374-A8609080FF8A}" type="presParOf" srcId="{6FB41E26-F53C-4BA4-A3B2-1491115A1DBF}" destId="{47612056-55F6-4091-B78B-DF29B26238F0}" srcOrd="2" destOrd="0" presId="urn:microsoft.com/office/officeart/2018/2/layout/IconVerticalSolidList"/>
    <dgm:cxn modelId="{664F9B16-3300-486C-90B3-932A7E5827CC}" type="presParOf" srcId="{47612056-55F6-4091-B78B-DF29B26238F0}" destId="{53EFBA0C-7509-465B-A014-6FD9A67F6F6B}" srcOrd="0" destOrd="0" presId="urn:microsoft.com/office/officeart/2018/2/layout/IconVerticalSolidList"/>
    <dgm:cxn modelId="{CF978FEE-98DD-411C-8784-5FF89FAEB358}" type="presParOf" srcId="{47612056-55F6-4091-B78B-DF29B26238F0}" destId="{462F0D34-0E77-4320-A01B-8C3145B58044}" srcOrd="1" destOrd="0" presId="urn:microsoft.com/office/officeart/2018/2/layout/IconVerticalSolidList"/>
    <dgm:cxn modelId="{C85A5530-5A34-4005-81AD-D0786C4B5251}" type="presParOf" srcId="{47612056-55F6-4091-B78B-DF29B26238F0}" destId="{4535847A-EEFF-450C-B2BD-BBC2CC0D8AD9}" srcOrd="2" destOrd="0" presId="urn:microsoft.com/office/officeart/2018/2/layout/IconVerticalSolidList"/>
    <dgm:cxn modelId="{68626183-A154-4D43-9E3D-FEA8352E388E}" type="presParOf" srcId="{47612056-55F6-4091-B78B-DF29B26238F0}" destId="{646CC95A-E623-4597-8030-3D87BFEFB808}" srcOrd="3" destOrd="0" presId="urn:microsoft.com/office/officeart/2018/2/layout/IconVerticalSolidList"/>
    <dgm:cxn modelId="{D34D9532-EFC2-4E9E-9EE6-E1C25A0C96F8}" type="presParOf" srcId="{6FB41E26-F53C-4BA4-A3B2-1491115A1DBF}" destId="{BC9EC6B4-693F-4BEF-AA06-E3AD86C02636}" srcOrd="3" destOrd="0" presId="urn:microsoft.com/office/officeart/2018/2/layout/IconVerticalSolidList"/>
    <dgm:cxn modelId="{81503F4A-60B9-4AA4-BF74-2537650C13E3}" type="presParOf" srcId="{6FB41E26-F53C-4BA4-A3B2-1491115A1DBF}" destId="{6524C352-2CAF-4651-A61D-C510BE6647E4}" srcOrd="4" destOrd="0" presId="urn:microsoft.com/office/officeart/2018/2/layout/IconVerticalSolidList"/>
    <dgm:cxn modelId="{99209EB5-FE2F-4105-AF36-74A0F442B895}" type="presParOf" srcId="{6524C352-2CAF-4651-A61D-C510BE6647E4}" destId="{E641F274-A216-4EFE-BD27-8E65E69C8515}" srcOrd="0" destOrd="0" presId="urn:microsoft.com/office/officeart/2018/2/layout/IconVerticalSolidList"/>
    <dgm:cxn modelId="{D02C23CE-1B7B-4366-A510-56B4B15BF729}" type="presParOf" srcId="{6524C352-2CAF-4651-A61D-C510BE6647E4}" destId="{8E6B5FB4-99F6-47E3-B0C8-761F4FEBFFE0}" srcOrd="1" destOrd="0" presId="urn:microsoft.com/office/officeart/2018/2/layout/IconVerticalSolidList"/>
    <dgm:cxn modelId="{3305A95F-1A34-4A7C-B356-E694FA2BDABF}" type="presParOf" srcId="{6524C352-2CAF-4651-A61D-C510BE6647E4}" destId="{EAF88987-4125-41F0-92D6-1930837576E7}" srcOrd="2" destOrd="0" presId="urn:microsoft.com/office/officeart/2018/2/layout/IconVerticalSolidList"/>
    <dgm:cxn modelId="{702C50EB-4C21-47DA-AE22-A34ADBEB2C55}" type="presParOf" srcId="{6524C352-2CAF-4651-A61D-C510BE6647E4}" destId="{EF683AE2-3DA7-4DFF-A860-DD2A09E7445A}" srcOrd="3" destOrd="0" presId="urn:microsoft.com/office/officeart/2018/2/layout/IconVerticalSolidList"/>
    <dgm:cxn modelId="{F5BC3D3F-A9AA-4E0D-AA5E-9BF2025ADFCF}" type="presParOf" srcId="{6FB41E26-F53C-4BA4-A3B2-1491115A1DBF}" destId="{6EDEDD45-189D-43E8-A1D6-392B4481F090}" srcOrd="5" destOrd="0" presId="urn:microsoft.com/office/officeart/2018/2/layout/IconVerticalSolidList"/>
    <dgm:cxn modelId="{FC0C9827-A74E-4796-90E2-D340303772DE}" type="presParOf" srcId="{6FB41E26-F53C-4BA4-A3B2-1491115A1DBF}" destId="{E1E9E979-AFE0-42DC-870D-54A9E3A58B40}" srcOrd="6" destOrd="0" presId="urn:microsoft.com/office/officeart/2018/2/layout/IconVerticalSolidList"/>
    <dgm:cxn modelId="{A6725925-CD0E-4467-87BA-B587B0E2765F}" type="presParOf" srcId="{E1E9E979-AFE0-42DC-870D-54A9E3A58B40}" destId="{F1A9C480-09EA-4370-9D8C-169632CB66F3}" srcOrd="0" destOrd="0" presId="urn:microsoft.com/office/officeart/2018/2/layout/IconVerticalSolidList"/>
    <dgm:cxn modelId="{F74AE1C5-C283-4539-8712-D65793E37337}" type="presParOf" srcId="{E1E9E979-AFE0-42DC-870D-54A9E3A58B40}" destId="{BA720599-99A8-436F-9912-99FD08997D29}" srcOrd="1" destOrd="0" presId="urn:microsoft.com/office/officeart/2018/2/layout/IconVerticalSolidList"/>
    <dgm:cxn modelId="{F635F570-F335-4539-8B28-BEDD6B5FDDBD}" type="presParOf" srcId="{E1E9E979-AFE0-42DC-870D-54A9E3A58B40}" destId="{81944214-2C31-4DA9-96DE-C9BAFAAD548B}" srcOrd="2" destOrd="0" presId="urn:microsoft.com/office/officeart/2018/2/layout/IconVerticalSolidList"/>
    <dgm:cxn modelId="{DE705999-D2EA-4111-89A6-BCD1C0670C8C}" type="presParOf" srcId="{E1E9E979-AFE0-42DC-870D-54A9E3A58B40}" destId="{8BA4AD65-9340-4D6C-9A34-C15F0DA685F9}" srcOrd="3" destOrd="0" presId="urn:microsoft.com/office/officeart/2018/2/layout/IconVerticalSolidList"/>
    <dgm:cxn modelId="{1342406F-2986-4A10-B81A-9F8DD0BEA1E4}" type="presParOf" srcId="{6FB41E26-F53C-4BA4-A3B2-1491115A1DBF}" destId="{CA8D5F36-E039-4EDD-915A-316264FF11D2}" srcOrd="7" destOrd="0" presId="urn:microsoft.com/office/officeart/2018/2/layout/IconVerticalSolidList"/>
    <dgm:cxn modelId="{8E0D0920-169E-44FC-8BFC-61681EBCD56B}" type="presParOf" srcId="{6FB41E26-F53C-4BA4-A3B2-1491115A1DBF}" destId="{B2BA6E39-C978-45B4-8F7C-D2D4148BA869}" srcOrd="8" destOrd="0" presId="urn:microsoft.com/office/officeart/2018/2/layout/IconVerticalSolidList"/>
    <dgm:cxn modelId="{90D3F452-9319-4985-A69A-4BC341A01A2E}" type="presParOf" srcId="{B2BA6E39-C978-45B4-8F7C-D2D4148BA869}" destId="{AF213026-623F-4145-AA8A-09BBBEE334B8}" srcOrd="0" destOrd="0" presId="urn:microsoft.com/office/officeart/2018/2/layout/IconVerticalSolidList"/>
    <dgm:cxn modelId="{CB4723D8-3736-4839-9488-9F0B2CDB3866}" type="presParOf" srcId="{B2BA6E39-C978-45B4-8F7C-D2D4148BA869}" destId="{D81D2E5C-5557-4D7E-8690-7973F2F73D4B}" srcOrd="1" destOrd="0" presId="urn:microsoft.com/office/officeart/2018/2/layout/IconVerticalSolidList"/>
    <dgm:cxn modelId="{12932CA1-1FAB-47E3-A607-F4D421DEE9DC}" type="presParOf" srcId="{B2BA6E39-C978-45B4-8F7C-D2D4148BA869}" destId="{C2FFF0FC-006A-4458-9676-B8A9245C2410}" srcOrd="2" destOrd="0" presId="urn:microsoft.com/office/officeart/2018/2/layout/IconVerticalSolidList"/>
    <dgm:cxn modelId="{28499C21-8746-448C-8255-5337644C3EFB}" type="presParOf" srcId="{B2BA6E39-C978-45B4-8F7C-D2D4148BA869}" destId="{052D0D41-2A91-47FE-8861-02E16EE3E72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2F4BCF-73DB-4950-904E-1E161973162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8BE3AF4-B0A5-4FEE-86F1-215CAF625921}">
      <dgm:prSet/>
      <dgm:spPr/>
      <dgm:t>
        <a:bodyPr/>
        <a:lstStyle/>
        <a:p>
          <a:r>
            <a:rPr lang="en-US"/>
            <a:t>Aim: Develop a platform supporting academic quality and Ofsted readiness.</a:t>
          </a:r>
        </a:p>
      </dgm:t>
    </dgm:pt>
    <dgm:pt modelId="{606991F1-10F8-485C-A853-04FB620298FE}" type="parTrans" cxnId="{95C46AB3-E40E-40D4-AE86-EAA2AFBC3C6A}">
      <dgm:prSet/>
      <dgm:spPr/>
      <dgm:t>
        <a:bodyPr/>
        <a:lstStyle/>
        <a:p>
          <a:endParaRPr lang="en-US"/>
        </a:p>
      </dgm:t>
    </dgm:pt>
    <dgm:pt modelId="{816B081A-4628-42E2-966C-4695510214D0}" type="sibTrans" cxnId="{95C46AB3-E40E-40D4-AE86-EAA2AFBC3C6A}">
      <dgm:prSet/>
      <dgm:spPr/>
      <dgm:t>
        <a:bodyPr/>
        <a:lstStyle/>
        <a:p>
          <a:endParaRPr lang="en-US"/>
        </a:p>
      </dgm:t>
    </dgm:pt>
    <dgm:pt modelId="{CCF15BD9-7641-4FE6-B32A-EA705B7E2F16}">
      <dgm:prSet/>
      <dgm:spPr/>
      <dgm:t>
        <a:bodyPr/>
        <a:lstStyle/>
        <a:p>
          <a:r>
            <a:rPr lang="en-US"/>
            <a:t>Objectives:</a:t>
          </a:r>
        </a:p>
      </dgm:t>
    </dgm:pt>
    <dgm:pt modelId="{1F32BF5F-3BD6-4F61-8F32-8124101E4308}" type="parTrans" cxnId="{FC742A34-BC73-4281-AAF2-A0D7AFB0A581}">
      <dgm:prSet/>
      <dgm:spPr/>
      <dgm:t>
        <a:bodyPr/>
        <a:lstStyle/>
        <a:p>
          <a:endParaRPr lang="en-US"/>
        </a:p>
      </dgm:t>
    </dgm:pt>
    <dgm:pt modelId="{FA8DC308-1920-4F7F-96AB-2E30453F4F98}" type="sibTrans" cxnId="{FC742A34-BC73-4281-AAF2-A0D7AFB0A581}">
      <dgm:prSet/>
      <dgm:spPr/>
      <dgm:t>
        <a:bodyPr/>
        <a:lstStyle/>
        <a:p>
          <a:endParaRPr lang="en-US"/>
        </a:p>
      </dgm:t>
    </dgm:pt>
    <dgm:pt modelId="{6C548633-7A1C-4988-A4FF-E023B532FCE5}">
      <dgm:prSet/>
      <dgm:spPr/>
      <dgm:t>
        <a:bodyPr/>
        <a:lstStyle/>
        <a:p>
          <a:r>
            <a:rPr lang="en-US"/>
            <a:t>• Improve learner monitoring</a:t>
          </a:r>
        </a:p>
      </dgm:t>
    </dgm:pt>
    <dgm:pt modelId="{40A35365-12D1-4939-9DBD-616EDABB81D3}" type="parTrans" cxnId="{B2957FC2-5492-43D4-AA84-774BFDB9355D}">
      <dgm:prSet/>
      <dgm:spPr/>
      <dgm:t>
        <a:bodyPr/>
        <a:lstStyle/>
        <a:p>
          <a:endParaRPr lang="en-US"/>
        </a:p>
      </dgm:t>
    </dgm:pt>
    <dgm:pt modelId="{1598FC88-FD2F-483F-92B1-983D1E47EA1C}" type="sibTrans" cxnId="{B2957FC2-5492-43D4-AA84-774BFDB9355D}">
      <dgm:prSet/>
      <dgm:spPr/>
      <dgm:t>
        <a:bodyPr/>
        <a:lstStyle/>
        <a:p>
          <a:endParaRPr lang="en-US"/>
        </a:p>
      </dgm:t>
    </dgm:pt>
    <dgm:pt modelId="{9184F26C-BCB2-42A3-82BD-22EF47ABBEBA}">
      <dgm:prSet/>
      <dgm:spPr/>
      <dgm:t>
        <a:bodyPr/>
        <a:lstStyle/>
        <a:p>
          <a:r>
            <a:rPr lang="en-US"/>
            <a:t>• Automate schedule generation</a:t>
          </a:r>
        </a:p>
      </dgm:t>
    </dgm:pt>
    <dgm:pt modelId="{4AA4FFF0-D88E-41E6-B09F-69C73D9CA2DA}" type="parTrans" cxnId="{A82FF8A8-C5C5-4F67-B518-712A3F44AEBA}">
      <dgm:prSet/>
      <dgm:spPr/>
      <dgm:t>
        <a:bodyPr/>
        <a:lstStyle/>
        <a:p>
          <a:endParaRPr lang="en-US"/>
        </a:p>
      </dgm:t>
    </dgm:pt>
    <dgm:pt modelId="{C8EA0FD0-D938-4778-9B34-D3DE9D3E7196}" type="sibTrans" cxnId="{A82FF8A8-C5C5-4F67-B518-712A3F44AEBA}">
      <dgm:prSet/>
      <dgm:spPr/>
      <dgm:t>
        <a:bodyPr/>
        <a:lstStyle/>
        <a:p>
          <a:endParaRPr lang="en-US"/>
        </a:p>
      </dgm:t>
    </dgm:pt>
    <dgm:pt modelId="{D386FDF5-2D21-4166-B43A-71F0D56BBE30}">
      <dgm:prSet/>
      <dgm:spPr/>
      <dgm:t>
        <a:bodyPr/>
        <a:lstStyle/>
        <a:p>
          <a:r>
            <a:rPr lang="en-US"/>
            <a:t>• Simplify grade management</a:t>
          </a:r>
        </a:p>
      </dgm:t>
    </dgm:pt>
    <dgm:pt modelId="{6670B030-E774-4708-AE08-A9CF9CCCBEA1}" type="parTrans" cxnId="{40BD2508-AF33-447B-8189-F1ADDBCB9A4E}">
      <dgm:prSet/>
      <dgm:spPr/>
      <dgm:t>
        <a:bodyPr/>
        <a:lstStyle/>
        <a:p>
          <a:endParaRPr lang="en-US"/>
        </a:p>
      </dgm:t>
    </dgm:pt>
    <dgm:pt modelId="{F2DC2CBB-3B27-4C8C-90F2-7FCED8D38071}" type="sibTrans" cxnId="{40BD2508-AF33-447B-8189-F1ADDBCB9A4E}">
      <dgm:prSet/>
      <dgm:spPr/>
      <dgm:t>
        <a:bodyPr/>
        <a:lstStyle/>
        <a:p>
          <a:endParaRPr lang="en-US"/>
        </a:p>
      </dgm:t>
    </dgm:pt>
    <dgm:pt modelId="{5B7968A8-D1D8-45FF-8316-0859ECF33EB9}">
      <dgm:prSet/>
      <dgm:spPr/>
      <dgm:t>
        <a:bodyPr/>
        <a:lstStyle/>
        <a:p>
          <a:r>
            <a:rPr lang="en-US"/>
            <a:t>• Improve visibility and reporting</a:t>
          </a:r>
        </a:p>
      </dgm:t>
    </dgm:pt>
    <dgm:pt modelId="{514A2D5B-754F-49E3-9CA9-F1DB48725C1E}" type="parTrans" cxnId="{481BABAD-960C-4B3B-A275-74FA401C6755}">
      <dgm:prSet/>
      <dgm:spPr/>
      <dgm:t>
        <a:bodyPr/>
        <a:lstStyle/>
        <a:p>
          <a:endParaRPr lang="en-US"/>
        </a:p>
      </dgm:t>
    </dgm:pt>
    <dgm:pt modelId="{BDA140DD-AD70-4E28-B7B6-E7FD960CE21A}" type="sibTrans" cxnId="{481BABAD-960C-4B3B-A275-74FA401C6755}">
      <dgm:prSet/>
      <dgm:spPr/>
      <dgm:t>
        <a:bodyPr/>
        <a:lstStyle/>
        <a:p>
          <a:endParaRPr lang="en-US"/>
        </a:p>
      </dgm:t>
    </dgm:pt>
    <dgm:pt modelId="{F72E14DD-C41C-401C-88C1-6747A55097DC}" type="pres">
      <dgm:prSet presAssocID="{012F4BCF-73DB-4950-904E-1E1619731627}" presName="root" presStyleCnt="0">
        <dgm:presLayoutVars>
          <dgm:dir/>
          <dgm:resizeHandles val="exact"/>
        </dgm:presLayoutVars>
      </dgm:prSet>
      <dgm:spPr/>
    </dgm:pt>
    <dgm:pt modelId="{F790A6D9-2170-4596-886F-5AE3C6B7F9B8}" type="pres">
      <dgm:prSet presAssocID="{88BE3AF4-B0A5-4FEE-86F1-215CAF625921}" presName="compNode" presStyleCnt="0"/>
      <dgm:spPr/>
    </dgm:pt>
    <dgm:pt modelId="{8E3AFBF2-E260-4575-A42A-A7630CE94B16}" type="pres">
      <dgm:prSet presAssocID="{88BE3AF4-B0A5-4FEE-86F1-215CAF625921}" presName="bgRect" presStyleLbl="bgShp" presStyleIdx="0" presStyleCnt="6"/>
      <dgm:spPr/>
    </dgm:pt>
    <dgm:pt modelId="{6D78F571-810F-48D5-895C-D92C9F5D3247}" type="pres">
      <dgm:prSet presAssocID="{88BE3AF4-B0A5-4FEE-86F1-215CAF62592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hoolhouse"/>
        </a:ext>
      </dgm:extLst>
    </dgm:pt>
    <dgm:pt modelId="{D7B165DD-B024-4DE9-BD78-38227B4AF523}" type="pres">
      <dgm:prSet presAssocID="{88BE3AF4-B0A5-4FEE-86F1-215CAF625921}" presName="spaceRect" presStyleCnt="0"/>
      <dgm:spPr/>
    </dgm:pt>
    <dgm:pt modelId="{AF9BCD8A-066B-4FEA-BA92-B729024729A6}" type="pres">
      <dgm:prSet presAssocID="{88BE3AF4-B0A5-4FEE-86F1-215CAF625921}" presName="parTx" presStyleLbl="revTx" presStyleIdx="0" presStyleCnt="6">
        <dgm:presLayoutVars>
          <dgm:chMax val="0"/>
          <dgm:chPref val="0"/>
        </dgm:presLayoutVars>
      </dgm:prSet>
      <dgm:spPr/>
    </dgm:pt>
    <dgm:pt modelId="{7315DC3F-F6B7-435E-8735-84AE85DB7038}" type="pres">
      <dgm:prSet presAssocID="{816B081A-4628-42E2-966C-4695510214D0}" presName="sibTrans" presStyleCnt="0"/>
      <dgm:spPr/>
    </dgm:pt>
    <dgm:pt modelId="{D83698C4-1B5F-46FD-B95D-37772631F745}" type="pres">
      <dgm:prSet presAssocID="{CCF15BD9-7641-4FE6-B32A-EA705B7E2F16}" presName="compNode" presStyleCnt="0"/>
      <dgm:spPr/>
    </dgm:pt>
    <dgm:pt modelId="{33403CC9-9A55-4220-A036-BA6EEA0681F3}" type="pres">
      <dgm:prSet presAssocID="{CCF15BD9-7641-4FE6-B32A-EA705B7E2F16}" presName="bgRect" presStyleLbl="bgShp" presStyleIdx="1" presStyleCnt="6"/>
      <dgm:spPr/>
    </dgm:pt>
    <dgm:pt modelId="{3E3BA6B0-1EBB-4C82-BCF7-1682B31A7E21}" type="pres">
      <dgm:prSet presAssocID="{CCF15BD9-7641-4FE6-B32A-EA705B7E2F1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E909BD6C-432B-4B25-8597-2B4C13F98DD9}" type="pres">
      <dgm:prSet presAssocID="{CCF15BD9-7641-4FE6-B32A-EA705B7E2F16}" presName="spaceRect" presStyleCnt="0"/>
      <dgm:spPr/>
    </dgm:pt>
    <dgm:pt modelId="{131E1EC4-E848-42C1-B0BB-D8D2F2FFE3D8}" type="pres">
      <dgm:prSet presAssocID="{CCF15BD9-7641-4FE6-B32A-EA705B7E2F16}" presName="parTx" presStyleLbl="revTx" presStyleIdx="1" presStyleCnt="6">
        <dgm:presLayoutVars>
          <dgm:chMax val="0"/>
          <dgm:chPref val="0"/>
        </dgm:presLayoutVars>
      </dgm:prSet>
      <dgm:spPr/>
    </dgm:pt>
    <dgm:pt modelId="{188CA743-BF78-4986-A964-FB3907FB1660}" type="pres">
      <dgm:prSet presAssocID="{FA8DC308-1920-4F7F-96AB-2E30453F4F98}" presName="sibTrans" presStyleCnt="0"/>
      <dgm:spPr/>
    </dgm:pt>
    <dgm:pt modelId="{B2CC78BA-082F-4E9C-BE4C-3D7FD4FFECE0}" type="pres">
      <dgm:prSet presAssocID="{6C548633-7A1C-4988-A4FF-E023B532FCE5}" presName="compNode" presStyleCnt="0"/>
      <dgm:spPr/>
    </dgm:pt>
    <dgm:pt modelId="{FABCBE8D-87F6-4F4F-9C81-C9A8DE65481D}" type="pres">
      <dgm:prSet presAssocID="{6C548633-7A1C-4988-A4FF-E023B532FCE5}" presName="bgRect" presStyleLbl="bgShp" presStyleIdx="2" presStyleCnt="6"/>
      <dgm:spPr/>
    </dgm:pt>
    <dgm:pt modelId="{89855BF4-BD26-43E5-ADF0-BA455D581072}" type="pres">
      <dgm:prSet presAssocID="{6C548633-7A1C-4988-A4FF-E023B532FCE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4784FC2A-B229-4BBF-8BD2-5DA1204664B9}" type="pres">
      <dgm:prSet presAssocID="{6C548633-7A1C-4988-A4FF-E023B532FCE5}" presName="spaceRect" presStyleCnt="0"/>
      <dgm:spPr/>
    </dgm:pt>
    <dgm:pt modelId="{222AF6F5-BE7B-4941-BE6E-B4A2A3C9E887}" type="pres">
      <dgm:prSet presAssocID="{6C548633-7A1C-4988-A4FF-E023B532FCE5}" presName="parTx" presStyleLbl="revTx" presStyleIdx="2" presStyleCnt="6">
        <dgm:presLayoutVars>
          <dgm:chMax val="0"/>
          <dgm:chPref val="0"/>
        </dgm:presLayoutVars>
      </dgm:prSet>
      <dgm:spPr/>
    </dgm:pt>
    <dgm:pt modelId="{E30FDA74-CDF3-43AB-89AF-16367FF37F72}" type="pres">
      <dgm:prSet presAssocID="{1598FC88-FD2F-483F-92B1-983D1E47EA1C}" presName="sibTrans" presStyleCnt="0"/>
      <dgm:spPr/>
    </dgm:pt>
    <dgm:pt modelId="{28A956B3-4A91-4217-92B7-E983DD93713D}" type="pres">
      <dgm:prSet presAssocID="{9184F26C-BCB2-42A3-82BD-22EF47ABBEBA}" presName="compNode" presStyleCnt="0"/>
      <dgm:spPr/>
    </dgm:pt>
    <dgm:pt modelId="{C34C9AF3-6408-4FA5-AE8B-14AD27CAA491}" type="pres">
      <dgm:prSet presAssocID="{9184F26C-BCB2-42A3-82BD-22EF47ABBEBA}" presName="bgRect" presStyleLbl="bgShp" presStyleIdx="3" presStyleCnt="6"/>
      <dgm:spPr/>
    </dgm:pt>
    <dgm:pt modelId="{8688A380-2959-4B2C-A383-EF20782817F6}" type="pres">
      <dgm:prSet presAssocID="{9184F26C-BCB2-42A3-82BD-22EF47ABBEB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ED4BC39-0511-4014-887B-B1257D4D3522}" type="pres">
      <dgm:prSet presAssocID="{9184F26C-BCB2-42A3-82BD-22EF47ABBEBA}" presName="spaceRect" presStyleCnt="0"/>
      <dgm:spPr/>
    </dgm:pt>
    <dgm:pt modelId="{C3E6BC60-FBDB-4B02-A295-C142C73A956D}" type="pres">
      <dgm:prSet presAssocID="{9184F26C-BCB2-42A3-82BD-22EF47ABBEBA}" presName="parTx" presStyleLbl="revTx" presStyleIdx="3" presStyleCnt="6">
        <dgm:presLayoutVars>
          <dgm:chMax val="0"/>
          <dgm:chPref val="0"/>
        </dgm:presLayoutVars>
      </dgm:prSet>
      <dgm:spPr/>
    </dgm:pt>
    <dgm:pt modelId="{BC535684-BEDD-43F3-9965-8FEA7F41D67D}" type="pres">
      <dgm:prSet presAssocID="{C8EA0FD0-D938-4778-9B34-D3DE9D3E7196}" presName="sibTrans" presStyleCnt="0"/>
      <dgm:spPr/>
    </dgm:pt>
    <dgm:pt modelId="{5530F16C-D6F7-40A0-B890-F5F3D6921FEA}" type="pres">
      <dgm:prSet presAssocID="{D386FDF5-2D21-4166-B43A-71F0D56BBE30}" presName="compNode" presStyleCnt="0"/>
      <dgm:spPr/>
    </dgm:pt>
    <dgm:pt modelId="{D2E0F1FD-E7AA-4264-9373-E874FA904D90}" type="pres">
      <dgm:prSet presAssocID="{D386FDF5-2D21-4166-B43A-71F0D56BBE30}" presName="bgRect" presStyleLbl="bgShp" presStyleIdx="4" presStyleCnt="6"/>
      <dgm:spPr/>
    </dgm:pt>
    <dgm:pt modelId="{0C996660-1A12-4EFB-BC70-5380BB6043EC}" type="pres">
      <dgm:prSet presAssocID="{D386FDF5-2D21-4166-B43A-71F0D56BBE30}"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ooks"/>
        </a:ext>
      </dgm:extLst>
    </dgm:pt>
    <dgm:pt modelId="{03B28C49-8A84-47E6-8EF9-964D1641375B}" type="pres">
      <dgm:prSet presAssocID="{D386FDF5-2D21-4166-B43A-71F0D56BBE30}" presName="spaceRect" presStyleCnt="0"/>
      <dgm:spPr/>
    </dgm:pt>
    <dgm:pt modelId="{2C30BD41-FAC4-4A56-94DF-24B53138C97C}" type="pres">
      <dgm:prSet presAssocID="{D386FDF5-2D21-4166-B43A-71F0D56BBE30}" presName="parTx" presStyleLbl="revTx" presStyleIdx="4" presStyleCnt="6">
        <dgm:presLayoutVars>
          <dgm:chMax val="0"/>
          <dgm:chPref val="0"/>
        </dgm:presLayoutVars>
      </dgm:prSet>
      <dgm:spPr/>
    </dgm:pt>
    <dgm:pt modelId="{FD638114-B527-486C-910B-3CF41F0AAB78}" type="pres">
      <dgm:prSet presAssocID="{F2DC2CBB-3B27-4C8C-90F2-7FCED8D38071}" presName="sibTrans" presStyleCnt="0"/>
      <dgm:spPr/>
    </dgm:pt>
    <dgm:pt modelId="{6DEBE022-1D61-48B5-BB03-A0542A54718B}" type="pres">
      <dgm:prSet presAssocID="{5B7968A8-D1D8-45FF-8316-0859ECF33EB9}" presName="compNode" presStyleCnt="0"/>
      <dgm:spPr/>
    </dgm:pt>
    <dgm:pt modelId="{0FF5A547-0892-4B6F-B0D8-C0128C0A44E5}" type="pres">
      <dgm:prSet presAssocID="{5B7968A8-D1D8-45FF-8316-0859ECF33EB9}" presName="bgRect" presStyleLbl="bgShp" presStyleIdx="5" presStyleCnt="6"/>
      <dgm:spPr/>
    </dgm:pt>
    <dgm:pt modelId="{6D3EF014-79B5-4EFD-8148-3056F31E1861}" type="pres">
      <dgm:prSet presAssocID="{5B7968A8-D1D8-45FF-8316-0859ECF33EB9}"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9B5AC39D-72DD-43DC-A6C9-3BBC4913DFBB}" type="pres">
      <dgm:prSet presAssocID="{5B7968A8-D1D8-45FF-8316-0859ECF33EB9}" presName="spaceRect" presStyleCnt="0"/>
      <dgm:spPr/>
    </dgm:pt>
    <dgm:pt modelId="{4D310768-5F64-4F1A-A220-496AD112D405}" type="pres">
      <dgm:prSet presAssocID="{5B7968A8-D1D8-45FF-8316-0859ECF33EB9}" presName="parTx" presStyleLbl="revTx" presStyleIdx="5" presStyleCnt="6">
        <dgm:presLayoutVars>
          <dgm:chMax val="0"/>
          <dgm:chPref val="0"/>
        </dgm:presLayoutVars>
      </dgm:prSet>
      <dgm:spPr/>
    </dgm:pt>
  </dgm:ptLst>
  <dgm:cxnLst>
    <dgm:cxn modelId="{40BD2508-AF33-447B-8189-F1ADDBCB9A4E}" srcId="{012F4BCF-73DB-4950-904E-1E1619731627}" destId="{D386FDF5-2D21-4166-B43A-71F0D56BBE30}" srcOrd="4" destOrd="0" parTransId="{6670B030-E774-4708-AE08-A9CF9CCCBEA1}" sibTransId="{F2DC2CBB-3B27-4C8C-90F2-7FCED8D38071}"/>
    <dgm:cxn modelId="{94059D09-4BFC-4908-BCDD-87C7D463AFC0}" type="presOf" srcId="{D386FDF5-2D21-4166-B43A-71F0D56BBE30}" destId="{2C30BD41-FAC4-4A56-94DF-24B53138C97C}" srcOrd="0" destOrd="0" presId="urn:microsoft.com/office/officeart/2018/2/layout/IconVerticalSolidList"/>
    <dgm:cxn modelId="{FC742A34-BC73-4281-AAF2-A0D7AFB0A581}" srcId="{012F4BCF-73DB-4950-904E-1E1619731627}" destId="{CCF15BD9-7641-4FE6-B32A-EA705B7E2F16}" srcOrd="1" destOrd="0" parTransId="{1F32BF5F-3BD6-4F61-8F32-8124101E4308}" sibTransId="{FA8DC308-1920-4F7F-96AB-2E30453F4F98}"/>
    <dgm:cxn modelId="{E2364F62-ABEC-4269-A793-9767DAEF3C33}" type="presOf" srcId="{6C548633-7A1C-4988-A4FF-E023B532FCE5}" destId="{222AF6F5-BE7B-4941-BE6E-B4A2A3C9E887}" srcOrd="0" destOrd="0" presId="urn:microsoft.com/office/officeart/2018/2/layout/IconVerticalSolidList"/>
    <dgm:cxn modelId="{9CD79E44-3FD7-4448-89DA-9A6E316E7B77}" type="presOf" srcId="{88BE3AF4-B0A5-4FEE-86F1-215CAF625921}" destId="{AF9BCD8A-066B-4FEA-BA92-B729024729A6}" srcOrd="0" destOrd="0" presId="urn:microsoft.com/office/officeart/2018/2/layout/IconVerticalSolidList"/>
    <dgm:cxn modelId="{89628F65-C779-45C9-8399-A41DC35307CA}" type="presOf" srcId="{9184F26C-BCB2-42A3-82BD-22EF47ABBEBA}" destId="{C3E6BC60-FBDB-4B02-A295-C142C73A956D}" srcOrd="0" destOrd="0" presId="urn:microsoft.com/office/officeart/2018/2/layout/IconVerticalSolidList"/>
    <dgm:cxn modelId="{95027874-0148-44B9-A058-89906137E85A}" type="presOf" srcId="{5B7968A8-D1D8-45FF-8316-0859ECF33EB9}" destId="{4D310768-5F64-4F1A-A220-496AD112D405}" srcOrd="0" destOrd="0" presId="urn:microsoft.com/office/officeart/2018/2/layout/IconVerticalSolidList"/>
    <dgm:cxn modelId="{A82FF8A8-C5C5-4F67-B518-712A3F44AEBA}" srcId="{012F4BCF-73DB-4950-904E-1E1619731627}" destId="{9184F26C-BCB2-42A3-82BD-22EF47ABBEBA}" srcOrd="3" destOrd="0" parTransId="{4AA4FFF0-D88E-41E6-B09F-69C73D9CA2DA}" sibTransId="{C8EA0FD0-D938-4778-9B34-D3DE9D3E7196}"/>
    <dgm:cxn modelId="{481BABAD-960C-4B3B-A275-74FA401C6755}" srcId="{012F4BCF-73DB-4950-904E-1E1619731627}" destId="{5B7968A8-D1D8-45FF-8316-0859ECF33EB9}" srcOrd="5" destOrd="0" parTransId="{514A2D5B-754F-49E3-9CA9-F1DB48725C1E}" sibTransId="{BDA140DD-AD70-4E28-B7B6-E7FD960CE21A}"/>
    <dgm:cxn modelId="{95C46AB3-E40E-40D4-AE86-EAA2AFBC3C6A}" srcId="{012F4BCF-73DB-4950-904E-1E1619731627}" destId="{88BE3AF4-B0A5-4FEE-86F1-215CAF625921}" srcOrd="0" destOrd="0" parTransId="{606991F1-10F8-485C-A853-04FB620298FE}" sibTransId="{816B081A-4628-42E2-966C-4695510214D0}"/>
    <dgm:cxn modelId="{3EC343BE-49E2-4251-9808-D2EF51CF63E4}" type="presOf" srcId="{012F4BCF-73DB-4950-904E-1E1619731627}" destId="{F72E14DD-C41C-401C-88C1-6747A55097DC}" srcOrd="0" destOrd="0" presId="urn:microsoft.com/office/officeart/2018/2/layout/IconVerticalSolidList"/>
    <dgm:cxn modelId="{B2957FC2-5492-43D4-AA84-774BFDB9355D}" srcId="{012F4BCF-73DB-4950-904E-1E1619731627}" destId="{6C548633-7A1C-4988-A4FF-E023B532FCE5}" srcOrd="2" destOrd="0" parTransId="{40A35365-12D1-4939-9DBD-616EDABB81D3}" sibTransId="{1598FC88-FD2F-483F-92B1-983D1E47EA1C}"/>
    <dgm:cxn modelId="{8BD45CD4-A1A8-4633-B245-8BE01D4C2844}" type="presOf" srcId="{CCF15BD9-7641-4FE6-B32A-EA705B7E2F16}" destId="{131E1EC4-E848-42C1-B0BB-D8D2F2FFE3D8}" srcOrd="0" destOrd="0" presId="urn:microsoft.com/office/officeart/2018/2/layout/IconVerticalSolidList"/>
    <dgm:cxn modelId="{55D1DDBD-05DE-41AC-92F4-B156E66C2527}" type="presParOf" srcId="{F72E14DD-C41C-401C-88C1-6747A55097DC}" destId="{F790A6D9-2170-4596-886F-5AE3C6B7F9B8}" srcOrd="0" destOrd="0" presId="urn:microsoft.com/office/officeart/2018/2/layout/IconVerticalSolidList"/>
    <dgm:cxn modelId="{5C13EE5E-9374-4CFB-A97D-BBEAA6724692}" type="presParOf" srcId="{F790A6D9-2170-4596-886F-5AE3C6B7F9B8}" destId="{8E3AFBF2-E260-4575-A42A-A7630CE94B16}" srcOrd="0" destOrd="0" presId="urn:microsoft.com/office/officeart/2018/2/layout/IconVerticalSolidList"/>
    <dgm:cxn modelId="{ABD24C1E-3546-4BB5-AE93-47E7E08073EE}" type="presParOf" srcId="{F790A6D9-2170-4596-886F-5AE3C6B7F9B8}" destId="{6D78F571-810F-48D5-895C-D92C9F5D3247}" srcOrd="1" destOrd="0" presId="urn:microsoft.com/office/officeart/2018/2/layout/IconVerticalSolidList"/>
    <dgm:cxn modelId="{666972A7-5265-458F-BF4F-68B14B498E6F}" type="presParOf" srcId="{F790A6D9-2170-4596-886F-5AE3C6B7F9B8}" destId="{D7B165DD-B024-4DE9-BD78-38227B4AF523}" srcOrd="2" destOrd="0" presId="urn:microsoft.com/office/officeart/2018/2/layout/IconVerticalSolidList"/>
    <dgm:cxn modelId="{DD6B9A3C-0787-4838-A611-06D3ADD4D85F}" type="presParOf" srcId="{F790A6D9-2170-4596-886F-5AE3C6B7F9B8}" destId="{AF9BCD8A-066B-4FEA-BA92-B729024729A6}" srcOrd="3" destOrd="0" presId="urn:microsoft.com/office/officeart/2018/2/layout/IconVerticalSolidList"/>
    <dgm:cxn modelId="{89CB924A-8044-4ABE-ADCD-C494F571B799}" type="presParOf" srcId="{F72E14DD-C41C-401C-88C1-6747A55097DC}" destId="{7315DC3F-F6B7-435E-8735-84AE85DB7038}" srcOrd="1" destOrd="0" presId="urn:microsoft.com/office/officeart/2018/2/layout/IconVerticalSolidList"/>
    <dgm:cxn modelId="{5D7C3573-45C4-4850-8BD3-E877FFECC2FD}" type="presParOf" srcId="{F72E14DD-C41C-401C-88C1-6747A55097DC}" destId="{D83698C4-1B5F-46FD-B95D-37772631F745}" srcOrd="2" destOrd="0" presId="urn:microsoft.com/office/officeart/2018/2/layout/IconVerticalSolidList"/>
    <dgm:cxn modelId="{F4699FD4-809B-4DAB-9056-620A7FCE490A}" type="presParOf" srcId="{D83698C4-1B5F-46FD-B95D-37772631F745}" destId="{33403CC9-9A55-4220-A036-BA6EEA0681F3}" srcOrd="0" destOrd="0" presId="urn:microsoft.com/office/officeart/2018/2/layout/IconVerticalSolidList"/>
    <dgm:cxn modelId="{7036A8D4-25F0-4F96-B40D-CD4E7D529A05}" type="presParOf" srcId="{D83698C4-1B5F-46FD-B95D-37772631F745}" destId="{3E3BA6B0-1EBB-4C82-BCF7-1682B31A7E21}" srcOrd="1" destOrd="0" presId="urn:microsoft.com/office/officeart/2018/2/layout/IconVerticalSolidList"/>
    <dgm:cxn modelId="{E87E9714-AB8C-4719-BC7C-3F18A0DA8BEC}" type="presParOf" srcId="{D83698C4-1B5F-46FD-B95D-37772631F745}" destId="{E909BD6C-432B-4B25-8597-2B4C13F98DD9}" srcOrd="2" destOrd="0" presId="urn:microsoft.com/office/officeart/2018/2/layout/IconVerticalSolidList"/>
    <dgm:cxn modelId="{B20F2E53-D1A1-4BF3-8080-0024755DB6F3}" type="presParOf" srcId="{D83698C4-1B5F-46FD-B95D-37772631F745}" destId="{131E1EC4-E848-42C1-B0BB-D8D2F2FFE3D8}" srcOrd="3" destOrd="0" presId="urn:microsoft.com/office/officeart/2018/2/layout/IconVerticalSolidList"/>
    <dgm:cxn modelId="{9C353649-7F5C-4FBC-8B45-954ECC81F92C}" type="presParOf" srcId="{F72E14DD-C41C-401C-88C1-6747A55097DC}" destId="{188CA743-BF78-4986-A964-FB3907FB1660}" srcOrd="3" destOrd="0" presId="urn:microsoft.com/office/officeart/2018/2/layout/IconVerticalSolidList"/>
    <dgm:cxn modelId="{8E6B9FB6-3113-4186-8040-5102677422CF}" type="presParOf" srcId="{F72E14DD-C41C-401C-88C1-6747A55097DC}" destId="{B2CC78BA-082F-4E9C-BE4C-3D7FD4FFECE0}" srcOrd="4" destOrd="0" presId="urn:microsoft.com/office/officeart/2018/2/layout/IconVerticalSolidList"/>
    <dgm:cxn modelId="{6A6F4018-8C06-41B8-B8C1-22FDF5407787}" type="presParOf" srcId="{B2CC78BA-082F-4E9C-BE4C-3D7FD4FFECE0}" destId="{FABCBE8D-87F6-4F4F-9C81-C9A8DE65481D}" srcOrd="0" destOrd="0" presId="urn:microsoft.com/office/officeart/2018/2/layout/IconVerticalSolidList"/>
    <dgm:cxn modelId="{13244895-5266-4BA5-933E-5116C17B5117}" type="presParOf" srcId="{B2CC78BA-082F-4E9C-BE4C-3D7FD4FFECE0}" destId="{89855BF4-BD26-43E5-ADF0-BA455D581072}" srcOrd="1" destOrd="0" presId="urn:microsoft.com/office/officeart/2018/2/layout/IconVerticalSolidList"/>
    <dgm:cxn modelId="{E4404D64-E811-40DE-818B-E3192FCB371A}" type="presParOf" srcId="{B2CC78BA-082F-4E9C-BE4C-3D7FD4FFECE0}" destId="{4784FC2A-B229-4BBF-8BD2-5DA1204664B9}" srcOrd="2" destOrd="0" presId="urn:microsoft.com/office/officeart/2018/2/layout/IconVerticalSolidList"/>
    <dgm:cxn modelId="{EC4BF466-218C-4511-9F1F-1C47307CEDDF}" type="presParOf" srcId="{B2CC78BA-082F-4E9C-BE4C-3D7FD4FFECE0}" destId="{222AF6F5-BE7B-4941-BE6E-B4A2A3C9E887}" srcOrd="3" destOrd="0" presId="urn:microsoft.com/office/officeart/2018/2/layout/IconVerticalSolidList"/>
    <dgm:cxn modelId="{F27E4D31-A2E2-4598-BABC-29AA0FC25531}" type="presParOf" srcId="{F72E14DD-C41C-401C-88C1-6747A55097DC}" destId="{E30FDA74-CDF3-43AB-89AF-16367FF37F72}" srcOrd="5" destOrd="0" presId="urn:microsoft.com/office/officeart/2018/2/layout/IconVerticalSolidList"/>
    <dgm:cxn modelId="{08104DB4-D2BA-473B-A9E9-15B81FB6404F}" type="presParOf" srcId="{F72E14DD-C41C-401C-88C1-6747A55097DC}" destId="{28A956B3-4A91-4217-92B7-E983DD93713D}" srcOrd="6" destOrd="0" presId="urn:microsoft.com/office/officeart/2018/2/layout/IconVerticalSolidList"/>
    <dgm:cxn modelId="{1F067A15-37AD-436D-83A2-E070DB7B1260}" type="presParOf" srcId="{28A956B3-4A91-4217-92B7-E983DD93713D}" destId="{C34C9AF3-6408-4FA5-AE8B-14AD27CAA491}" srcOrd="0" destOrd="0" presId="urn:microsoft.com/office/officeart/2018/2/layout/IconVerticalSolidList"/>
    <dgm:cxn modelId="{7C2AFD29-5C7C-4CD2-8534-0BF6A342CEE9}" type="presParOf" srcId="{28A956B3-4A91-4217-92B7-E983DD93713D}" destId="{8688A380-2959-4B2C-A383-EF20782817F6}" srcOrd="1" destOrd="0" presId="urn:microsoft.com/office/officeart/2018/2/layout/IconVerticalSolidList"/>
    <dgm:cxn modelId="{9282A01D-136A-46DA-AB95-E97541C517AD}" type="presParOf" srcId="{28A956B3-4A91-4217-92B7-E983DD93713D}" destId="{BED4BC39-0511-4014-887B-B1257D4D3522}" srcOrd="2" destOrd="0" presId="urn:microsoft.com/office/officeart/2018/2/layout/IconVerticalSolidList"/>
    <dgm:cxn modelId="{B8B95A81-EFCD-4039-891B-7055AB93B4C3}" type="presParOf" srcId="{28A956B3-4A91-4217-92B7-E983DD93713D}" destId="{C3E6BC60-FBDB-4B02-A295-C142C73A956D}" srcOrd="3" destOrd="0" presId="urn:microsoft.com/office/officeart/2018/2/layout/IconVerticalSolidList"/>
    <dgm:cxn modelId="{2206B1A4-2ECF-4B49-8797-3B41D987D4DB}" type="presParOf" srcId="{F72E14DD-C41C-401C-88C1-6747A55097DC}" destId="{BC535684-BEDD-43F3-9965-8FEA7F41D67D}" srcOrd="7" destOrd="0" presId="urn:microsoft.com/office/officeart/2018/2/layout/IconVerticalSolidList"/>
    <dgm:cxn modelId="{DEACA399-DF03-4F73-8867-2C4A39002175}" type="presParOf" srcId="{F72E14DD-C41C-401C-88C1-6747A55097DC}" destId="{5530F16C-D6F7-40A0-B890-F5F3D6921FEA}" srcOrd="8" destOrd="0" presId="urn:microsoft.com/office/officeart/2018/2/layout/IconVerticalSolidList"/>
    <dgm:cxn modelId="{92921032-6C49-4ECC-9014-55901814AE80}" type="presParOf" srcId="{5530F16C-D6F7-40A0-B890-F5F3D6921FEA}" destId="{D2E0F1FD-E7AA-4264-9373-E874FA904D90}" srcOrd="0" destOrd="0" presId="urn:microsoft.com/office/officeart/2018/2/layout/IconVerticalSolidList"/>
    <dgm:cxn modelId="{67D628BC-C9F9-42A5-ADE9-E34A615C0C7F}" type="presParOf" srcId="{5530F16C-D6F7-40A0-B890-F5F3D6921FEA}" destId="{0C996660-1A12-4EFB-BC70-5380BB6043EC}" srcOrd="1" destOrd="0" presId="urn:microsoft.com/office/officeart/2018/2/layout/IconVerticalSolidList"/>
    <dgm:cxn modelId="{4FD7E6BC-A22B-4394-B31F-3709EC68A725}" type="presParOf" srcId="{5530F16C-D6F7-40A0-B890-F5F3D6921FEA}" destId="{03B28C49-8A84-47E6-8EF9-964D1641375B}" srcOrd="2" destOrd="0" presId="urn:microsoft.com/office/officeart/2018/2/layout/IconVerticalSolidList"/>
    <dgm:cxn modelId="{DC6B33DE-5035-4198-8166-EB7B578517A3}" type="presParOf" srcId="{5530F16C-D6F7-40A0-B890-F5F3D6921FEA}" destId="{2C30BD41-FAC4-4A56-94DF-24B53138C97C}" srcOrd="3" destOrd="0" presId="urn:microsoft.com/office/officeart/2018/2/layout/IconVerticalSolidList"/>
    <dgm:cxn modelId="{4C100952-67ED-48A8-B3D4-5FD014AB2DEB}" type="presParOf" srcId="{F72E14DD-C41C-401C-88C1-6747A55097DC}" destId="{FD638114-B527-486C-910B-3CF41F0AAB78}" srcOrd="9" destOrd="0" presId="urn:microsoft.com/office/officeart/2018/2/layout/IconVerticalSolidList"/>
    <dgm:cxn modelId="{D81E0A09-BA69-4928-8411-039E68FCF857}" type="presParOf" srcId="{F72E14DD-C41C-401C-88C1-6747A55097DC}" destId="{6DEBE022-1D61-48B5-BB03-A0542A54718B}" srcOrd="10" destOrd="0" presId="urn:microsoft.com/office/officeart/2018/2/layout/IconVerticalSolidList"/>
    <dgm:cxn modelId="{69D1F381-A4B4-4EA4-A788-C20277DF2298}" type="presParOf" srcId="{6DEBE022-1D61-48B5-BB03-A0542A54718B}" destId="{0FF5A547-0892-4B6F-B0D8-C0128C0A44E5}" srcOrd="0" destOrd="0" presId="urn:microsoft.com/office/officeart/2018/2/layout/IconVerticalSolidList"/>
    <dgm:cxn modelId="{206E8F31-6126-48AC-9360-96778CF7C117}" type="presParOf" srcId="{6DEBE022-1D61-48B5-BB03-A0542A54718B}" destId="{6D3EF014-79B5-4EFD-8148-3056F31E1861}" srcOrd="1" destOrd="0" presId="urn:microsoft.com/office/officeart/2018/2/layout/IconVerticalSolidList"/>
    <dgm:cxn modelId="{6F2206F5-EDE4-45EC-8534-28B0E9E50188}" type="presParOf" srcId="{6DEBE022-1D61-48B5-BB03-A0542A54718B}" destId="{9B5AC39D-72DD-43DC-A6C9-3BBC4913DFBB}" srcOrd="2" destOrd="0" presId="urn:microsoft.com/office/officeart/2018/2/layout/IconVerticalSolidList"/>
    <dgm:cxn modelId="{6B1D32DF-AD78-4789-99F1-C69B368E2D16}" type="presParOf" srcId="{6DEBE022-1D61-48B5-BB03-A0542A54718B}" destId="{4D310768-5F64-4F1A-A220-496AD112D40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D7B4B8-02AD-41CF-A097-A4A919AC9F1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2960886-417A-4442-B444-AA164458C934}">
      <dgm:prSet/>
      <dgm:spPr/>
      <dgm:t>
        <a:bodyPr/>
        <a:lstStyle/>
        <a:p>
          <a:pPr>
            <a:lnSpc>
              <a:spcPct val="100000"/>
            </a:lnSpc>
          </a:pPr>
          <a:r>
            <a:rPr lang="en-US"/>
            <a:t>• Agile-inspired methodology</a:t>
          </a:r>
        </a:p>
      </dgm:t>
    </dgm:pt>
    <dgm:pt modelId="{A617E61B-AA78-4CA8-BB36-C4D2D8D02E4C}" type="parTrans" cxnId="{0523D308-9D4C-43F5-B576-8D0B5325F2E7}">
      <dgm:prSet/>
      <dgm:spPr/>
      <dgm:t>
        <a:bodyPr/>
        <a:lstStyle/>
        <a:p>
          <a:endParaRPr lang="en-US"/>
        </a:p>
      </dgm:t>
    </dgm:pt>
    <dgm:pt modelId="{AC99AE7F-7DEB-4868-AFD8-6A0D87611EF4}" type="sibTrans" cxnId="{0523D308-9D4C-43F5-B576-8D0B5325F2E7}">
      <dgm:prSet/>
      <dgm:spPr/>
      <dgm:t>
        <a:bodyPr/>
        <a:lstStyle/>
        <a:p>
          <a:endParaRPr lang="en-US"/>
        </a:p>
      </dgm:t>
    </dgm:pt>
    <dgm:pt modelId="{C991FB5B-9BF8-4B02-8B52-F22E93D351BD}">
      <dgm:prSet/>
      <dgm:spPr/>
      <dgm:t>
        <a:bodyPr/>
        <a:lstStyle/>
        <a:p>
          <a:pPr>
            <a:lnSpc>
              <a:spcPct val="100000"/>
            </a:lnSpc>
          </a:pPr>
          <a:r>
            <a:rPr lang="en-US"/>
            <a:t>• Supervisor and client meetings</a:t>
          </a:r>
        </a:p>
      </dgm:t>
    </dgm:pt>
    <dgm:pt modelId="{D9C4EF94-60CC-4A68-8BD5-1B6BC681E30D}" type="parTrans" cxnId="{CD6AB0DC-855E-400E-AC34-6DE92F93C5CE}">
      <dgm:prSet/>
      <dgm:spPr/>
      <dgm:t>
        <a:bodyPr/>
        <a:lstStyle/>
        <a:p>
          <a:endParaRPr lang="en-US"/>
        </a:p>
      </dgm:t>
    </dgm:pt>
    <dgm:pt modelId="{D69FD84E-58D4-4E28-B2B3-BF31B4DAB4C5}" type="sibTrans" cxnId="{CD6AB0DC-855E-400E-AC34-6DE92F93C5CE}">
      <dgm:prSet/>
      <dgm:spPr/>
      <dgm:t>
        <a:bodyPr/>
        <a:lstStyle/>
        <a:p>
          <a:endParaRPr lang="en-US"/>
        </a:p>
      </dgm:t>
    </dgm:pt>
    <dgm:pt modelId="{6F1F52A4-9D8E-469D-BC16-97B8BD4C9BB1}">
      <dgm:prSet/>
      <dgm:spPr/>
      <dgm:t>
        <a:bodyPr/>
        <a:lstStyle/>
        <a:p>
          <a:pPr>
            <a:lnSpc>
              <a:spcPct val="100000"/>
            </a:lnSpc>
          </a:pPr>
          <a:r>
            <a:rPr lang="en-US"/>
            <a:t>• Sprint planning and reviews</a:t>
          </a:r>
        </a:p>
      </dgm:t>
    </dgm:pt>
    <dgm:pt modelId="{93815FD7-FE0B-4716-A393-F661D46C435B}" type="parTrans" cxnId="{CBB5E1B9-5980-4606-B12B-853ABE4E8D6C}">
      <dgm:prSet/>
      <dgm:spPr/>
      <dgm:t>
        <a:bodyPr/>
        <a:lstStyle/>
        <a:p>
          <a:endParaRPr lang="en-US"/>
        </a:p>
      </dgm:t>
    </dgm:pt>
    <dgm:pt modelId="{B90D0612-C233-45CA-939B-2B111657296D}" type="sibTrans" cxnId="{CBB5E1B9-5980-4606-B12B-853ABE4E8D6C}">
      <dgm:prSet/>
      <dgm:spPr/>
      <dgm:t>
        <a:bodyPr/>
        <a:lstStyle/>
        <a:p>
          <a:endParaRPr lang="en-US"/>
        </a:p>
      </dgm:t>
    </dgm:pt>
    <dgm:pt modelId="{4745FE49-BBC5-48E4-B799-9443ADAB10ED}">
      <dgm:prSet/>
      <dgm:spPr/>
      <dgm:t>
        <a:bodyPr/>
        <a:lstStyle/>
        <a:p>
          <a:pPr>
            <a:lnSpc>
              <a:spcPct val="100000"/>
            </a:lnSpc>
          </a:pPr>
          <a:r>
            <a:rPr lang="en-US"/>
            <a:t>• GitHub collaboration</a:t>
          </a:r>
        </a:p>
      </dgm:t>
    </dgm:pt>
    <dgm:pt modelId="{63AF48E0-6AF4-46A4-AAB4-84472D3F8833}" type="parTrans" cxnId="{2964F81F-916C-4DCA-92DC-48EEEC17A53B}">
      <dgm:prSet/>
      <dgm:spPr/>
      <dgm:t>
        <a:bodyPr/>
        <a:lstStyle/>
        <a:p>
          <a:endParaRPr lang="en-US"/>
        </a:p>
      </dgm:t>
    </dgm:pt>
    <dgm:pt modelId="{0B8D47FA-3429-4FA8-8D84-D5E50147CE97}" type="sibTrans" cxnId="{2964F81F-916C-4DCA-92DC-48EEEC17A53B}">
      <dgm:prSet/>
      <dgm:spPr/>
      <dgm:t>
        <a:bodyPr/>
        <a:lstStyle/>
        <a:p>
          <a:endParaRPr lang="en-US"/>
        </a:p>
      </dgm:t>
    </dgm:pt>
    <dgm:pt modelId="{A1D8FE7F-1179-4095-94C5-47CE9DAE722F}">
      <dgm:prSet/>
      <dgm:spPr/>
      <dgm:t>
        <a:bodyPr/>
        <a:lstStyle/>
        <a:p>
          <a:pPr>
            <a:lnSpc>
              <a:spcPct val="100000"/>
            </a:lnSpc>
          </a:pPr>
          <a:r>
            <a:rPr lang="en-US"/>
            <a:t>• Project documentation and evidence</a:t>
          </a:r>
        </a:p>
      </dgm:t>
    </dgm:pt>
    <dgm:pt modelId="{4064C38D-CD38-48E0-803F-56D36994CBF5}" type="parTrans" cxnId="{C585085C-DD52-4334-8032-FC087231161E}">
      <dgm:prSet/>
      <dgm:spPr/>
      <dgm:t>
        <a:bodyPr/>
        <a:lstStyle/>
        <a:p>
          <a:endParaRPr lang="en-US"/>
        </a:p>
      </dgm:t>
    </dgm:pt>
    <dgm:pt modelId="{3A2A7907-2F8E-4D58-981B-344D45E711B7}" type="sibTrans" cxnId="{C585085C-DD52-4334-8032-FC087231161E}">
      <dgm:prSet/>
      <dgm:spPr/>
      <dgm:t>
        <a:bodyPr/>
        <a:lstStyle/>
        <a:p>
          <a:endParaRPr lang="en-US"/>
        </a:p>
      </dgm:t>
    </dgm:pt>
    <dgm:pt modelId="{A9F02704-75E4-4D17-954F-F65562C849FF}" type="pres">
      <dgm:prSet presAssocID="{E1D7B4B8-02AD-41CF-A097-A4A919AC9F17}" presName="root" presStyleCnt="0">
        <dgm:presLayoutVars>
          <dgm:dir/>
          <dgm:resizeHandles val="exact"/>
        </dgm:presLayoutVars>
      </dgm:prSet>
      <dgm:spPr/>
    </dgm:pt>
    <dgm:pt modelId="{5325A6B7-0381-47AB-8C37-EC8AA0DBA7BA}" type="pres">
      <dgm:prSet presAssocID="{02960886-417A-4442-B444-AA164458C934}" presName="compNode" presStyleCnt="0"/>
      <dgm:spPr/>
    </dgm:pt>
    <dgm:pt modelId="{29CA6015-AFC9-4DB3-AF06-05894A7002DD}" type="pres">
      <dgm:prSet presAssocID="{02960886-417A-4442-B444-AA164458C934}" presName="bgRect" presStyleLbl="bgShp" presStyleIdx="0" presStyleCnt="5"/>
      <dgm:spPr/>
    </dgm:pt>
    <dgm:pt modelId="{BFD5ECD2-974C-4C56-AEF5-C4B253E22DE6}" type="pres">
      <dgm:prSet presAssocID="{02960886-417A-4442-B444-AA164458C93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orkflow"/>
        </a:ext>
      </dgm:extLst>
    </dgm:pt>
    <dgm:pt modelId="{AFC1B9A8-EFBD-4B06-B6F6-D79748A3A4CF}" type="pres">
      <dgm:prSet presAssocID="{02960886-417A-4442-B444-AA164458C934}" presName="spaceRect" presStyleCnt="0"/>
      <dgm:spPr/>
    </dgm:pt>
    <dgm:pt modelId="{6CBE7C99-65DD-4AE9-AFEC-F3F63313F3B1}" type="pres">
      <dgm:prSet presAssocID="{02960886-417A-4442-B444-AA164458C934}" presName="parTx" presStyleLbl="revTx" presStyleIdx="0" presStyleCnt="5">
        <dgm:presLayoutVars>
          <dgm:chMax val="0"/>
          <dgm:chPref val="0"/>
        </dgm:presLayoutVars>
      </dgm:prSet>
      <dgm:spPr/>
    </dgm:pt>
    <dgm:pt modelId="{D43A32C4-A153-453F-A68F-15364F99E90C}" type="pres">
      <dgm:prSet presAssocID="{AC99AE7F-7DEB-4868-AFD8-6A0D87611EF4}" presName="sibTrans" presStyleCnt="0"/>
      <dgm:spPr/>
    </dgm:pt>
    <dgm:pt modelId="{2EEDA24E-1760-431F-8EB4-508280FEC2D5}" type="pres">
      <dgm:prSet presAssocID="{C991FB5B-9BF8-4B02-8B52-F22E93D351BD}" presName="compNode" presStyleCnt="0"/>
      <dgm:spPr/>
    </dgm:pt>
    <dgm:pt modelId="{535332B0-0860-4F06-8029-4283CAEAF96D}" type="pres">
      <dgm:prSet presAssocID="{C991FB5B-9BF8-4B02-8B52-F22E93D351BD}" presName="bgRect" presStyleLbl="bgShp" presStyleIdx="1" presStyleCnt="5"/>
      <dgm:spPr/>
    </dgm:pt>
    <dgm:pt modelId="{27EA44D5-AFAB-4EC8-A910-41936FAF1324}" type="pres">
      <dgm:prSet presAssocID="{C991FB5B-9BF8-4B02-8B52-F22E93D351B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FC788CEF-7C9F-4473-BC62-B89049E0F7A3}" type="pres">
      <dgm:prSet presAssocID="{C991FB5B-9BF8-4B02-8B52-F22E93D351BD}" presName="spaceRect" presStyleCnt="0"/>
      <dgm:spPr/>
    </dgm:pt>
    <dgm:pt modelId="{800EEC2B-C20A-4ED1-8B62-4A8B5B479800}" type="pres">
      <dgm:prSet presAssocID="{C991FB5B-9BF8-4B02-8B52-F22E93D351BD}" presName="parTx" presStyleLbl="revTx" presStyleIdx="1" presStyleCnt="5">
        <dgm:presLayoutVars>
          <dgm:chMax val="0"/>
          <dgm:chPref val="0"/>
        </dgm:presLayoutVars>
      </dgm:prSet>
      <dgm:spPr/>
    </dgm:pt>
    <dgm:pt modelId="{8B350C35-250B-461F-AE0B-99032CA66ADF}" type="pres">
      <dgm:prSet presAssocID="{D69FD84E-58D4-4E28-B2B3-BF31B4DAB4C5}" presName="sibTrans" presStyleCnt="0"/>
      <dgm:spPr/>
    </dgm:pt>
    <dgm:pt modelId="{AAB4E0CC-4AD6-48C5-9EBA-D5789D33C12D}" type="pres">
      <dgm:prSet presAssocID="{6F1F52A4-9D8E-469D-BC16-97B8BD4C9BB1}" presName="compNode" presStyleCnt="0"/>
      <dgm:spPr/>
    </dgm:pt>
    <dgm:pt modelId="{5F188257-6DF8-4DF6-B38B-9220D9F5DC4D}" type="pres">
      <dgm:prSet presAssocID="{6F1F52A4-9D8E-469D-BC16-97B8BD4C9BB1}" presName="bgRect" presStyleLbl="bgShp" presStyleIdx="2" presStyleCnt="5"/>
      <dgm:spPr/>
    </dgm:pt>
    <dgm:pt modelId="{9A537945-3023-4FEF-BF0D-10720147A15E}" type="pres">
      <dgm:prSet presAssocID="{6F1F52A4-9D8E-469D-BC16-97B8BD4C9BB1}"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rawl"/>
        </a:ext>
      </dgm:extLst>
    </dgm:pt>
    <dgm:pt modelId="{B0CC9286-8406-47B3-A354-502A977310B7}" type="pres">
      <dgm:prSet presAssocID="{6F1F52A4-9D8E-469D-BC16-97B8BD4C9BB1}" presName="spaceRect" presStyleCnt="0"/>
      <dgm:spPr/>
    </dgm:pt>
    <dgm:pt modelId="{6C7B2DD1-792D-4AF6-BADA-2660312FB2F8}" type="pres">
      <dgm:prSet presAssocID="{6F1F52A4-9D8E-469D-BC16-97B8BD4C9BB1}" presName="parTx" presStyleLbl="revTx" presStyleIdx="2" presStyleCnt="5">
        <dgm:presLayoutVars>
          <dgm:chMax val="0"/>
          <dgm:chPref val="0"/>
        </dgm:presLayoutVars>
      </dgm:prSet>
      <dgm:spPr/>
    </dgm:pt>
    <dgm:pt modelId="{2D2BB748-26ED-43DD-B084-46D7D1128722}" type="pres">
      <dgm:prSet presAssocID="{B90D0612-C233-45CA-939B-2B111657296D}" presName="sibTrans" presStyleCnt="0"/>
      <dgm:spPr/>
    </dgm:pt>
    <dgm:pt modelId="{4CA4892F-D1A2-45A2-8FBF-AD54A145E4BF}" type="pres">
      <dgm:prSet presAssocID="{4745FE49-BBC5-48E4-B799-9443ADAB10ED}" presName="compNode" presStyleCnt="0"/>
      <dgm:spPr/>
    </dgm:pt>
    <dgm:pt modelId="{88D06A97-9D1D-420C-88FE-F3397BCDF36F}" type="pres">
      <dgm:prSet presAssocID="{4745FE49-BBC5-48E4-B799-9443ADAB10ED}" presName="bgRect" presStyleLbl="bgShp" presStyleIdx="3" presStyleCnt="5"/>
      <dgm:spPr/>
    </dgm:pt>
    <dgm:pt modelId="{1DD04FF7-58B8-43AB-B230-63EA711EE78B}" type="pres">
      <dgm:prSet presAssocID="{4745FE49-BBC5-48E4-B799-9443ADAB10E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8CE1DFD2-D9C9-421E-8E87-B15ECCBA7A81}" type="pres">
      <dgm:prSet presAssocID="{4745FE49-BBC5-48E4-B799-9443ADAB10ED}" presName="spaceRect" presStyleCnt="0"/>
      <dgm:spPr/>
    </dgm:pt>
    <dgm:pt modelId="{724FFD8E-E178-4ACF-BF17-7ABF8F6BBBD3}" type="pres">
      <dgm:prSet presAssocID="{4745FE49-BBC5-48E4-B799-9443ADAB10ED}" presName="parTx" presStyleLbl="revTx" presStyleIdx="3" presStyleCnt="5">
        <dgm:presLayoutVars>
          <dgm:chMax val="0"/>
          <dgm:chPref val="0"/>
        </dgm:presLayoutVars>
      </dgm:prSet>
      <dgm:spPr/>
    </dgm:pt>
    <dgm:pt modelId="{203DA95E-0845-404D-93CF-88B569474EE3}" type="pres">
      <dgm:prSet presAssocID="{0B8D47FA-3429-4FA8-8D84-D5E50147CE97}" presName="sibTrans" presStyleCnt="0"/>
      <dgm:spPr/>
    </dgm:pt>
    <dgm:pt modelId="{F296BEF4-5A9F-4AD3-A567-172030ADF939}" type="pres">
      <dgm:prSet presAssocID="{A1D8FE7F-1179-4095-94C5-47CE9DAE722F}" presName="compNode" presStyleCnt="0"/>
      <dgm:spPr/>
    </dgm:pt>
    <dgm:pt modelId="{5F7696C9-F415-41DE-9B88-A5E3AE91AE6E}" type="pres">
      <dgm:prSet presAssocID="{A1D8FE7F-1179-4095-94C5-47CE9DAE722F}" presName="bgRect" presStyleLbl="bgShp" presStyleIdx="4" presStyleCnt="5"/>
      <dgm:spPr/>
    </dgm:pt>
    <dgm:pt modelId="{6E13A20C-6C7C-417B-A295-64B0744631EF}" type="pres">
      <dgm:prSet presAssocID="{A1D8FE7F-1179-4095-94C5-47CE9DAE722F}"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ocument"/>
        </a:ext>
      </dgm:extLst>
    </dgm:pt>
    <dgm:pt modelId="{90A0A901-676D-4AA1-A944-E07125C7BEF2}" type="pres">
      <dgm:prSet presAssocID="{A1D8FE7F-1179-4095-94C5-47CE9DAE722F}" presName="spaceRect" presStyleCnt="0"/>
      <dgm:spPr/>
    </dgm:pt>
    <dgm:pt modelId="{46C69FBF-C869-4096-9498-E9A253A3535B}" type="pres">
      <dgm:prSet presAssocID="{A1D8FE7F-1179-4095-94C5-47CE9DAE722F}" presName="parTx" presStyleLbl="revTx" presStyleIdx="4" presStyleCnt="5">
        <dgm:presLayoutVars>
          <dgm:chMax val="0"/>
          <dgm:chPref val="0"/>
        </dgm:presLayoutVars>
      </dgm:prSet>
      <dgm:spPr/>
    </dgm:pt>
  </dgm:ptLst>
  <dgm:cxnLst>
    <dgm:cxn modelId="{0523D308-9D4C-43F5-B576-8D0B5325F2E7}" srcId="{E1D7B4B8-02AD-41CF-A097-A4A919AC9F17}" destId="{02960886-417A-4442-B444-AA164458C934}" srcOrd="0" destOrd="0" parTransId="{A617E61B-AA78-4CA8-BB36-C4D2D8D02E4C}" sibTransId="{AC99AE7F-7DEB-4868-AFD8-6A0D87611EF4}"/>
    <dgm:cxn modelId="{2964F81F-916C-4DCA-92DC-48EEEC17A53B}" srcId="{E1D7B4B8-02AD-41CF-A097-A4A919AC9F17}" destId="{4745FE49-BBC5-48E4-B799-9443ADAB10ED}" srcOrd="3" destOrd="0" parTransId="{63AF48E0-6AF4-46A4-AAB4-84472D3F8833}" sibTransId="{0B8D47FA-3429-4FA8-8D84-D5E50147CE97}"/>
    <dgm:cxn modelId="{C585085C-DD52-4334-8032-FC087231161E}" srcId="{E1D7B4B8-02AD-41CF-A097-A4A919AC9F17}" destId="{A1D8FE7F-1179-4095-94C5-47CE9DAE722F}" srcOrd="4" destOrd="0" parTransId="{4064C38D-CD38-48E0-803F-56D36994CBF5}" sibTransId="{3A2A7907-2F8E-4D58-981B-344D45E711B7}"/>
    <dgm:cxn modelId="{0E33CF84-C1BF-44A8-AA8F-48134B75716E}" type="presOf" srcId="{A1D8FE7F-1179-4095-94C5-47CE9DAE722F}" destId="{46C69FBF-C869-4096-9498-E9A253A3535B}" srcOrd="0" destOrd="0" presId="urn:microsoft.com/office/officeart/2018/2/layout/IconVerticalSolidList"/>
    <dgm:cxn modelId="{7BBD508A-06EA-4708-A48C-3070D0229283}" type="presOf" srcId="{C991FB5B-9BF8-4B02-8B52-F22E93D351BD}" destId="{800EEC2B-C20A-4ED1-8B62-4A8B5B479800}" srcOrd="0" destOrd="0" presId="urn:microsoft.com/office/officeart/2018/2/layout/IconVerticalSolidList"/>
    <dgm:cxn modelId="{0A7F068D-3716-4FC0-B4F9-C69DE7D1D165}" type="presOf" srcId="{4745FE49-BBC5-48E4-B799-9443ADAB10ED}" destId="{724FFD8E-E178-4ACF-BF17-7ABF8F6BBBD3}" srcOrd="0" destOrd="0" presId="urn:microsoft.com/office/officeart/2018/2/layout/IconVerticalSolidList"/>
    <dgm:cxn modelId="{C188AFB9-2B09-4834-982C-43B3A60858DB}" type="presOf" srcId="{E1D7B4B8-02AD-41CF-A097-A4A919AC9F17}" destId="{A9F02704-75E4-4D17-954F-F65562C849FF}" srcOrd="0" destOrd="0" presId="urn:microsoft.com/office/officeart/2018/2/layout/IconVerticalSolidList"/>
    <dgm:cxn modelId="{CBB5E1B9-5980-4606-B12B-853ABE4E8D6C}" srcId="{E1D7B4B8-02AD-41CF-A097-A4A919AC9F17}" destId="{6F1F52A4-9D8E-469D-BC16-97B8BD4C9BB1}" srcOrd="2" destOrd="0" parTransId="{93815FD7-FE0B-4716-A393-F661D46C435B}" sibTransId="{B90D0612-C233-45CA-939B-2B111657296D}"/>
    <dgm:cxn modelId="{CD6AB0DC-855E-400E-AC34-6DE92F93C5CE}" srcId="{E1D7B4B8-02AD-41CF-A097-A4A919AC9F17}" destId="{C991FB5B-9BF8-4B02-8B52-F22E93D351BD}" srcOrd="1" destOrd="0" parTransId="{D9C4EF94-60CC-4A68-8BD5-1B6BC681E30D}" sibTransId="{D69FD84E-58D4-4E28-B2B3-BF31B4DAB4C5}"/>
    <dgm:cxn modelId="{286E08E6-4D4E-412E-8A62-0EE40D76401F}" type="presOf" srcId="{6F1F52A4-9D8E-469D-BC16-97B8BD4C9BB1}" destId="{6C7B2DD1-792D-4AF6-BADA-2660312FB2F8}" srcOrd="0" destOrd="0" presId="urn:microsoft.com/office/officeart/2018/2/layout/IconVerticalSolidList"/>
    <dgm:cxn modelId="{91EF31EE-C2DF-4025-8B05-179E2DDAF075}" type="presOf" srcId="{02960886-417A-4442-B444-AA164458C934}" destId="{6CBE7C99-65DD-4AE9-AFEC-F3F63313F3B1}" srcOrd="0" destOrd="0" presId="urn:microsoft.com/office/officeart/2018/2/layout/IconVerticalSolidList"/>
    <dgm:cxn modelId="{AA969E9B-D792-46A8-B06E-35626489678A}" type="presParOf" srcId="{A9F02704-75E4-4D17-954F-F65562C849FF}" destId="{5325A6B7-0381-47AB-8C37-EC8AA0DBA7BA}" srcOrd="0" destOrd="0" presId="urn:microsoft.com/office/officeart/2018/2/layout/IconVerticalSolidList"/>
    <dgm:cxn modelId="{E60261F0-D040-4872-AF85-EE2B60ABA182}" type="presParOf" srcId="{5325A6B7-0381-47AB-8C37-EC8AA0DBA7BA}" destId="{29CA6015-AFC9-4DB3-AF06-05894A7002DD}" srcOrd="0" destOrd="0" presId="urn:microsoft.com/office/officeart/2018/2/layout/IconVerticalSolidList"/>
    <dgm:cxn modelId="{5EFB0250-BDCA-4D77-96CC-FFC210527E0E}" type="presParOf" srcId="{5325A6B7-0381-47AB-8C37-EC8AA0DBA7BA}" destId="{BFD5ECD2-974C-4C56-AEF5-C4B253E22DE6}" srcOrd="1" destOrd="0" presId="urn:microsoft.com/office/officeart/2018/2/layout/IconVerticalSolidList"/>
    <dgm:cxn modelId="{3E6BDD94-33B0-4F9D-9D37-CADFCD9C6E97}" type="presParOf" srcId="{5325A6B7-0381-47AB-8C37-EC8AA0DBA7BA}" destId="{AFC1B9A8-EFBD-4B06-B6F6-D79748A3A4CF}" srcOrd="2" destOrd="0" presId="urn:microsoft.com/office/officeart/2018/2/layout/IconVerticalSolidList"/>
    <dgm:cxn modelId="{0BDB9692-DA6D-4921-B472-E621EB4DD296}" type="presParOf" srcId="{5325A6B7-0381-47AB-8C37-EC8AA0DBA7BA}" destId="{6CBE7C99-65DD-4AE9-AFEC-F3F63313F3B1}" srcOrd="3" destOrd="0" presId="urn:microsoft.com/office/officeart/2018/2/layout/IconVerticalSolidList"/>
    <dgm:cxn modelId="{3DB0727F-9DC1-4F45-9CF4-0AA54AD6C9E8}" type="presParOf" srcId="{A9F02704-75E4-4D17-954F-F65562C849FF}" destId="{D43A32C4-A153-453F-A68F-15364F99E90C}" srcOrd="1" destOrd="0" presId="urn:microsoft.com/office/officeart/2018/2/layout/IconVerticalSolidList"/>
    <dgm:cxn modelId="{EB222478-F3D6-4B6C-9B0E-857C376AB496}" type="presParOf" srcId="{A9F02704-75E4-4D17-954F-F65562C849FF}" destId="{2EEDA24E-1760-431F-8EB4-508280FEC2D5}" srcOrd="2" destOrd="0" presId="urn:microsoft.com/office/officeart/2018/2/layout/IconVerticalSolidList"/>
    <dgm:cxn modelId="{C20D09ED-52D4-4DB5-AF53-DF766A3B64B8}" type="presParOf" srcId="{2EEDA24E-1760-431F-8EB4-508280FEC2D5}" destId="{535332B0-0860-4F06-8029-4283CAEAF96D}" srcOrd="0" destOrd="0" presId="urn:microsoft.com/office/officeart/2018/2/layout/IconVerticalSolidList"/>
    <dgm:cxn modelId="{45324AE5-3A39-46BA-A512-5774C3295058}" type="presParOf" srcId="{2EEDA24E-1760-431F-8EB4-508280FEC2D5}" destId="{27EA44D5-AFAB-4EC8-A910-41936FAF1324}" srcOrd="1" destOrd="0" presId="urn:microsoft.com/office/officeart/2018/2/layout/IconVerticalSolidList"/>
    <dgm:cxn modelId="{4475258B-D9A4-47F3-B23B-9B99D294515C}" type="presParOf" srcId="{2EEDA24E-1760-431F-8EB4-508280FEC2D5}" destId="{FC788CEF-7C9F-4473-BC62-B89049E0F7A3}" srcOrd="2" destOrd="0" presId="urn:microsoft.com/office/officeart/2018/2/layout/IconVerticalSolidList"/>
    <dgm:cxn modelId="{E7ED1158-7AFB-4A83-9616-65F7273BD7BE}" type="presParOf" srcId="{2EEDA24E-1760-431F-8EB4-508280FEC2D5}" destId="{800EEC2B-C20A-4ED1-8B62-4A8B5B479800}" srcOrd="3" destOrd="0" presId="urn:microsoft.com/office/officeart/2018/2/layout/IconVerticalSolidList"/>
    <dgm:cxn modelId="{3986CA53-0079-4482-9B7D-3F25EDF306F8}" type="presParOf" srcId="{A9F02704-75E4-4D17-954F-F65562C849FF}" destId="{8B350C35-250B-461F-AE0B-99032CA66ADF}" srcOrd="3" destOrd="0" presId="urn:microsoft.com/office/officeart/2018/2/layout/IconVerticalSolidList"/>
    <dgm:cxn modelId="{440BDB74-B253-4861-9C21-19F45FB8E4AF}" type="presParOf" srcId="{A9F02704-75E4-4D17-954F-F65562C849FF}" destId="{AAB4E0CC-4AD6-48C5-9EBA-D5789D33C12D}" srcOrd="4" destOrd="0" presId="urn:microsoft.com/office/officeart/2018/2/layout/IconVerticalSolidList"/>
    <dgm:cxn modelId="{DE902321-BEE6-4490-815E-F5222099D3E9}" type="presParOf" srcId="{AAB4E0CC-4AD6-48C5-9EBA-D5789D33C12D}" destId="{5F188257-6DF8-4DF6-B38B-9220D9F5DC4D}" srcOrd="0" destOrd="0" presId="urn:microsoft.com/office/officeart/2018/2/layout/IconVerticalSolidList"/>
    <dgm:cxn modelId="{6BFD3059-FB9F-4C03-8685-ED696CAF9D49}" type="presParOf" srcId="{AAB4E0CC-4AD6-48C5-9EBA-D5789D33C12D}" destId="{9A537945-3023-4FEF-BF0D-10720147A15E}" srcOrd="1" destOrd="0" presId="urn:microsoft.com/office/officeart/2018/2/layout/IconVerticalSolidList"/>
    <dgm:cxn modelId="{99EA7722-FB48-4319-B63B-95B914539961}" type="presParOf" srcId="{AAB4E0CC-4AD6-48C5-9EBA-D5789D33C12D}" destId="{B0CC9286-8406-47B3-A354-502A977310B7}" srcOrd="2" destOrd="0" presId="urn:microsoft.com/office/officeart/2018/2/layout/IconVerticalSolidList"/>
    <dgm:cxn modelId="{575B5451-1046-4E7F-A92C-B1B952D2CD6D}" type="presParOf" srcId="{AAB4E0CC-4AD6-48C5-9EBA-D5789D33C12D}" destId="{6C7B2DD1-792D-4AF6-BADA-2660312FB2F8}" srcOrd="3" destOrd="0" presId="urn:microsoft.com/office/officeart/2018/2/layout/IconVerticalSolidList"/>
    <dgm:cxn modelId="{E3B3E196-2786-4E0B-8D64-FEB3018CD77A}" type="presParOf" srcId="{A9F02704-75E4-4D17-954F-F65562C849FF}" destId="{2D2BB748-26ED-43DD-B084-46D7D1128722}" srcOrd="5" destOrd="0" presId="urn:microsoft.com/office/officeart/2018/2/layout/IconVerticalSolidList"/>
    <dgm:cxn modelId="{C5E61AB0-EE0D-4A2D-B6A6-4110DB547BD9}" type="presParOf" srcId="{A9F02704-75E4-4D17-954F-F65562C849FF}" destId="{4CA4892F-D1A2-45A2-8FBF-AD54A145E4BF}" srcOrd="6" destOrd="0" presId="urn:microsoft.com/office/officeart/2018/2/layout/IconVerticalSolidList"/>
    <dgm:cxn modelId="{C448D376-1A00-4298-AC47-485D648CE69A}" type="presParOf" srcId="{4CA4892F-D1A2-45A2-8FBF-AD54A145E4BF}" destId="{88D06A97-9D1D-420C-88FE-F3397BCDF36F}" srcOrd="0" destOrd="0" presId="urn:microsoft.com/office/officeart/2018/2/layout/IconVerticalSolidList"/>
    <dgm:cxn modelId="{41762317-6439-41EE-BB3C-55F8B1BE1BF4}" type="presParOf" srcId="{4CA4892F-D1A2-45A2-8FBF-AD54A145E4BF}" destId="{1DD04FF7-58B8-43AB-B230-63EA711EE78B}" srcOrd="1" destOrd="0" presId="urn:microsoft.com/office/officeart/2018/2/layout/IconVerticalSolidList"/>
    <dgm:cxn modelId="{7F271E83-9D14-429A-AE5C-9BDBC7990EB4}" type="presParOf" srcId="{4CA4892F-D1A2-45A2-8FBF-AD54A145E4BF}" destId="{8CE1DFD2-D9C9-421E-8E87-B15ECCBA7A81}" srcOrd="2" destOrd="0" presId="urn:microsoft.com/office/officeart/2018/2/layout/IconVerticalSolidList"/>
    <dgm:cxn modelId="{82C2A968-D486-4B2C-9224-BD1C38716E78}" type="presParOf" srcId="{4CA4892F-D1A2-45A2-8FBF-AD54A145E4BF}" destId="{724FFD8E-E178-4ACF-BF17-7ABF8F6BBBD3}" srcOrd="3" destOrd="0" presId="urn:microsoft.com/office/officeart/2018/2/layout/IconVerticalSolidList"/>
    <dgm:cxn modelId="{554A1BBA-FBE5-403E-86F8-951691A5D83A}" type="presParOf" srcId="{A9F02704-75E4-4D17-954F-F65562C849FF}" destId="{203DA95E-0845-404D-93CF-88B569474EE3}" srcOrd="7" destOrd="0" presId="urn:microsoft.com/office/officeart/2018/2/layout/IconVerticalSolidList"/>
    <dgm:cxn modelId="{672E23C4-C9A2-4D1F-9FB0-62BAF663E7B9}" type="presParOf" srcId="{A9F02704-75E4-4D17-954F-F65562C849FF}" destId="{F296BEF4-5A9F-4AD3-A567-172030ADF939}" srcOrd="8" destOrd="0" presId="urn:microsoft.com/office/officeart/2018/2/layout/IconVerticalSolidList"/>
    <dgm:cxn modelId="{828DCC1B-FB24-4C49-A025-CF8ABE0B0008}" type="presParOf" srcId="{F296BEF4-5A9F-4AD3-A567-172030ADF939}" destId="{5F7696C9-F415-41DE-9B88-A5E3AE91AE6E}" srcOrd="0" destOrd="0" presId="urn:microsoft.com/office/officeart/2018/2/layout/IconVerticalSolidList"/>
    <dgm:cxn modelId="{382358B8-B455-405F-8A88-37FDC251F47B}" type="presParOf" srcId="{F296BEF4-5A9F-4AD3-A567-172030ADF939}" destId="{6E13A20C-6C7C-417B-A295-64B0744631EF}" srcOrd="1" destOrd="0" presId="urn:microsoft.com/office/officeart/2018/2/layout/IconVerticalSolidList"/>
    <dgm:cxn modelId="{54A86B56-A648-4586-B50D-DC07979F3BD6}" type="presParOf" srcId="{F296BEF4-5A9F-4AD3-A567-172030ADF939}" destId="{90A0A901-676D-4AA1-A944-E07125C7BEF2}" srcOrd="2" destOrd="0" presId="urn:microsoft.com/office/officeart/2018/2/layout/IconVerticalSolidList"/>
    <dgm:cxn modelId="{36C13E34-286F-4E03-818F-41C84A2F5372}" type="presParOf" srcId="{F296BEF4-5A9F-4AD3-A567-172030ADF939}" destId="{46C69FBF-C869-4096-9498-E9A253A3535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02384B-AC45-46A6-AA84-D09950F5B39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E774AD8-6F1D-40A3-865B-C99E6DD1E00F}">
      <dgm:prSet/>
      <dgm:spPr/>
      <dgm:t>
        <a:bodyPr/>
        <a:lstStyle/>
        <a:p>
          <a:r>
            <a:rPr lang="en-GB"/>
            <a:t>Sprint 1: Requirements &amp; Planning</a:t>
          </a:r>
          <a:endParaRPr lang="en-US"/>
        </a:p>
      </dgm:t>
    </dgm:pt>
    <dgm:pt modelId="{AD096D43-8EFD-4089-ABD4-8729145ADE07}" type="parTrans" cxnId="{67D7C8AB-168F-4A4B-A8D9-6781A130284F}">
      <dgm:prSet/>
      <dgm:spPr/>
      <dgm:t>
        <a:bodyPr/>
        <a:lstStyle/>
        <a:p>
          <a:endParaRPr lang="en-US"/>
        </a:p>
      </dgm:t>
    </dgm:pt>
    <dgm:pt modelId="{E84833A5-2049-48B4-B32D-E454915E926A}" type="sibTrans" cxnId="{67D7C8AB-168F-4A4B-A8D9-6781A130284F}">
      <dgm:prSet/>
      <dgm:spPr/>
      <dgm:t>
        <a:bodyPr/>
        <a:lstStyle/>
        <a:p>
          <a:endParaRPr lang="en-US"/>
        </a:p>
      </dgm:t>
    </dgm:pt>
    <dgm:pt modelId="{00A1B70C-F25C-4784-96BA-727FE282ACE5}">
      <dgm:prSet/>
      <dgm:spPr/>
      <dgm:t>
        <a:bodyPr/>
        <a:lstStyle/>
        <a:p>
          <a:r>
            <a:rPr lang="en-GB"/>
            <a:t>Sprint 2: Analysis &amp; Design</a:t>
          </a:r>
          <a:endParaRPr lang="en-US"/>
        </a:p>
      </dgm:t>
    </dgm:pt>
    <dgm:pt modelId="{E13C7C4D-CA84-4EE6-8073-C0061A058E11}" type="parTrans" cxnId="{5BD441D2-747C-45DD-AB2E-F558CCB548B2}">
      <dgm:prSet/>
      <dgm:spPr/>
      <dgm:t>
        <a:bodyPr/>
        <a:lstStyle/>
        <a:p>
          <a:endParaRPr lang="en-US"/>
        </a:p>
      </dgm:t>
    </dgm:pt>
    <dgm:pt modelId="{08AACA56-CBCB-4E74-B323-4F6AA2D56440}" type="sibTrans" cxnId="{5BD441D2-747C-45DD-AB2E-F558CCB548B2}">
      <dgm:prSet/>
      <dgm:spPr/>
      <dgm:t>
        <a:bodyPr/>
        <a:lstStyle/>
        <a:p>
          <a:endParaRPr lang="en-US"/>
        </a:p>
      </dgm:t>
    </dgm:pt>
    <dgm:pt modelId="{7BF41A24-4AEB-40D2-9305-844941F6FDA5}">
      <dgm:prSet/>
      <dgm:spPr/>
      <dgm:t>
        <a:bodyPr/>
        <a:lstStyle/>
        <a:p>
          <a:r>
            <a:rPr lang="en-GB"/>
            <a:t>Sprint 3: MVP Development</a:t>
          </a:r>
          <a:endParaRPr lang="en-US"/>
        </a:p>
      </dgm:t>
    </dgm:pt>
    <dgm:pt modelId="{EC7C306A-8D3C-4761-A85F-37BE4F3B0433}" type="parTrans" cxnId="{3DD1A8BD-9A9C-4732-9E37-B09130D11D7C}">
      <dgm:prSet/>
      <dgm:spPr/>
      <dgm:t>
        <a:bodyPr/>
        <a:lstStyle/>
        <a:p>
          <a:endParaRPr lang="en-US"/>
        </a:p>
      </dgm:t>
    </dgm:pt>
    <dgm:pt modelId="{091456B3-2DDE-4534-B87B-C0D3C4B19138}" type="sibTrans" cxnId="{3DD1A8BD-9A9C-4732-9E37-B09130D11D7C}">
      <dgm:prSet/>
      <dgm:spPr/>
      <dgm:t>
        <a:bodyPr/>
        <a:lstStyle/>
        <a:p>
          <a:endParaRPr lang="en-US"/>
        </a:p>
      </dgm:t>
    </dgm:pt>
    <dgm:pt modelId="{AF06372E-B767-476C-8967-5CE1691D675D}">
      <dgm:prSet/>
      <dgm:spPr/>
      <dgm:t>
        <a:bodyPr/>
        <a:lstStyle/>
        <a:p>
          <a:r>
            <a:rPr lang="en-GB"/>
            <a:t>Sprint 4: Testing &amp; Refinement</a:t>
          </a:r>
          <a:endParaRPr lang="en-US"/>
        </a:p>
      </dgm:t>
    </dgm:pt>
    <dgm:pt modelId="{18527187-AF86-4AB0-A78F-B86FC56F0788}" type="parTrans" cxnId="{3FFA5E44-4F51-4005-8283-A7B30BA34907}">
      <dgm:prSet/>
      <dgm:spPr/>
      <dgm:t>
        <a:bodyPr/>
        <a:lstStyle/>
        <a:p>
          <a:endParaRPr lang="en-US"/>
        </a:p>
      </dgm:t>
    </dgm:pt>
    <dgm:pt modelId="{C670ECCA-1D43-4651-921D-8B0B52C47326}" type="sibTrans" cxnId="{3FFA5E44-4F51-4005-8283-A7B30BA34907}">
      <dgm:prSet/>
      <dgm:spPr/>
      <dgm:t>
        <a:bodyPr/>
        <a:lstStyle/>
        <a:p>
          <a:endParaRPr lang="en-US"/>
        </a:p>
      </dgm:t>
    </dgm:pt>
    <dgm:pt modelId="{3172D882-897D-4E08-BF4E-E225DF247913}">
      <dgm:prSet/>
      <dgm:spPr/>
      <dgm:t>
        <a:bodyPr/>
        <a:lstStyle/>
        <a:p>
          <a:r>
            <a:rPr lang="en-GB"/>
            <a:t>Sprint 5: Documentation</a:t>
          </a:r>
          <a:endParaRPr lang="en-US"/>
        </a:p>
      </dgm:t>
    </dgm:pt>
    <dgm:pt modelId="{58CFFB47-2EBE-4EFA-BEBB-7776895CB8B2}" type="parTrans" cxnId="{D6CEAE0E-917E-4619-AD62-D5EB81F9345D}">
      <dgm:prSet/>
      <dgm:spPr/>
      <dgm:t>
        <a:bodyPr/>
        <a:lstStyle/>
        <a:p>
          <a:endParaRPr lang="en-US"/>
        </a:p>
      </dgm:t>
    </dgm:pt>
    <dgm:pt modelId="{B39AE738-8492-41E7-A6AC-31360BA9B1DB}" type="sibTrans" cxnId="{D6CEAE0E-917E-4619-AD62-D5EB81F9345D}">
      <dgm:prSet/>
      <dgm:spPr/>
      <dgm:t>
        <a:bodyPr/>
        <a:lstStyle/>
        <a:p>
          <a:endParaRPr lang="en-US"/>
        </a:p>
      </dgm:t>
    </dgm:pt>
    <dgm:pt modelId="{067F2211-91BB-4A31-82FC-F1118CA46F4E}">
      <dgm:prSet/>
      <dgm:spPr/>
      <dgm:t>
        <a:bodyPr/>
        <a:lstStyle/>
        <a:p>
          <a:r>
            <a:rPr lang="en-GB"/>
            <a:t>Sprint 6: Final Delivery</a:t>
          </a:r>
          <a:endParaRPr lang="en-US"/>
        </a:p>
      </dgm:t>
    </dgm:pt>
    <dgm:pt modelId="{92DD0C14-0CE3-4B51-A223-71D0B4139284}" type="parTrans" cxnId="{6A4FEB61-BF25-4A5D-9634-6D07BB2DA5B3}">
      <dgm:prSet/>
      <dgm:spPr/>
      <dgm:t>
        <a:bodyPr/>
        <a:lstStyle/>
        <a:p>
          <a:endParaRPr lang="en-US"/>
        </a:p>
      </dgm:t>
    </dgm:pt>
    <dgm:pt modelId="{19475D92-8F23-4793-8F23-B14B21A7753E}" type="sibTrans" cxnId="{6A4FEB61-BF25-4A5D-9634-6D07BB2DA5B3}">
      <dgm:prSet/>
      <dgm:spPr/>
      <dgm:t>
        <a:bodyPr/>
        <a:lstStyle/>
        <a:p>
          <a:endParaRPr lang="en-US"/>
        </a:p>
      </dgm:t>
    </dgm:pt>
    <dgm:pt modelId="{5AB1F9FE-850B-41BD-A3DD-CCC9B55E3919}" type="pres">
      <dgm:prSet presAssocID="{DE02384B-AC45-46A6-AA84-D09950F5B39C}" presName="vert0" presStyleCnt="0">
        <dgm:presLayoutVars>
          <dgm:dir/>
          <dgm:animOne val="branch"/>
          <dgm:animLvl val="lvl"/>
        </dgm:presLayoutVars>
      </dgm:prSet>
      <dgm:spPr/>
    </dgm:pt>
    <dgm:pt modelId="{A0FC72E6-2AF2-4DA7-BF63-C2242BB8D029}" type="pres">
      <dgm:prSet presAssocID="{7E774AD8-6F1D-40A3-865B-C99E6DD1E00F}" presName="thickLine" presStyleLbl="alignNode1" presStyleIdx="0" presStyleCnt="6"/>
      <dgm:spPr/>
    </dgm:pt>
    <dgm:pt modelId="{58A483B9-F568-4110-90CA-270663A079CC}" type="pres">
      <dgm:prSet presAssocID="{7E774AD8-6F1D-40A3-865B-C99E6DD1E00F}" presName="horz1" presStyleCnt="0"/>
      <dgm:spPr/>
    </dgm:pt>
    <dgm:pt modelId="{34FFEBDC-48B2-4F82-9E74-C1FCCB992AFB}" type="pres">
      <dgm:prSet presAssocID="{7E774AD8-6F1D-40A3-865B-C99E6DD1E00F}" presName="tx1" presStyleLbl="revTx" presStyleIdx="0" presStyleCnt="6"/>
      <dgm:spPr/>
    </dgm:pt>
    <dgm:pt modelId="{2CD28652-B153-4A23-ACBF-A54A46C4DA9F}" type="pres">
      <dgm:prSet presAssocID="{7E774AD8-6F1D-40A3-865B-C99E6DD1E00F}" presName="vert1" presStyleCnt="0"/>
      <dgm:spPr/>
    </dgm:pt>
    <dgm:pt modelId="{285D9F20-5D4F-4D69-B349-2AA1F28CE143}" type="pres">
      <dgm:prSet presAssocID="{00A1B70C-F25C-4784-96BA-727FE282ACE5}" presName="thickLine" presStyleLbl="alignNode1" presStyleIdx="1" presStyleCnt="6"/>
      <dgm:spPr/>
    </dgm:pt>
    <dgm:pt modelId="{C26AF43D-5E5C-4D42-9619-142800C0FBAF}" type="pres">
      <dgm:prSet presAssocID="{00A1B70C-F25C-4784-96BA-727FE282ACE5}" presName="horz1" presStyleCnt="0"/>
      <dgm:spPr/>
    </dgm:pt>
    <dgm:pt modelId="{11406BEF-20C6-4D7B-A9FC-3F84443AB621}" type="pres">
      <dgm:prSet presAssocID="{00A1B70C-F25C-4784-96BA-727FE282ACE5}" presName="tx1" presStyleLbl="revTx" presStyleIdx="1" presStyleCnt="6"/>
      <dgm:spPr/>
    </dgm:pt>
    <dgm:pt modelId="{B9B1D517-1630-4B9A-B56F-0DF756BEC511}" type="pres">
      <dgm:prSet presAssocID="{00A1B70C-F25C-4784-96BA-727FE282ACE5}" presName="vert1" presStyleCnt="0"/>
      <dgm:spPr/>
    </dgm:pt>
    <dgm:pt modelId="{92607724-44F8-4A8E-A761-9BFF4B277962}" type="pres">
      <dgm:prSet presAssocID="{7BF41A24-4AEB-40D2-9305-844941F6FDA5}" presName="thickLine" presStyleLbl="alignNode1" presStyleIdx="2" presStyleCnt="6"/>
      <dgm:spPr/>
    </dgm:pt>
    <dgm:pt modelId="{F18144B2-91C1-4F9D-9E62-C3FADAEEA719}" type="pres">
      <dgm:prSet presAssocID="{7BF41A24-4AEB-40D2-9305-844941F6FDA5}" presName="horz1" presStyleCnt="0"/>
      <dgm:spPr/>
    </dgm:pt>
    <dgm:pt modelId="{41880F39-5804-45CA-846D-4CEA22FD79B7}" type="pres">
      <dgm:prSet presAssocID="{7BF41A24-4AEB-40D2-9305-844941F6FDA5}" presName="tx1" presStyleLbl="revTx" presStyleIdx="2" presStyleCnt="6"/>
      <dgm:spPr/>
    </dgm:pt>
    <dgm:pt modelId="{3F33FEF8-B10B-4E65-B33B-B881B831B668}" type="pres">
      <dgm:prSet presAssocID="{7BF41A24-4AEB-40D2-9305-844941F6FDA5}" presName="vert1" presStyleCnt="0"/>
      <dgm:spPr/>
    </dgm:pt>
    <dgm:pt modelId="{00AFF859-B5F6-4E94-8A81-9F81AE288E0E}" type="pres">
      <dgm:prSet presAssocID="{AF06372E-B767-476C-8967-5CE1691D675D}" presName="thickLine" presStyleLbl="alignNode1" presStyleIdx="3" presStyleCnt="6"/>
      <dgm:spPr/>
    </dgm:pt>
    <dgm:pt modelId="{995FD689-C25A-416F-B5B8-A0B6B153FDB5}" type="pres">
      <dgm:prSet presAssocID="{AF06372E-B767-476C-8967-5CE1691D675D}" presName="horz1" presStyleCnt="0"/>
      <dgm:spPr/>
    </dgm:pt>
    <dgm:pt modelId="{F36672FC-AF51-41B7-9EB5-19760750DC2E}" type="pres">
      <dgm:prSet presAssocID="{AF06372E-B767-476C-8967-5CE1691D675D}" presName="tx1" presStyleLbl="revTx" presStyleIdx="3" presStyleCnt="6"/>
      <dgm:spPr/>
    </dgm:pt>
    <dgm:pt modelId="{C130DBC8-B841-4853-AE99-5E90AB88DEEE}" type="pres">
      <dgm:prSet presAssocID="{AF06372E-B767-476C-8967-5CE1691D675D}" presName="vert1" presStyleCnt="0"/>
      <dgm:spPr/>
    </dgm:pt>
    <dgm:pt modelId="{FCC125C9-0E60-466B-AC53-D452CE7AFA75}" type="pres">
      <dgm:prSet presAssocID="{3172D882-897D-4E08-BF4E-E225DF247913}" presName="thickLine" presStyleLbl="alignNode1" presStyleIdx="4" presStyleCnt="6"/>
      <dgm:spPr/>
    </dgm:pt>
    <dgm:pt modelId="{0D02EDDD-2963-4CC4-A184-D0FCA7371C24}" type="pres">
      <dgm:prSet presAssocID="{3172D882-897D-4E08-BF4E-E225DF247913}" presName="horz1" presStyleCnt="0"/>
      <dgm:spPr/>
    </dgm:pt>
    <dgm:pt modelId="{4588162D-CDDC-44F2-9EBF-655F3EE1DC22}" type="pres">
      <dgm:prSet presAssocID="{3172D882-897D-4E08-BF4E-E225DF247913}" presName="tx1" presStyleLbl="revTx" presStyleIdx="4" presStyleCnt="6"/>
      <dgm:spPr/>
    </dgm:pt>
    <dgm:pt modelId="{AAA7F00B-495F-4166-8050-BD2499A98222}" type="pres">
      <dgm:prSet presAssocID="{3172D882-897D-4E08-BF4E-E225DF247913}" presName="vert1" presStyleCnt="0"/>
      <dgm:spPr/>
    </dgm:pt>
    <dgm:pt modelId="{146E075E-1F2E-4582-9267-8BD71CFD80CB}" type="pres">
      <dgm:prSet presAssocID="{067F2211-91BB-4A31-82FC-F1118CA46F4E}" presName="thickLine" presStyleLbl="alignNode1" presStyleIdx="5" presStyleCnt="6"/>
      <dgm:spPr/>
    </dgm:pt>
    <dgm:pt modelId="{268244A2-3BFE-481A-825F-C785B1D91098}" type="pres">
      <dgm:prSet presAssocID="{067F2211-91BB-4A31-82FC-F1118CA46F4E}" presName="horz1" presStyleCnt="0"/>
      <dgm:spPr/>
    </dgm:pt>
    <dgm:pt modelId="{33BB82E7-278A-4721-8C0B-FE7D9765065F}" type="pres">
      <dgm:prSet presAssocID="{067F2211-91BB-4A31-82FC-F1118CA46F4E}" presName="tx1" presStyleLbl="revTx" presStyleIdx="5" presStyleCnt="6"/>
      <dgm:spPr/>
    </dgm:pt>
    <dgm:pt modelId="{E53BD413-F550-4DC6-A7DB-8E509397598E}" type="pres">
      <dgm:prSet presAssocID="{067F2211-91BB-4A31-82FC-F1118CA46F4E}" presName="vert1" presStyleCnt="0"/>
      <dgm:spPr/>
    </dgm:pt>
  </dgm:ptLst>
  <dgm:cxnLst>
    <dgm:cxn modelId="{47A69509-A247-4991-94B1-B60B402519EA}" type="presOf" srcId="{7E774AD8-6F1D-40A3-865B-C99E6DD1E00F}" destId="{34FFEBDC-48B2-4F82-9E74-C1FCCB992AFB}" srcOrd="0" destOrd="0" presId="urn:microsoft.com/office/officeart/2008/layout/LinedList"/>
    <dgm:cxn modelId="{022D440C-7D0C-4B83-874A-96E9B025BD4E}" type="presOf" srcId="{3172D882-897D-4E08-BF4E-E225DF247913}" destId="{4588162D-CDDC-44F2-9EBF-655F3EE1DC22}" srcOrd="0" destOrd="0" presId="urn:microsoft.com/office/officeart/2008/layout/LinedList"/>
    <dgm:cxn modelId="{D6CEAE0E-917E-4619-AD62-D5EB81F9345D}" srcId="{DE02384B-AC45-46A6-AA84-D09950F5B39C}" destId="{3172D882-897D-4E08-BF4E-E225DF247913}" srcOrd="4" destOrd="0" parTransId="{58CFFB47-2EBE-4EFA-BEBB-7776895CB8B2}" sibTransId="{B39AE738-8492-41E7-A6AC-31360BA9B1DB}"/>
    <dgm:cxn modelId="{0622353C-C2C1-46F4-A833-0D412942AA7F}" type="presOf" srcId="{DE02384B-AC45-46A6-AA84-D09950F5B39C}" destId="{5AB1F9FE-850B-41BD-A3DD-CCC9B55E3919}" srcOrd="0" destOrd="0" presId="urn:microsoft.com/office/officeart/2008/layout/LinedList"/>
    <dgm:cxn modelId="{6A4FEB61-BF25-4A5D-9634-6D07BB2DA5B3}" srcId="{DE02384B-AC45-46A6-AA84-D09950F5B39C}" destId="{067F2211-91BB-4A31-82FC-F1118CA46F4E}" srcOrd="5" destOrd="0" parTransId="{92DD0C14-0CE3-4B51-A223-71D0B4139284}" sibTransId="{19475D92-8F23-4793-8F23-B14B21A7753E}"/>
    <dgm:cxn modelId="{3FFA5E44-4F51-4005-8283-A7B30BA34907}" srcId="{DE02384B-AC45-46A6-AA84-D09950F5B39C}" destId="{AF06372E-B767-476C-8967-5CE1691D675D}" srcOrd="3" destOrd="0" parTransId="{18527187-AF86-4AB0-A78F-B86FC56F0788}" sibTransId="{C670ECCA-1D43-4651-921D-8B0B52C47326}"/>
    <dgm:cxn modelId="{217D2770-F954-4E09-8A5B-20DED12FF644}" type="presOf" srcId="{067F2211-91BB-4A31-82FC-F1118CA46F4E}" destId="{33BB82E7-278A-4721-8C0B-FE7D9765065F}" srcOrd="0" destOrd="0" presId="urn:microsoft.com/office/officeart/2008/layout/LinedList"/>
    <dgm:cxn modelId="{31C37273-80BD-4F8F-87E8-538936E6ACB9}" type="presOf" srcId="{7BF41A24-4AEB-40D2-9305-844941F6FDA5}" destId="{41880F39-5804-45CA-846D-4CEA22FD79B7}" srcOrd="0" destOrd="0" presId="urn:microsoft.com/office/officeart/2008/layout/LinedList"/>
    <dgm:cxn modelId="{E351F984-21E5-45DF-A91E-72BC4393B2A6}" type="presOf" srcId="{AF06372E-B767-476C-8967-5CE1691D675D}" destId="{F36672FC-AF51-41B7-9EB5-19760750DC2E}" srcOrd="0" destOrd="0" presId="urn:microsoft.com/office/officeart/2008/layout/LinedList"/>
    <dgm:cxn modelId="{67D7C8AB-168F-4A4B-A8D9-6781A130284F}" srcId="{DE02384B-AC45-46A6-AA84-D09950F5B39C}" destId="{7E774AD8-6F1D-40A3-865B-C99E6DD1E00F}" srcOrd="0" destOrd="0" parTransId="{AD096D43-8EFD-4089-ABD4-8729145ADE07}" sibTransId="{E84833A5-2049-48B4-B32D-E454915E926A}"/>
    <dgm:cxn modelId="{3DD1A8BD-9A9C-4732-9E37-B09130D11D7C}" srcId="{DE02384B-AC45-46A6-AA84-D09950F5B39C}" destId="{7BF41A24-4AEB-40D2-9305-844941F6FDA5}" srcOrd="2" destOrd="0" parTransId="{EC7C306A-8D3C-4761-A85F-37BE4F3B0433}" sibTransId="{091456B3-2DDE-4534-B87B-C0D3C4B19138}"/>
    <dgm:cxn modelId="{5BD441D2-747C-45DD-AB2E-F558CCB548B2}" srcId="{DE02384B-AC45-46A6-AA84-D09950F5B39C}" destId="{00A1B70C-F25C-4784-96BA-727FE282ACE5}" srcOrd="1" destOrd="0" parTransId="{E13C7C4D-CA84-4EE6-8073-C0061A058E11}" sibTransId="{08AACA56-CBCB-4E74-B323-4F6AA2D56440}"/>
    <dgm:cxn modelId="{30BE24DD-5DF7-4773-8460-22D27FA69380}" type="presOf" srcId="{00A1B70C-F25C-4784-96BA-727FE282ACE5}" destId="{11406BEF-20C6-4D7B-A9FC-3F84443AB621}" srcOrd="0" destOrd="0" presId="urn:microsoft.com/office/officeart/2008/layout/LinedList"/>
    <dgm:cxn modelId="{FCA53A5F-768D-4335-8A03-268492CBED74}" type="presParOf" srcId="{5AB1F9FE-850B-41BD-A3DD-CCC9B55E3919}" destId="{A0FC72E6-2AF2-4DA7-BF63-C2242BB8D029}" srcOrd="0" destOrd="0" presId="urn:microsoft.com/office/officeart/2008/layout/LinedList"/>
    <dgm:cxn modelId="{776A4A25-237E-497E-A851-16087580FEB6}" type="presParOf" srcId="{5AB1F9FE-850B-41BD-A3DD-CCC9B55E3919}" destId="{58A483B9-F568-4110-90CA-270663A079CC}" srcOrd="1" destOrd="0" presId="urn:microsoft.com/office/officeart/2008/layout/LinedList"/>
    <dgm:cxn modelId="{1B731F5E-CE52-4856-BCD5-1E91487D0930}" type="presParOf" srcId="{58A483B9-F568-4110-90CA-270663A079CC}" destId="{34FFEBDC-48B2-4F82-9E74-C1FCCB992AFB}" srcOrd="0" destOrd="0" presId="urn:microsoft.com/office/officeart/2008/layout/LinedList"/>
    <dgm:cxn modelId="{EA398DB9-0A29-448F-9320-4796B7472848}" type="presParOf" srcId="{58A483B9-F568-4110-90CA-270663A079CC}" destId="{2CD28652-B153-4A23-ACBF-A54A46C4DA9F}" srcOrd="1" destOrd="0" presId="urn:microsoft.com/office/officeart/2008/layout/LinedList"/>
    <dgm:cxn modelId="{02721BA8-48AA-43B7-9703-56A5D14AA96E}" type="presParOf" srcId="{5AB1F9FE-850B-41BD-A3DD-CCC9B55E3919}" destId="{285D9F20-5D4F-4D69-B349-2AA1F28CE143}" srcOrd="2" destOrd="0" presId="urn:microsoft.com/office/officeart/2008/layout/LinedList"/>
    <dgm:cxn modelId="{9689FBB7-004B-4D1B-8B20-69ACCB9CC4B9}" type="presParOf" srcId="{5AB1F9FE-850B-41BD-A3DD-CCC9B55E3919}" destId="{C26AF43D-5E5C-4D42-9619-142800C0FBAF}" srcOrd="3" destOrd="0" presId="urn:microsoft.com/office/officeart/2008/layout/LinedList"/>
    <dgm:cxn modelId="{B02CD0AE-A61F-40AD-AC21-C9B2CE7821B5}" type="presParOf" srcId="{C26AF43D-5E5C-4D42-9619-142800C0FBAF}" destId="{11406BEF-20C6-4D7B-A9FC-3F84443AB621}" srcOrd="0" destOrd="0" presId="urn:microsoft.com/office/officeart/2008/layout/LinedList"/>
    <dgm:cxn modelId="{D490750C-41AF-4204-BC1D-518F4B5BFA21}" type="presParOf" srcId="{C26AF43D-5E5C-4D42-9619-142800C0FBAF}" destId="{B9B1D517-1630-4B9A-B56F-0DF756BEC511}" srcOrd="1" destOrd="0" presId="urn:microsoft.com/office/officeart/2008/layout/LinedList"/>
    <dgm:cxn modelId="{950C57D0-5AF4-45F7-9C5D-01E68299F63C}" type="presParOf" srcId="{5AB1F9FE-850B-41BD-A3DD-CCC9B55E3919}" destId="{92607724-44F8-4A8E-A761-9BFF4B277962}" srcOrd="4" destOrd="0" presId="urn:microsoft.com/office/officeart/2008/layout/LinedList"/>
    <dgm:cxn modelId="{7122085E-932B-4443-8615-67B174251E64}" type="presParOf" srcId="{5AB1F9FE-850B-41BD-A3DD-CCC9B55E3919}" destId="{F18144B2-91C1-4F9D-9E62-C3FADAEEA719}" srcOrd="5" destOrd="0" presId="urn:microsoft.com/office/officeart/2008/layout/LinedList"/>
    <dgm:cxn modelId="{6FF1004F-D325-46BB-BD67-7505488CE83A}" type="presParOf" srcId="{F18144B2-91C1-4F9D-9E62-C3FADAEEA719}" destId="{41880F39-5804-45CA-846D-4CEA22FD79B7}" srcOrd="0" destOrd="0" presId="urn:microsoft.com/office/officeart/2008/layout/LinedList"/>
    <dgm:cxn modelId="{C2915EB6-45A9-4866-8891-EA521A45E5B9}" type="presParOf" srcId="{F18144B2-91C1-4F9D-9E62-C3FADAEEA719}" destId="{3F33FEF8-B10B-4E65-B33B-B881B831B668}" srcOrd="1" destOrd="0" presId="urn:microsoft.com/office/officeart/2008/layout/LinedList"/>
    <dgm:cxn modelId="{0B20FECF-AEC0-4E6A-8DED-49959BCB80A3}" type="presParOf" srcId="{5AB1F9FE-850B-41BD-A3DD-CCC9B55E3919}" destId="{00AFF859-B5F6-4E94-8A81-9F81AE288E0E}" srcOrd="6" destOrd="0" presId="urn:microsoft.com/office/officeart/2008/layout/LinedList"/>
    <dgm:cxn modelId="{915FF5A0-F3F4-453E-8D5A-D0FBA4C60174}" type="presParOf" srcId="{5AB1F9FE-850B-41BD-A3DD-CCC9B55E3919}" destId="{995FD689-C25A-416F-B5B8-A0B6B153FDB5}" srcOrd="7" destOrd="0" presId="urn:microsoft.com/office/officeart/2008/layout/LinedList"/>
    <dgm:cxn modelId="{91E39E58-BFCC-4166-9C61-7B9E9B2E0CFE}" type="presParOf" srcId="{995FD689-C25A-416F-B5B8-A0B6B153FDB5}" destId="{F36672FC-AF51-41B7-9EB5-19760750DC2E}" srcOrd="0" destOrd="0" presId="urn:microsoft.com/office/officeart/2008/layout/LinedList"/>
    <dgm:cxn modelId="{CD6BD446-97FB-441E-8806-029B89CEEEB5}" type="presParOf" srcId="{995FD689-C25A-416F-B5B8-A0B6B153FDB5}" destId="{C130DBC8-B841-4853-AE99-5E90AB88DEEE}" srcOrd="1" destOrd="0" presId="urn:microsoft.com/office/officeart/2008/layout/LinedList"/>
    <dgm:cxn modelId="{9436F268-AFB8-4ED7-A5E5-86B668598646}" type="presParOf" srcId="{5AB1F9FE-850B-41BD-A3DD-CCC9B55E3919}" destId="{FCC125C9-0E60-466B-AC53-D452CE7AFA75}" srcOrd="8" destOrd="0" presId="urn:microsoft.com/office/officeart/2008/layout/LinedList"/>
    <dgm:cxn modelId="{7E516141-EAA4-4DAB-88E5-C726AFFB2D85}" type="presParOf" srcId="{5AB1F9FE-850B-41BD-A3DD-CCC9B55E3919}" destId="{0D02EDDD-2963-4CC4-A184-D0FCA7371C24}" srcOrd="9" destOrd="0" presId="urn:microsoft.com/office/officeart/2008/layout/LinedList"/>
    <dgm:cxn modelId="{87E1B24F-28D5-4E66-ADFC-A3CA4E4F9FD9}" type="presParOf" srcId="{0D02EDDD-2963-4CC4-A184-D0FCA7371C24}" destId="{4588162D-CDDC-44F2-9EBF-655F3EE1DC22}" srcOrd="0" destOrd="0" presId="urn:microsoft.com/office/officeart/2008/layout/LinedList"/>
    <dgm:cxn modelId="{0F8321D5-C1FA-4371-AB67-9FF669843CE9}" type="presParOf" srcId="{0D02EDDD-2963-4CC4-A184-D0FCA7371C24}" destId="{AAA7F00B-495F-4166-8050-BD2499A98222}" srcOrd="1" destOrd="0" presId="urn:microsoft.com/office/officeart/2008/layout/LinedList"/>
    <dgm:cxn modelId="{927BA966-4E1B-4014-955B-B322FE1214A2}" type="presParOf" srcId="{5AB1F9FE-850B-41BD-A3DD-CCC9B55E3919}" destId="{146E075E-1F2E-4582-9267-8BD71CFD80CB}" srcOrd="10" destOrd="0" presId="urn:microsoft.com/office/officeart/2008/layout/LinedList"/>
    <dgm:cxn modelId="{E5F148DC-2F14-44FB-BA2C-D753C04E8DE7}" type="presParOf" srcId="{5AB1F9FE-850B-41BD-A3DD-CCC9B55E3919}" destId="{268244A2-3BFE-481A-825F-C785B1D91098}" srcOrd="11" destOrd="0" presId="urn:microsoft.com/office/officeart/2008/layout/LinedList"/>
    <dgm:cxn modelId="{77C9C701-2AB1-47F2-B74C-0B29BB59478F}" type="presParOf" srcId="{268244A2-3BFE-481A-825F-C785B1D91098}" destId="{33BB82E7-278A-4721-8C0B-FE7D9765065F}" srcOrd="0" destOrd="0" presId="urn:microsoft.com/office/officeart/2008/layout/LinedList"/>
    <dgm:cxn modelId="{0FBB84F4-2656-4A63-B259-4097C38B2C86}" type="presParOf" srcId="{268244A2-3BFE-481A-825F-C785B1D91098}" destId="{E53BD413-F550-4DC6-A7DB-8E50939759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D7C0F-4B0A-4AD8-B317-4BF3ACB22C1E}">
      <dsp:nvSpPr>
        <dsp:cNvPr id="0" name=""/>
        <dsp:cNvSpPr/>
      </dsp:nvSpPr>
      <dsp:spPr>
        <a:xfrm>
          <a:off x="0" y="2691"/>
          <a:ext cx="7950200"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5B64C9-D990-4E74-A6F5-8F7668FC96D1}">
      <dsp:nvSpPr>
        <dsp:cNvPr id="0" name=""/>
        <dsp:cNvSpPr/>
      </dsp:nvSpPr>
      <dsp:spPr>
        <a:xfrm>
          <a:off x="173413" y="131676"/>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AF22B7-3CFD-4D8A-B634-9C082CF1818C}">
      <dsp:nvSpPr>
        <dsp:cNvPr id="0" name=""/>
        <dsp:cNvSpPr/>
      </dsp:nvSpPr>
      <dsp:spPr>
        <a:xfrm>
          <a:off x="662125" y="2691"/>
          <a:ext cx="7288074"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Manual administrative processes</a:t>
          </a:r>
        </a:p>
      </dsp:txBody>
      <dsp:txXfrm>
        <a:off x="662125" y="2691"/>
        <a:ext cx="7288074" cy="573269"/>
      </dsp:txXfrm>
    </dsp:sp>
    <dsp:sp modelId="{53EFBA0C-7509-465B-A014-6FD9A67F6F6B}">
      <dsp:nvSpPr>
        <dsp:cNvPr id="0" name=""/>
        <dsp:cNvSpPr/>
      </dsp:nvSpPr>
      <dsp:spPr>
        <a:xfrm>
          <a:off x="0" y="719277"/>
          <a:ext cx="7950200"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2F0D34-0E77-4320-A01B-8C3145B58044}">
      <dsp:nvSpPr>
        <dsp:cNvPr id="0" name=""/>
        <dsp:cNvSpPr/>
      </dsp:nvSpPr>
      <dsp:spPr>
        <a:xfrm>
          <a:off x="173413" y="848263"/>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6CC95A-E623-4597-8030-3D87BFEFB808}">
      <dsp:nvSpPr>
        <dsp:cNvPr id="0" name=""/>
        <dsp:cNvSpPr/>
      </dsp:nvSpPr>
      <dsp:spPr>
        <a:xfrm>
          <a:off x="662125" y="719277"/>
          <a:ext cx="7288074"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Disconnected spreadsheets and records</a:t>
          </a:r>
        </a:p>
      </dsp:txBody>
      <dsp:txXfrm>
        <a:off x="662125" y="719277"/>
        <a:ext cx="7288074" cy="573269"/>
      </dsp:txXfrm>
    </dsp:sp>
    <dsp:sp modelId="{E641F274-A216-4EFE-BD27-8E65E69C8515}">
      <dsp:nvSpPr>
        <dsp:cNvPr id="0" name=""/>
        <dsp:cNvSpPr/>
      </dsp:nvSpPr>
      <dsp:spPr>
        <a:xfrm>
          <a:off x="0" y="1435863"/>
          <a:ext cx="7950200"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B5FB4-99F6-47E3-B0C8-761F4FEBFFE0}">
      <dsp:nvSpPr>
        <dsp:cNvPr id="0" name=""/>
        <dsp:cNvSpPr/>
      </dsp:nvSpPr>
      <dsp:spPr>
        <a:xfrm>
          <a:off x="173413" y="1564849"/>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683AE2-3DA7-4DFF-A860-DD2A09E7445A}">
      <dsp:nvSpPr>
        <dsp:cNvPr id="0" name=""/>
        <dsp:cNvSpPr/>
      </dsp:nvSpPr>
      <dsp:spPr>
        <a:xfrm>
          <a:off x="662125" y="1435863"/>
          <a:ext cx="7288074"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Difficulty monitoring learner progress</a:t>
          </a:r>
        </a:p>
      </dsp:txBody>
      <dsp:txXfrm>
        <a:off x="662125" y="1435863"/>
        <a:ext cx="7288074" cy="573269"/>
      </dsp:txXfrm>
    </dsp:sp>
    <dsp:sp modelId="{F1A9C480-09EA-4370-9D8C-169632CB66F3}">
      <dsp:nvSpPr>
        <dsp:cNvPr id="0" name=""/>
        <dsp:cNvSpPr/>
      </dsp:nvSpPr>
      <dsp:spPr>
        <a:xfrm>
          <a:off x="0" y="2152450"/>
          <a:ext cx="7950200"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720599-99A8-436F-9912-99FD08997D29}">
      <dsp:nvSpPr>
        <dsp:cNvPr id="0" name=""/>
        <dsp:cNvSpPr/>
      </dsp:nvSpPr>
      <dsp:spPr>
        <a:xfrm>
          <a:off x="173413" y="2281435"/>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A4AD65-9340-4D6C-9A34-C15F0DA685F9}">
      <dsp:nvSpPr>
        <dsp:cNvPr id="0" name=""/>
        <dsp:cNvSpPr/>
      </dsp:nvSpPr>
      <dsp:spPr>
        <a:xfrm>
          <a:off x="662125" y="2152450"/>
          <a:ext cx="7288074"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Challenges preparing for Ofsted inspections</a:t>
          </a:r>
        </a:p>
      </dsp:txBody>
      <dsp:txXfrm>
        <a:off x="662125" y="2152450"/>
        <a:ext cx="7288074" cy="573269"/>
      </dsp:txXfrm>
    </dsp:sp>
    <dsp:sp modelId="{AF213026-623F-4145-AA8A-09BBBEE334B8}">
      <dsp:nvSpPr>
        <dsp:cNvPr id="0" name=""/>
        <dsp:cNvSpPr/>
      </dsp:nvSpPr>
      <dsp:spPr>
        <a:xfrm>
          <a:off x="0" y="2869036"/>
          <a:ext cx="7950200"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1D2E5C-5557-4D7E-8690-7973F2F73D4B}">
      <dsp:nvSpPr>
        <dsp:cNvPr id="0" name=""/>
        <dsp:cNvSpPr/>
      </dsp:nvSpPr>
      <dsp:spPr>
        <a:xfrm>
          <a:off x="173413" y="2998022"/>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2D0D41-2A91-47FE-8861-02E16EE3E726}">
      <dsp:nvSpPr>
        <dsp:cNvPr id="0" name=""/>
        <dsp:cNvSpPr/>
      </dsp:nvSpPr>
      <dsp:spPr>
        <a:xfrm>
          <a:off x="662125" y="2869036"/>
          <a:ext cx="7288074"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Need for a centralised digital solution</a:t>
          </a:r>
        </a:p>
      </dsp:txBody>
      <dsp:txXfrm>
        <a:off x="662125" y="2869036"/>
        <a:ext cx="7288074" cy="5732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3AFBF2-E260-4575-A42A-A7630CE94B16}">
      <dsp:nvSpPr>
        <dsp:cNvPr id="0" name=""/>
        <dsp:cNvSpPr/>
      </dsp:nvSpPr>
      <dsp:spPr>
        <a:xfrm>
          <a:off x="0" y="136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8F571-810F-48D5-895C-D92C9F5D3247}">
      <dsp:nvSpPr>
        <dsp:cNvPr id="0" name=""/>
        <dsp:cNvSpPr/>
      </dsp:nvSpPr>
      <dsp:spPr>
        <a:xfrm>
          <a:off x="175706" y="132053"/>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9BCD8A-066B-4FEA-BA92-B729024729A6}">
      <dsp:nvSpPr>
        <dsp:cNvPr id="0" name=""/>
        <dsp:cNvSpPr/>
      </dsp:nvSpPr>
      <dsp:spPr>
        <a:xfrm>
          <a:off x="670879" y="136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Aim: Develop a platform supporting academic quality and Ofsted readiness.</a:t>
          </a:r>
        </a:p>
      </dsp:txBody>
      <dsp:txXfrm>
        <a:off x="670879" y="1363"/>
        <a:ext cx="3716288" cy="580848"/>
      </dsp:txXfrm>
    </dsp:sp>
    <dsp:sp modelId="{33403CC9-9A55-4220-A036-BA6EEA0681F3}">
      <dsp:nvSpPr>
        <dsp:cNvPr id="0" name=""/>
        <dsp:cNvSpPr/>
      </dsp:nvSpPr>
      <dsp:spPr>
        <a:xfrm>
          <a:off x="0" y="72742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BA6B0-1EBB-4C82-BCF7-1682B31A7E21}">
      <dsp:nvSpPr>
        <dsp:cNvPr id="0" name=""/>
        <dsp:cNvSpPr/>
      </dsp:nvSpPr>
      <dsp:spPr>
        <a:xfrm>
          <a:off x="175706" y="858114"/>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1E1EC4-E848-42C1-B0BB-D8D2F2FFE3D8}">
      <dsp:nvSpPr>
        <dsp:cNvPr id="0" name=""/>
        <dsp:cNvSpPr/>
      </dsp:nvSpPr>
      <dsp:spPr>
        <a:xfrm>
          <a:off x="670879" y="72742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Objectives:</a:t>
          </a:r>
        </a:p>
      </dsp:txBody>
      <dsp:txXfrm>
        <a:off x="670879" y="727423"/>
        <a:ext cx="3716288" cy="580848"/>
      </dsp:txXfrm>
    </dsp:sp>
    <dsp:sp modelId="{FABCBE8D-87F6-4F4F-9C81-C9A8DE65481D}">
      <dsp:nvSpPr>
        <dsp:cNvPr id="0" name=""/>
        <dsp:cNvSpPr/>
      </dsp:nvSpPr>
      <dsp:spPr>
        <a:xfrm>
          <a:off x="0" y="145348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855BF4-BD26-43E5-ADF0-BA455D581072}">
      <dsp:nvSpPr>
        <dsp:cNvPr id="0" name=""/>
        <dsp:cNvSpPr/>
      </dsp:nvSpPr>
      <dsp:spPr>
        <a:xfrm>
          <a:off x="175706" y="1584174"/>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AF6F5-BE7B-4941-BE6E-B4A2A3C9E887}">
      <dsp:nvSpPr>
        <dsp:cNvPr id="0" name=""/>
        <dsp:cNvSpPr/>
      </dsp:nvSpPr>
      <dsp:spPr>
        <a:xfrm>
          <a:off x="670879" y="145348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 Improve learner monitoring</a:t>
          </a:r>
        </a:p>
      </dsp:txBody>
      <dsp:txXfrm>
        <a:off x="670879" y="1453483"/>
        <a:ext cx="3716288" cy="580848"/>
      </dsp:txXfrm>
    </dsp:sp>
    <dsp:sp modelId="{C34C9AF3-6408-4FA5-AE8B-14AD27CAA491}">
      <dsp:nvSpPr>
        <dsp:cNvPr id="0" name=""/>
        <dsp:cNvSpPr/>
      </dsp:nvSpPr>
      <dsp:spPr>
        <a:xfrm>
          <a:off x="0" y="217954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8A380-2959-4B2C-A383-EF20782817F6}">
      <dsp:nvSpPr>
        <dsp:cNvPr id="0" name=""/>
        <dsp:cNvSpPr/>
      </dsp:nvSpPr>
      <dsp:spPr>
        <a:xfrm>
          <a:off x="175706" y="2310234"/>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E6BC60-FBDB-4B02-A295-C142C73A956D}">
      <dsp:nvSpPr>
        <dsp:cNvPr id="0" name=""/>
        <dsp:cNvSpPr/>
      </dsp:nvSpPr>
      <dsp:spPr>
        <a:xfrm>
          <a:off x="670879" y="217954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 Automate schedule generation</a:t>
          </a:r>
        </a:p>
      </dsp:txBody>
      <dsp:txXfrm>
        <a:off x="670879" y="2179543"/>
        <a:ext cx="3716288" cy="580848"/>
      </dsp:txXfrm>
    </dsp:sp>
    <dsp:sp modelId="{D2E0F1FD-E7AA-4264-9373-E874FA904D90}">
      <dsp:nvSpPr>
        <dsp:cNvPr id="0" name=""/>
        <dsp:cNvSpPr/>
      </dsp:nvSpPr>
      <dsp:spPr>
        <a:xfrm>
          <a:off x="0" y="290560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96660-1A12-4EFB-BC70-5380BB6043EC}">
      <dsp:nvSpPr>
        <dsp:cNvPr id="0" name=""/>
        <dsp:cNvSpPr/>
      </dsp:nvSpPr>
      <dsp:spPr>
        <a:xfrm>
          <a:off x="175706" y="3036294"/>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0BD41-FAC4-4A56-94DF-24B53138C97C}">
      <dsp:nvSpPr>
        <dsp:cNvPr id="0" name=""/>
        <dsp:cNvSpPr/>
      </dsp:nvSpPr>
      <dsp:spPr>
        <a:xfrm>
          <a:off x="670879" y="290560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 Simplify grade management</a:t>
          </a:r>
        </a:p>
      </dsp:txBody>
      <dsp:txXfrm>
        <a:off x="670879" y="2905603"/>
        <a:ext cx="3716288" cy="580848"/>
      </dsp:txXfrm>
    </dsp:sp>
    <dsp:sp modelId="{0FF5A547-0892-4B6F-B0D8-C0128C0A44E5}">
      <dsp:nvSpPr>
        <dsp:cNvPr id="0" name=""/>
        <dsp:cNvSpPr/>
      </dsp:nvSpPr>
      <dsp:spPr>
        <a:xfrm>
          <a:off x="0" y="3631663"/>
          <a:ext cx="4387168" cy="5808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3EF014-79B5-4EFD-8148-3056F31E1861}">
      <dsp:nvSpPr>
        <dsp:cNvPr id="0" name=""/>
        <dsp:cNvSpPr/>
      </dsp:nvSpPr>
      <dsp:spPr>
        <a:xfrm>
          <a:off x="175706" y="3762354"/>
          <a:ext cx="319466" cy="319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310768-5F64-4F1A-A220-496AD112D405}">
      <dsp:nvSpPr>
        <dsp:cNvPr id="0" name=""/>
        <dsp:cNvSpPr/>
      </dsp:nvSpPr>
      <dsp:spPr>
        <a:xfrm>
          <a:off x="670879" y="3631663"/>
          <a:ext cx="3716288" cy="5808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73" tIns="61473" rIns="61473" bIns="61473" numCol="1" spcCol="1270" anchor="ctr" anchorCtr="0">
          <a:noAutofit/>
        </a:bodyPr>
        <a:lstStyle/>
        <a:p>
          <a:pPr marL="0" lvl="0" indent="0" algn="l" defTabSz="711200">
            <a:lnSpc>
              <a:spcPct val="90000"/>
            </a:lnSpc>
            <a:spcBef>
              <a:spcPct val="0"/>
            </a:spcBef>
            <a:spcAft>
              <a:spcPct val="35000"/>
            </a:spcAft>
            <a:buNone/>
          </a:pPr>
          <a:r>
            <a:rPr lang="en-US" sz="1600" kern="1200"/>
            <a:t>• Improve visibility and reporting</a:t>
          </a:r>
        </a:p>
      </dsp:txBody>
      <dsp:txXfrm>
        <a:off x="670879" y="3631663"/>
        <a:ext cx="3716288" cy="5808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CA6015-AFC9-4DB3-AF06-05894A7002DD}">
      <dsp:nvSpPr>
        <dsp:cNvPr id="0" name=""/>
        <dsp:cNvSpPr/>
      </dsp:nvSpPr>
      <dsp:spPr>
        <a:xfrm>
          <a:off x="0" y="2691"/>
          <a:ext cx="6798736"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D5ECD2-974C-4C56-AEF5-C4B253E22DE6}">
      <dsp:nvSpPr>
        <dsp:cNvPr id="0" name=""/>
        <dsp:cNvSpPr/>
      </dsp:nvSpPr>
      <dsp:spPr>
        <a:xfrm>
          <a:off x="173413" y="131676"/>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BE7C99-65DD-4AE9-AFEC-F3F63313F3B1}">
      <dsp:nvSpPr>
        <dsp:cNvPr id="0" name=""/>
        <dsp:cNvSpPr/>
      </dsp:nvSpPr>
      <dsp:spPr>
        <a:xfrm>
          <a:off x="662125" y="2691"/>
          <a:ext cx="6136610"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Agile-inspired methodology</a:t>
          </a:r>
        </a:p>
      </dsp:txBody>
      <dsp:txXfrm>
        <a:off x="662125" y="2691"/>
        <a:ext cx="6136610" cy="573269"/>
      </dsp:txXfrm>
    </dsp:sp>
    <dsp:sp modelId="{535332B0-0860-4F06-8029-4283CAEAF96D}">
      <dsp:nvSpPr>
        <dsp:cNvPr id="0" name=""/>
        <dsp:cNvSpPr/>
      </dsp:nvSpPr>
      <dsp:spPr>
        <a:xfrm>
          <a:off x="0" y="719277"/>
          <a:ext cx="6798736"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EA44D5-AFAB-4EC8-A910-41936FAF1324}">
      <dsp:nvSpPr>
        <dsp:cNvPr id="0" name=""/>
        <dsp:cNvSpPr/>
      </dsp:nvSpPr>
      <dsp:spPr>
        <a:xfrm>
          <a:off x="173413" y="848263"/>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0EEC2B-C20A-4ED1-8B62-4A8B5B479800}">
      <dsp:nvSpPr>
        <dsp:cNvPr id="0" name=""/>
        <dsp:cNvSpPr/>
      </dsp:nvSpPr>
      <dsp:spPr>
        <a:xfrm>
          <a:off x="662125" y="719277"/>
          <a:ext cx="6136610"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Supervisor and client meetings</a:t>
          </a:r>
        </a:p>
      </dsp:txBody>
      <dsp:txXfrm>
        <a:off x="662125" y="719277"/>
        <a:ext cx="6136610" cy="573269"/>
      </dsp:txXfrm>
    </dsp:sp>
    <dsp:sp modelId="{5F188257-6DF8-4DF6-B38B-9220D9F5DC4D}">
      <dsp:nvSpPr>
        <dsp:cNvPr id="0" name=""/>
        <dsp:cNvSpPr/>
      </dsp:nvSpPr>
      <dsp:spPr>
        <a:xfrm>
          <a:off x="0" y="1435863"/>
          <a:ext cx="6798736"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537945-3023-4FEF-BF0D-10720147A15E}">
      <dsp:nvSpPr>
        <dsp:cNvPr id="0" name=""/>
        <dsp:cNvSpPr/>
      </dsp:nvSpPr>
      <dsp:spPr>
        <a:xfrm>
          <a:off x="173413" y="1564849"/>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7B2DD1-792D-4AF6-BADA-2660312FB2F8}">
      <dsp:nvSpPr>
        <dsp:cNvPr id="0" name=""/>
        <dsp:cNvSpPr/>
      </dsp:nvSpPr>
      <dsp:spPr>
        <a:xfrm>
          <a:off x="662125" y="1435863"/>
          <a:ext cx="6136610"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Sprint planning and reviews</a:t>
          </a:r>
        </a:p>
      </dsp:txBody>
      <dsp:txXfrm>
        <a:off x="662125" y="1435863"/>
        <a:ext cx="6136610" cy="573269"/>
      </dsp:txXfrm>
    </dsp:sp>
    <dsp:sp modelId="{88D06A97-9D1D-420C-88FE-F3397BCDF36F}">
      <dsp:nvSpPr>
        <dsp:cNvPr id="0" name=""/>
        <dsp:cNvSpPr/>
      </dsp:nvSpPr>
      <dsp:spPr>
        <a:xfrm>
          <a:off x="0" y="2152450"/>
          <a:ext cx="6798736"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D04FF7-58B8-43AB-B230-63EA711EE78B}">
      <dsp:nvSpPr>
        <dsp:cNvPr id="0" name=""/>
        <dsp:cNvSpPr/>
      </dsp:nvSpPr>
      <dsp:spPr>
        <a:xfrm>
          <a:off x="173413" y="2281435"/>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4FFD8E-E178-4ACF-BF17-7ABF8F6BBBD3}">
      <dsp:nvSpPr>
        <dsp:cNvPr id="0" name=""/>
        <dsp:cNvSpPr/>
      </dsp:nvSpPr>
      <dsp:spPr>
        <a:xfrm>
          <a:off x="662125" y="2152450"/>
          <a:ext cx="6136610"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GitHub collaboration</a:t>
          </a:r>
        </a:p>
      </dsp:txBody>
      <dsp:txXfrm>
        <a:off x="662125" y="2152450"/>
        <a:ext cx="6136610" cy="573269"/>
      </dsp:txXfrm>
    </dsp:sp>
    <dsp:sp modelId="{5F7696C9-F415-41DE-9B88-A5E3AE91AE6E}">
      <dsp:nvSpPr>
        <dsp:cNvPr id="0" name=""/>
        <dsp:cNvSpPr/>
      </dsp:nvSpPr>
      <dsp:spPr>
        <a:xfrm>
          <a:off x="0" y="2869036"/>
          <a:ext cx="6798736" cy="573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13A20C-6C7C-417B-A295-64B0744631EF}">
      <dsp:nvSpPr>
        <dsp:cNvPr id="0" name=""/>
        <dsp:cNvSpPr/>
      </dsp:nvSpPr>
      <dsp:spPr>
        <a:xfrm>
          <a:off x="173413" y="2998022"/>
          <a:ext cx="315297" cy="31529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C69FBF-C869-4096-9498-E9A253A3535B}">
      <dsp:nvSpPr>
        <dsp:cNvPr id="0" name=""/>
        <dsp:cNvSpPr/>
      </dsp:nvSpPr>
      <dsp:spPr>
        <a:xfrm>
          <a:off x="662125" y="2869036"/>
          <a:ext cx="6136610" cy="573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71" tIns="60671" rIns="60671" bIns="60671" numCol="1" spcCol="1270" anchor="ctr" anchorCtr="0">
          <a:noAutofit/>
        </a:bodyPr>
        <a:lstStyle/>
        <a:p>
          <a:pPr marL="0" lvl="0" indent="0" algn="l" defTabSz="844550">
            <a:lnSpc>
              <a:spcPct val="100000"/>
            </a:lnSpc>
            <a:spcBef>
              <a:spcPct val="0"/>
            </a:spcBef>
            <a:spcAft>
              <a:spcPct val="35000"/>
            </a:spcAft>
            <a:buNone/>
          </a:pPr>
          <a:r>
            <a:rPr lang="en-US" sz="1900" kern="1200"/>
            <a:t>• Project documentation and evidence</a:t>
          </a:r>
        </a:p>
      </dsp:txBody>
      <dsp:txXfrm>
        <a:off x="662125" y="2869036"/>
        <a:ext cx="6136610" cy="5732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C72E6-2AF2-4DA7-BF63-C2242BB8D029}">
      <dsp:nvSpPr>
        <dsp:cNvPr id="0" name=""/>
        <dsp:cNvSpPr/>
      </dsp:nvSpPr>
      <dsp:spPr>
        <a:xfrm>
          <a:off x="0" y="1682"/>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FFEBDC-48B2-4F82-9E74-C1FCCB992AFB}">
      <dsp:nvSpPr>
        <dsp:cNvPr id="0" name=""/>
        <dsp:cNvSpPr/>
      </dsp:nvSpPr>
      <dsp:spPr>
        <a:xfrm>
          <a:off x="0" y="1682"/>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1: Requirements &amp; Planning</a:t>
          </a:r>
          <a:endParaRPr lang="en-US" sz="2600" kern="1200"/>
        </a:p>
      </dsp:txBody>
      <dsp:txXfrm>
        <a:off x="0" y="1682"/>
        <a:ext cx="6798736" cy="573605"/>
      </dsp:txXfrm>
    </dsp:sp>
    <dsp:sp modelId="{285D9F20-5D4F-4D69-B349-2AA1F28CE143}">
      <dsp:nvSpPr>
        <dsp:cNvPr id="0" name=""/>
        <dsp:cNvSpPr/>
      </dsp:nvSpPr>
      <dsp:spPr>
        <a:xfrm>
          <a:off x="0" y="575287"/>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406BEF-20C6-4D7B-A9FC-3F84443AB621}">
      <dsp:nvSpPr>
        <dsp:cNvPr id="0" name=""/>
        <dsp:cNvSpPr/>
      </dsp:nvSpPr>
      <dsp:spPr>
        <a:xfrm>
          <a:off x="0" y="575287"/>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2: Analysis &amp; Design</a:t>
          </a:r>
          <a:endParaRPr lang="en-US" sz="2600" kern="1200"/>
        </a:p>
      </dsp:txBody>
      <dsp:txXfrm>
        <a:off x="0" y="575287"/>
        <a:ext cx="6798736" cy="573605"/>
      </dsp:txXfrm>
    </dsp:sp>
    <dsp:sp modelId="{92607724-44F8-4A8E-A761-9BFF4B277962}">
      <dsp:nvSpPr>
        <dsp:cNvPr id="0" name=""/>
        <dsp:cNvSpPr/>
      </dsp:nvSpPr>
      <dsp:spPr>
        <a:xfrm>
          <a:off x="0" y="1148893"/>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880F39-5804-45CA-846D-4CEA22FD79B7}">
      <dsp:nvSpPr>
        <dsp:cNvPr id="0" name=""/>
        <dsp:cNvSpPr/>
      </dsp:nvSpPr>
      <dsp:spPr>
        <a:xfrm>
          <a:off x="0" y="1148893"/>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3: MVP Development</a:t>
          </a:r>
          <a:endParaRPr lang="en-US" sz="2600" kern="1200"/>
        </a:p>
      </dsp:txBody>
      <dsp:txXfrm>
        <a:off x="0" y="1148893"/>
        <a:ext cx="6798736" cy="573605"/>
      </dsp:txXfrm>
    </dsp:sp>
    <dsp:sp modelId="{00AFF859-B5F6-4E94-8A81-9F81AE288E0E}">
      <dsp:nvSpPr>
        <dsp:cNvPr id="0" name=""/>
        <dsp:cNvSpPr/>
      </dsp:nvSpPr>
      <dsp:spPr>
        <a:xfrm>
          <a:off x="0" y="1722498"/>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6672FC-AF51-41B7-9EB5-19760750DC2E}">
      <dsp:nvSpPr>
        <dsp:cNvPr id="0" name=""/>
        <dsp:cNvSpPr/>
      </dsp:nvSpPr>
      <dsp:spPr>
        <a:xfrm>
          <a:off x="0" y="1722498"/>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4: Testing &amp; Refinement</a:t>
          </a:r>
          <a:endParaRPr lang="en-US" sz="2600" kern="1200"/>
        </a:p>
      </dsp:txBody>
      <dsp:txXfrm>
        <a:off x="0" y="1722498"/>
        <a:ext cx="6798736" cy="573605"/>
      </dsp:txXfrm>
    </dsp:sp>
    <dsp:sp modelId="{FCC125C9-0E60-466B-AC53-D452CE7AFA75}">
      <dsp:nvSpPr>
        <dsp:cNvPr id="0" name=""/>
        <dsp:cNvSpPr/>
      </dsp:nvSpPr>
      <dsp:spPr>
        <a:xfrm>
          <a:off x="0" y="2296103"/>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88162D-CDDC-44F2-9EBF-655F3EE1DC22}">
      <dsp:nvSpPr>
        <dsp:cNvPr id="0" name=""/>
        <dsp:cNvSpPr/>
      </dsp:nvSpPr>
      <dsp:spPr>
        <a:xfrm>
          <a:off x="0" y="2296103"/>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5: Documentation</a:t>
          </a:r>
          <a:endParaRPr lang="en-US" sz="2600" kern="1200"/>
        </a:p>
      </dsp:txBody>
      <dsp:txXfrm>
        <a:off x="0" y="2296103"/>
        <a:ext cx="6798736" cy="573605"/>
      </dsp:txXfrm>
    </dsp:sp>
    <dsp:sp modelId="{146E075E-1F2E-4582-9267-8BD71CFD80CB}">
      <dsp:nvSpPr>
        <dsp:cNvPr id="0" name=""/>
        <dsp:cNvSpPr/>
      </dsp:nvSpPr>
      <dsp:spPr>
        <a:xfrm>
          <a:off x="0" y="2869709"/>
          <a:ext cx="679873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BB82E7-278A-4721-8C0B-FE7D9765065F}">
      <dsp:nvSpPr>
        <dsp:cNvPr id="0" name=""/>
        <dsp:cNvSpPr/>
      </dsp:nvSpPr>
      <dsp:spPr>
        <a:xfrm>
          <a:off x="0" y="2869709"/>
          <a:ext cx="6798736" cy="573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kern="1200"/>
            <a:t>Sprint 6: Final Delivery</a:t>
          </a:r>
          <a:endParaRPr lang="en-US" sz="2600" kern="1200"/>
        </a:p>
      </dsp:txBody>
      <dsp:txXfrm>
        <a:off x="0" y="2869709"/>
        <a:ext cx="6798736" cy="5736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983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561D9-6A1B-0DDC-F1A4-7625A7499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33E3D-74DF-6664-342C-2CA8FC968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0D8C8-AC66-540C-4020-F8D53C698E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A3D8FA-CBC3-4781-A3D6-C4A5F69BB74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18322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95665-0CDE-E84D-54F0-639C6F1DB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BA6CB-4342-FF8F-91B2-AD5C60124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7ABF5-E8F1-1C3D-3099-F54A00D803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5CEDF6-34E2-1AAC-E3CB-487753E13EF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62854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0C8C4-683C-72CF-496F-117C47F80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BD4FB-6B78-E798-90B5-0A925D169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2E3E9-8B03-EDC0-ED5C-5E8DFAD62C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ED2319-1F30-E72E-F943-6449086893F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98187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live demonstration of the app.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functional and non-functional requirement from the client brief has been met. The two requirements specified as mandatory in the brief, the Schedule Generator producing .xlsx output and the Grade Import auto-populating the Student Overview, are both fully implemented and demonstrated. The role-based access control covers all six user types specified. GDPR requirements including data minimisation, audit logging, and learner deletion support are embedded in the database schema. WCAG 2.2 accessibility was verified through contrast checking and keyboard navigation testing. This table provides a direct traceability link from the client brief to the delivered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colour palette was deliberately chosen for clarity and Ofsted context. Dark navy creates a professional, trustworthy feel for the sidebar and dark slides. Teal is our primary brand colour, chosen because it reads as calm and institutional. Semantic </a:t>
            </a:r>
            <a:r>
              <a:rPr lang="en-US" dirty="0" err="1"/>
              <a:t>colours</a:t>
            </a:r>
            <a:r>
              <a:rPr lang="en-US" dirty="0"/>
              <a:t>, emerald, amber, and red, are used exclusively for status states like on-track, at-risk, and failed, so users immediately understand learner status without reading the label. We applied a single consistent design motif: card layouts with rounded corners, icon circles in teal, and Tailwind utility classes to enforce spacing and typography consistency across all 32 pages.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uses a persistent sidebar navigation with a top search bar. This layout was chosen because programme staff need to move quickly between modules, from checking grades to updating assessments without losing context. The sidebar highlights the active section. The top bar provides search and user account access. KPI cards at the top of the dashboard give a five-second programme health check: modules, at-risk learners, pending marks, and KSB coverage. The chart shows module progress at a glance, with the amber bar highlighting a concern. Every layout decision was validated against Nielsen's 10 usability heuristics.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the platform against Nielsen's 10 usability heuristics, achieving an overall score of 94%. Workflow simplicity and interface consistency both scored 100%, reflecting the systematic use of Tailwind CSS design tokens and our focus on keeping the Grade Import and Schedule Generator workflows to five steps each. Navigation, accessibility, and validation visibility scored 90%. We also verified compliance with WCAG 2.2 accessibility standards, checking colour contrast ratios for all status badges and stat cards. The one area for improvement identified was additional keyboard navigation support, which is flagged as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has 3</a:t>
            </a:r>
            <a:r>
              <a:rPr lang="en-GB" dirty="0"/>
              <a:t>2 routed pages + 6 role dashboards</a:t>
            </a:r>
            <a:r>
              <a:rPr lang="en-US" dirty="0"/>
              <a:t>, all written in React with TypeScript. The Sidebar.tsx component defines a separate navigation menu for each of the six roles, Academic Staff see Modules, Schedule, Grades, KSB Map, Assessments, and Evidence. Programme Leaders see Analytics, Quality, Staff Management, Resources, and Reports. Coaches see their learners, progress tracking, sessions, targets, and feedback. Employers see their apprentices and a feedback form. Ofsted Inspectors see compliance, quality review, documentation, and observations. System Admins see users, roles, system settings, and audit logs. Three shared components, Layout, Sidebar, and </a:t>
            </a:r>
            <a:r>
              <a:rPr lang="en-US" dirty="0" err="1"/>
              <a:t>Topbar</a:t>
            </a:r>
            <a:r>
              <a:rPr lang="en-US" dirty="0"/>
              <a:t>, are reused across every authenticated page.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library in the frontend has a direct trace to the code. React with TypeScript, TypeScript catches mismatches when data from the backend API is passed into components. Tailwind CSS is applied directly in JSX class names, the Sidebar uses slate-800 background, teal-600 for the active nav item, and teal-400 for the Clarity brand name. React Router v7 manages 29 routes defined in routes.ts, with a Layout component wrapping all authenticated paths. Lucide React icons appear throughout the Sidebar: LayoutDashboard, Calendar, FileText, TrendingUp, Target, BarChart3, ClipboardCheck, Settings. The api.ts file is a thin wrapper around the native fetch API with six methods, get, post, put, patch, del, and upload, and injects the JWT token from localStorage on every request.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routing architecture is straightforward. </a:t>
            </a:r>
            <a:r>
              <a:rPr lang="en-US" dirty="0" err="1"/>
              <a:t>App.tsx</a:t>
            </a:r>
            <a:r>
              <a:rPr lang="en-US" dirty="0"/>
              <a:t> is three lines, it just renders </a:t>
            </a:r>
            <a:r>
              <a:rPr lang="en-US" dirty="0" err="1"/>
              <a:t>RouterProvider</a:t>
            </a:r>
            <a:r>
              <a:rPr lang="en-US" dirty="0"/>
              <a:t> with the router from </a:t>
            </a:r>
            <a:r>
              <a:rPr lang="en-US" dirty="0" err="1"/>
              <a:t>routes.ts</a:t>
            </a:r>
            <a:r>
              <a:rPr lang="en-US" dirty="0"/>
              <a:t>. </a:t>
            </a:r>
            <a:r>
              <a:rPr lang="en-US" dirty="0" err="1"/>
              <a:t>routes.ts</a:t>
            </a:r>
            <a:r>
              <a:rPr lang="en-US" dirty="0"/>
              <a:t> defines 32 routes: four public ones, home, login, register, contact, and 25 authenticated ones nested under the Layout component. </a:t>
            </a:r>
            <a:r>
              <a:rPr lang="en-US" dirty="0" err="1"/>
              <a:t>Dashboard.tsx</a:t>
            </a:r>
            <a:r>
              <a:rPr lang="en-US" dirty="0"/>
              <a:t> reads the </a:t>
            </a:r>
            <a:r>
              <a:rPr lang="en-US" dirty="0" err="1"/>
              <a:t>userRole</a:t>
            </a:r>
            <a:r>
              <a:rPr lang="en-US" dirty="0"/>
              <a:t> string from </a:t>
            </a:r>
            <a:r>
              <a:rPr lang="en-US" dirty="0" err="1"/>
              <a:t>localStorage</a:t>
            </a:r>
            <a:r>
              <a:rPr lang="en-US" dirty="0"/>
              <a:t> and uses a switch statement to return the correct role dashboard component. The six dashboard files, </a:t>
            </a:r>
            <a:r>
              <a:rPr lang="en-US" dirty="0" err="1"/>
              <a:t>ProgrammeLeaderDashboard</a:t>
            </a:r>
            <a:r>
              <a:rPr lang="en-US" dirty="0"/>
              <a:t>, AcademicStaffDashboard, </a:t>
            </a:r>
            <a:r>
              <a:rPr lang="en-US" dirty="0" err="1"/>
              <a:t>ApprenticeshipCoachDashboard</a:t>
            </a:r>
            <a:r>
              <a:rPr lang="en-US" dirty="0"/>
              <a:t>, </a:t>
            </a:r>
            <a:r>
              <a:rPr lang="en-US" dirty="0" err="1"/>
              <a:t>EmployerMentorDashboard</a:t>
            </a:r>
            <a:r>
              <a:rPr lang="en-US" dirty="0"/>
              <a:t>, </a:t>
            </a:r>
            <a:r>
              <a:rPr lang="en-US" dirty="0" err="1"/>
              <a:t>OfstedInspectorDashboard</a:t>
            </a:r>
            <a:r>
              <a:rPr lang="en-US" dirty="0"/>
              <a:t>, </a:t>
            </a:r>
            <a:r>
              <a:rPr lang="en-US" dirty="0" err="1"/>
              <a:t>SystemAdminDashboard</a:t>
            </a:r>
            <a:r>
              <a:rPr lang="en-US" dirty="0"/>
              <a:t>, each fetch from the backend independently. </a:t>
            </a:r>
            <a:r>
              <a:rPr lang="en-US" dirty="0" err="1"/>
              <a:t>Sidebar.tsx</a:t>
            </a:r>
            <a:r>
              <a:rPr lang="en-US" dirty="0"/>
              <a:t> has a </a:t>
            </a:r>
            <a:r>
              <a:rPr lang="en-US" dirty="0" err="1"/>
              <a:t>roleNavigation</a:t>
            </a:r>
            <a:r>
              <a:rPr lang="en-US" dirty="0"/>
              <a:t> object mapping each role string to its navigation items, so the menu changes completely on login. The </a:t>
            </a:r>
            <a:r>
              <a:rPr lang="en-US" dirty="0" err="1"/>
              <a:t>api.ts</a:t>
            </a:r>
            <a:r>
              <a:rPr lang="en-US" dirty="0"/>
              <a:t> service wraps native fetch with six methods and automatically attaches the JWT token from </a:t>
            </a:r>
            <a:r>
              <a:rPr lang="en-US" dirty="0" err="1"/>
              <a:t>localStorage</a:t>
            </a:r>
            <a:r>
              <a:rPr lang="en-US" dirty="0"/>
              <a:t> to every request.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a Node.js and Express 5 application. We chose Node because using JavaScript across the full stack meant all four team members could read and contribute to both sides of the codebase. Express 5 was used over earlier versions because it handles async errors natively without requiring try-catch wrappers on every route. Authentication uses JWT tokens with an 8-hour expiry, checked by middleware on every protected endpoint. Passwords are hashed with bcrypt at 12 salt rounds, which is the industry-recommended minimum. We chose SQLite with better-sqlite3 over PostgreSQL because the synchronous API makes transaction handling for grade import straightforward, the entire batch either succeeds or rolls back. The backend has 17 route modules and 2 dedicated service modules.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SQLite database has 16 tables. Three are highlighted because they contain the most critical design decisions. The enrolments table has a unique constraint on the combination of learner ID and module ID. This means grade imports use </a:t>
            </a:r>
            <a:r>
              <a:rPr lang="en-US" dirty="0" err="1"/>
              <a:t>upsert</a:t>
            </a:r>
            <a:r>
              <a:rPr lang="en-US" dirty="0"/>
              <a:t> logic, if a record already exists it is updated, not duplicated. This makes re-running imports safe. All grade processing is wrapped in a database transaction so that if any row fails validation, the entire batch rolls back and no partial data is written. The audit_logs table is append-only and records every authentication event with actor identity, action type, and timestamp, meeting GDPR accountability requirements. Personal data fields across all tables are minimised to only what is operationally necessary.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core service modules are the heart of the automation that the client requested. The Schedule Engine iterates from semester start to end in weekly increments. For each week it checks whether the session date falls within any configured break range, and if so skips it. This deterministic logic means there are no ambiguous edge cases. Outputs are stored in the database and exported via ExcelJS in two formats: a simple per-module weekly list, and a Gantt-style matrix showing all modules across all weeks. The Grade Processor accepts both CSV and Excel. It </a:t>
            </a:r>
            <a:r>
              <a:rPr lang="en-US" dirty="0" err="1"/>
              <a:t>normalises</a:t>
            </a:r>
            <a:r>
              <a:rPr lang="en-US" dirty="0"/>
              <a:t> headers, so columns called Student ID, student_id, or StudentID are all recognised. All writes happen inside a single transaction, so partial imports are impossible.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complementary testing methods to build a credible evidence chain rather than relying on a single approach. Heuristic evaluation was carried out by team members reviewing all 32 pages against Nielsen's 10 heuristics. Task-based usability testing used realistic scenarios: a programme lead importing grades and a coach recording a visit. Accessibility review checked colour contrast ratios for all status badges against WCAG 2.2 minimum requirements. A System Usability Scale questionnaire was completed by testers after scenarios, providing the 94% score we showed earlier. All 12 functional test cases and 7 non-functional tests passed. We also ran SonarQube static analysis on the codebase.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all 12 functional test cases, every one of which passed. The two most important tests for the client brief are TC04 and TC06. TC04 validated the Grade Import: a 42-record CSV file was uploaded, 3 at-risk learners were correctly flagged, and the student overview refreshed immediately. TC06 validated the Schedule Generator: Christmas and Easter break periods were configured, and the generated output contained no sessions in those weeks. TC10 and TC11 validated our security model: unauthenticated requests return 401, and requests from insufficient-role users return 403 before any data is accessed.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7 non-functional tests also passed. The most important for the client brief are the security tests: we confirmed that passwords are bcrypt-hashed and not stored in plain text, and that all protected endpoints correctly enforce authentication and role restrictions. Our SonarQube static analysis identified two areas for improvement. First, 8 hardcoded secrets were found in source files. These do not affect functionality but would be a risk if the repository were made public. The action is straightforward: move all secrets to a .env file excluded via .gitignore. Second, our comment ratio of 1.48% is low. More inline documentation would improve long-term maintainability.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code metrics were generated by an automated evaluation script that Krishna wrote and committed to the repository. 74 source files confirm the codebase is well-decomposed: a monolithic file would score fewer. 116 functions distributed across dedicated route and service files reflects good separation of concerns. 10,147 lines of code is a substantial deliverable for a four-person team working across six sprints. The one metric below target is the comment ratio. At 1.48%, the code is readable in structure but lacks inline explanations for complex logic like the schedule date iteration and grade upsert transaction. Adding comments to these sections is our first practical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recommendation is high priority and actionable immediately: move the 8 hardcoded secrets identified by SonarQube to environment variables before any public deployment. This is a simple change with a significant security impact. The second high-priority recommendation is to increase inline code comments from 1.48% to at least 10%, focusing on the schedule engine date iteration logic and the grade import transaction handling. Medium-priority recommendations include migrating to PostgreSQL if the platform is adopted beyond a single department, and adding a CI/CD pipeline with GitHub Actions to automate testing on every commit. Lower priority items, a notification system and advanced analytics, represent the natural next phase of product development.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further ahead, four features would significantly strengthen the platform's value proposition. University system integration would eliminate the manual CSV export step, which is currently a friction point for adoption, staff have to export from their existing system before importing into Clarity. Expanded KSB evidence linking would allow evidence files to be tagged to specific competency codes, creating a direct and demonstrable audit trail that Ofsted inspectors can follow from provision to impact. Predictive analytics would use historical grade patterns to surface at-risk learners earlier in the module. Finally, auto-generating the Self-Assessment Report from system data would transform Clarity from a data platform into a complete Ofsted readiness tool.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1.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3.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D7377">
              <a:alpha val="20000"/>
            </a:srgbClr>
          </a:solidFill>
          <a:ln/>
        </p:spPr>
        <p:txBody>
          <a:bodyPr/>
          <a:lstStyle/>
          <a:p>
            <a:endParaRPr lang="en-GB"/>
          </a:p>
        </p:txBody>
      </p:sp>
      <p:sp>
        <p:nvSpPr>
          <p:cNvPr id="3" name="Shape 1"/>
          <p:cNvSpPr/>
          <p:nvPr/>
        </p:nvSpPr>
        <p:spPr>
          <a:xfrm>
            <a:off x="-914400" y="3200400"/>
            <a:ext cx="2743200" cy="2743200"/>
          </a:xfrm>
          <a:prstGeom prst="ellipse">
            <a:avLst/>
          </a:prstGeom>
          <a:solidFill>
            <a:srgbClr val="2DD4BF">
              <a:alpha val="15000"/>
            </a:srgbClr>
          </a:solidFill>
          <a:ln/>
        </p:spPr>
        <p:txBody>
          <a:bodyPr/>
          <a:lstStyle/>
          <a:p>
            <a:endParaRPr lang="en-GB"/>
          </a:p>
        </p:txBody>
      </p:sp>
      <p:sp>
        <p:nvSpPr>
          <p:cNvPr id="4" name="Shape 2"/>
          <p:cNvSpPr/>
          <p:nvPr/>
        </p:nvSpPr>
        <p:spPr>
          <a:xfrm>
            <a:off x="7772400" y="3474720"/>
            <a:ext cx="1371600" cy="1371600"/>
          </a:xfrm>
          <a:prstGeom prst="ellipse">
            <a:avLst/>
          </a:prstGeom>
          <a:solidFill>
            <a:srgbClr val="14A8AD">
              <a:alpha val="25000"/>
            </a:srgbClr>
          </a:solidFill>
          <a:ln/>
        </p:spPr>
        <p:txBody>
          <a:bodyPr/>
          <a:lstStyle/>
          <a:p>
            <a:endParaRPr lang="en-GB"/>
          </a:p>
        </p:txBody>
      </p:sp>
      <p:sp>
        <p:nvSpPr>
          <p:cNvPr id="5" name="Text 3"/>
          <p:cNvSpPr/>
          <p:nvPr/>
        </p:nvSpPr>
        <p:spPr>
          <a:xfrm>
            <a:off x="640080" y="1234440"/>
            <a:ext cx="7863840" cy="100584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Clarity</a:t>
            </a:r>
            <a:endParaRPr lang="en-US" sz="6400" dirty="0"/>
          </a:p>
        </p:txBody>
      </p:sp>
      <p:sp>
        <p:nvSpPr>
          <p:cNvPr id="6" name="Text 4"/>
          <p:cNvSpPr/>
          <p:nvPr/>
        </p:nvSpPr>
        <p:spPr>
          <a:xfrm>
            <a:off x="640080" y="2240280"/>
            <a:ext cx="6858000" cy="502920"/>
          </a:xfrm>
          <a:prstGeom prst="rect">
            <a:avLst/>
          </a:prstGeom>
          <a:noFill/>
          <a:ln/>
        </p:spPr>
        <p:txBody>
          <a:bodyPr wrap="square" lIns="0" tIns="0" rIns="0" bIns="0" rtlCol="0" anchor="ctr"/>
          <a:lstStyle/>
          <a:p>
            <a:pPr marL="0" indent="0">
              <a:buNone/>
            </a:pPr>
            <a:r>
              <a:rPr lang="en-US" sz="2000" dirty="0">
                <a:solidFill>
                  <a:srgbClr val="2DD4BF"/>
                </a:solidFill>
                <a:latin typeface="Calibri" pitchFamily="34" charset="0"/>
                <a:ea typeface="Calibri" pitchFamily="34" charset="-122"/>
                <a:cs typeface="Calibri" pitchFamily="34" charset="-120"/>
              </a:rPr>
              <a:t>Academic Quality &amp; Apprenticeship Management Platform</a:t>
            </a:r>
            <a:endParaRPr lang="en-US" sz="2000" dirty="0"/>
          </a:p>
        </p:txBody>
      </p:sp>
      <p:sp>
        <p:nvSpPr>
          <p:cNvPr id="7" name="Text 5"/>
          <p:cNvSpPr/>
          <p:nvPr/>
        </p:nvSpPr>
        <p:spPr>
          <a:xfrm>
            <a:off x="640080" y="2834640"/>
            <a:ext cx="68580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QHO635 Industrial Consulting Project  |  AE2 Presentation</a:t>
            </a:r>
            <a:endParaRPr lang="en-US" sz="1300" dirty="0"/>
          </a:p>
        </p:txBody>
      </p:sp>
      <p:sp>
        <p:nvSpPr>
          <p:cNvPr id="8" name="Shape 6"/>
          <p:cNvSpPr/>
          <p:nvPr/>
        </p:nvSpPr>
        <p:spPr>
          <a:xfrm>
            <a:off x="640080" y="3794760"/>
            <a:ext cx="1920240" cy="777240"/>
          </a:xfrm>
          <a:prstGeom prst="roundRect">
            <a:avLst>
              <a:gd name="adj" fmla="val 1176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9" name="Text 7"/>
          <p:cNvSpPr/>
          <p:nvPr/>
        </p:nvSpPr>
        <p:spPr>
          <a:xfrm>
            <a:off x="749808" y="3858768"/>
            <a:ext cx="1700784" cy="274320"/>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Krishna</a:t>
            </a:r>
            <a:endParaRPr lang="en-US" sz="1300" dirty="0"/>
          </a:p>
        </p:txBody>
      </p:sp>
      <p:sp>
        <p:nvSpPr>
          <p:cNvPr id="10" name="Text 8"/>
          <p:cNvSpPr/>
          <p:nvPr/>
        </p:nvSpPr>
        <p:spPr>
          <a:xfrm>
            <a:off x="749808" y="4133088"/>
            <a:ext cx="1700784"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Project Lead</a:t>
            </a:r>
            <a:endParaRPr lang="en-US" sz="1000" dirty="0"/>
          </a:p>
        </p:txBody>
      </p:sp>
      <p:sp>
        <p:nvSpPr>
          <p:cNvPr id="11" name="Shape 9"/>
          <p:cNvSpPr/>
          <p:nvPr/>
        </p:nvSpPr>
        <p:spPr>
          <a:xfrm>
            <a:off x="2743200" y="3794760"/>
            <a:ext cx="1920240" cy="777240"/>
          </a:xfrm>
          <a:prstGeom prst="roundRect">
            <a:avLst>
              <a:gd name="adj" fmla="val 1176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2" name="Text 10"/>
          <p:cNvSpPr/>
          <p:nvPr/>
        </p:nvSpPr>
        <p:spPr>
          <a:xfrm>
            <a:off x="2852928" y="3858768"/>
            <a:ext cx="1700784" cy="274320"/>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Delia-Larisa Turiac</a:t>
            </a:r>
            <a:endParaRPr lang="en-US" sz="1300" dirty="0"/>
          </a:p>
        </p:txBody>
      </p:sp>
      <p:sp>
        <p:nvSpPr>
          <p:cNvPr id="13" name="Text 11"/>
          <p:cNvSpPr/>
          <p:nvPr/>
        </p:nvSpPr>
        <p:spPr>
          <a:xfrm>
            <a:off x="2852928" y="4133088"/>
            <a:ext cx="1700784"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Technical Lead</a:t>
            </a:r>
            <a:endParaRPr lang="en-US" sz="1000" dirty="0"/>
          </a:p>
        </p:txBody>
      </p:sp>
      <p:sp>
        <p:nvSpPr>
          <p:cNvPr id="14" name="Shape 12"/>
          <p:cNvSpPr/>
          <p:nvPr/>
        </p:nvSpPr>
        <p:spPr>
          <a:xfrm>
            <a:off x="4846320" y="3794760"/>
            <a:ext cx="1920240" cy="777240"/>
          </a:xfrm>
          <a:prstGeom prst="roundRect">
            <a:avLst>
              <a:gd name="adj" fmla="val 1176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5" name="Text 13"/>
          <p:cNvSpPr/>
          <p:nvPr/>
        </p:nvSpPr>
        <p:spPr>
          <a:xfrm>
            <a:off x="4956048" y="3858768"/>
            <a:ext cx="1700784" cy="274320"/>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Alin-Igna Golesie</a:t>
            </a:r>
            <a:endParaRPr lang="en-US" sz="1300" dirty="0"/>
          </a:p>
        </p:txBody>
      </p:sp>
      <p:sp>
        <p:nvSpPr>
          <p:cNvPr id="16" name="Text 14"/>
          <p:cNvSpPr/>
          <p:nvPr/>
        </p:nvSpPr>
        <p:spPr>
          <a:xfrm>
            <a:off x="4956048" y="4133088"/>
            <a:ext cx="1700784"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Frontend Dev</a:t>
            </a:r>
            <a:endParaRPr lang="en-US" sz="1000" dirty="0"/>
          </a:p>
        </p:txBody>
      </p:sp>
      <p:sp>
        <p:nvSpPr>
          <p:cNvPr id="17" name="Shape 15"/>
          <p:cNvSpPr/>
          <p:nvPr/>
        </p:nvSpPr>
        <p:spPr>
          <a:xfrm>
            <a:off x="6949440" y="3794760"/>
            <a:ext cx="1920240" cy="777240"/>
          </a:xfrm>
          <a:prstGeom prst="roundRect">
            <a:avLst>
              <a:gd name="adj" fmla="val 1176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8" name="Text 16"/>
          <p:cNvSpPr/>
          <p:nvPr/>
        </p:nvSpPr>
        <p:spPr>
          <a:xfrm>
            <a:off x="7059168" y="3858768"/>
            <a:ext cx="1700784" cy="274320"/>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Ashik</a:t>
            </a:r>
            <a:endParaRPr lang="en-US" sz="1300" dirty="0"/>
          </a:p>
        </p:txBody>
      </p:sp>
      <p:sp>
        <p:nvSpPr>
          <p:cNvPr id="19" name="Text 17"/>
          <p:cNvSpPr/>
          <p:nvPr/>
        </p:nvSpPr>
        <p:spPr>
          <a:xfrm>
            <a:off x="7059168" y="4133088"/>
            <a:ext cx="1700784"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UX &amp;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Meet the Team</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TEAM</a:t>
            </a:r>
            <a:endParaRPr lang="en-US" sz="900" dirty="0"/>
          </a:p>
        </p:txBody>
      </p:sp>
      <p:sp>
        <p:nvSpPr>
          <p:cNvPr id="6" name="Shape 4"/>
          <p:cNvSpPr/>
          <p:nvPr/>
        </p:nvSpPr>
        <p:spPr>
          <a:xfrm>
            <a:off x="411480" y="1051560"/>
            <a:ext cx="1965960" cy="3291840"/>
          </a:xfrm>
          <a:prstGeom prst="roundRect">
            <a:avLst>
              <a:gd name="adj" fmla="val 4651"/>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7" name="Shape 5"/>
          <p:cNvSpPr/>
          <p:nvPr/>
        </p:nvSpPr>
        <p:spPr>
          <a:xfrm>
            <a:off x="1170432" y="1234440"/>
            <a:ext cx="502920" cy="50292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1245870" y="1309878"/>
            <a:ext cx="352044" cy="352044"/>
          </a:xfrm>
          <a:prstGeom prst="rect">
            <a:avLst/>
          </a:prstGeom>
        </p:spPr>
      </p:pic>
      <p:sp>
        <p:nvSpPr>
          <p:cNvPr id="9" name="Text 6"/>
          <p:cNvSpPr/>
          <p:nvPr/>
        </p:nvSpPr>
        <p:spPr>
          <a:xfrm>
            <a:off x="521208" y="1920240"/>
            <a:ext cx="173736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Krishna</a:t>
            </a:r>
            <a:endParaRPr lang="en-US" sz="1700" dirty="0"/>
          </a:p>
        </p:txBody>
      </p:sp>
      <p:sp>
        <p:nvSpPr>
          <p:cNvPr id="10" name="Text 7"/>
          <p:cNvSpPr/>
          <p:nvPr/>
        </p:nvSpPr>
        <p:spPr>
          <a:xfrm>
            <a:off x="521208" y="2240280"/>
            <a:ext cx="1737360" cy="256032"/>
          </a:xfrm>
          <a:prstGeom prst="rect">
            <a:avLst/>
          </a:prstGeom>
          <a:noFill/>
          <a:ln/>
        </p:spPr>
        <p:txBody>
          <a:bodyPr wrap="square" lIns="0" tIns="0" rIns="0" bIns="0" rtlCol="0" anchor="ctr"/>
          <a:lstStyle/>
          <a:p>
            <a:pPr marL="0" indent="0" algn="ctr">
              <a:buNone/>
            </a:pPr>
            <a:r>
              <a:rPr lang="en-US" sz="1050" dirty="0">
                <a:solidFill>
                  <a:srgbClr val="2DD4BF"/>
                </a:solidFill>
                <a:latin typeface="Calibri" pitchFamily="34" charset="0"/>
                <a:ea typeface="Calibri" pitchFamily="34" charset="-122"/>
                <a:cs typeface="Calibri" pitchFamily="34" charset="-120"/>
              </a:rPr>
              <a:t>Project Lead</a:t>
            </a:r>
            <a:endParaRPr lang="en-US" sz="1050" dirty="0"/>
          </a:p>
        </p:txBody>
      </p:sp>
      <p:sp>
        <p:nvSpPr>
          <p:cNvPr id="11" name="Shape 8"/>
          <p:cNvSpPr/>
          <p:nvPr/>
        </p:nvSpPr>
        <p:spPr>
          <a:xfrm>
            <a:off x="685800" y="2560320"/>
            <a:ext cx="1417320" cy="0"/>
          </a:xfrm>
          <a:prstGeom prst="line">
            <a:avLst/>
          </a:prstGeom>
          <a:noFill/>
          <a:ln w="6350">
            <a:solidFill>
              <a:srgbClr val="0D7377"/>
            </a:solidFill>
            <a:prstDash val="solid"/>
          </a:ln>
        </p:spPr>
        <p:txBody>
          <a:bodyPr/>
          <a:lstStyle/>
          <a:p>
            <a:endParaRPr lang="en-GB"/>
          </a:p>
        </p:txBody>
      </p:sp>
      <p:sp>
        <p:nvSpPr>
          <p:cNvPr id="12" name="Text 9"/>
          <p:cNvSpPr/>
          <p:nvPr/>
        </p:nvSpPr>
        <p:spPr>
          <a:xfrm>
            <a:off x="548640" y="2670048"/>
            <a:ext cx="1691640" cy="1463040"/>
          </a:xfrm>
          <a:prstGeom prst="rect">
            <a:avLst/>
          </a:prstGeom>
          <a:noFill/>
          <a:ln/>
        </p:spPr>
        <p:txBody>
          <a:bodyPr wrap="square" lIns="0" tIns="0" rIns="0" bIns="0" rtlCol="0" anchor="t"/>
          <a:lstStyle/>
          <a:p>
            <a:pPr marL="0" indent="0" algn="ctr">
              <a:buNone/>
            </a:pPr>
            <a:r>
              <a:rPr lang="en-US" sz="1000" dirty="0">
                <a:solidFill>
                  <a:srgbClr val="E2E8F0"/>
                </a:solidFill>
                <a:latin typeface="Calibri" pitchFamily="34" charset="0"/>
                <a:ea typeface="Calibri" pitchFamily="34" charset="-122"/>
                <a:cs typeface="Calibri" pitchFamily="34" charset="-120"/>
              </a:rPr>
              <a:t>Sprint planning · Client comms · API coordination · PID</a:t>
            </a:r>
            <a:endParaRPr lang="en-US" sz="1000" dirty="0"/>
          </a:p>
        </p:txBody>
      </p:sp>
      <p:sp>
        <p:nvSpPr>
          <p:cNvPr id="13" name="Shape 10"/>
          <p:cNvSpPr/>
          <p:nvPr/>
        </p:nvSpPr>
        <p:spPr>
          <a:xfrm>
            <a:off x="2560320" y="1051560"/>
            <a:ext cx="1965960" cy="3291840"/>
          </a:xfrm>
          <a:prstGeom prst="roundRect">
            <a:avLst>
              <a:gd name="adj" fmla="val 4651"/>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4" name="Shape 11"/>
          <p:cNvSpPr/>
          <p:nvPr/>
        </p:nvSpPr>
        <p:spPr>
          <a:xfrm>
            <a:off x="3319272" y="1234440"/>
            <a:ext cx="502920" cy="50292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5" name="Image 1" descr="preencoded.png"/>
          <p:cNvPicPr>
            <a:picLocks noChangeAspect="1"/>
          </p:cNvPicPr>
          <p:nvPr/>
        </p:nvPicPr>
        <p:blipFill>
          <a:blip r:embed="rId4"/>
          <a:stretch>
            <a:fillRect/>
          </a:stretch>
        </p:blipFill>
        <p:spPr>
          <a:xfrm>
            <a:off x="3394710" y="1309878"/>
            <a:ext cx="352044" cy="352044"/>
          </a:xfrm>
          <a:prstGeom prst="rect">
            <a:avLst/>
          </a:prstGeom>
        </p:spPr>
      </p:pic>
      <p:sp>
        <p:nvSpPr>
          <p:cNvPr id="16" name="Text 12"/>
          <p:cNvSpPr/>
          <p:nvPr/>
        </p:nvSpPr>
        <p:spPr>
          <a:xfrm>
            <a:off x="2670048" y="1920240"/>
            <a:ext cx="173736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Delia-Larisa</a:t>
            </a:r>
            <a:endParaRPr lang="en-US" sz="1700" dirty="0"/>
          </a:p>
        </p:txBody>
      </p:sp>
      <p:sp>
        <p:nvSpPr>
          <p:cNvPr id="17" name="Text 13"/>
          <p:cNvSpPr/>
          <p:nvPr/>
        </p:nvSpPr>
        <p:spPr>
          <a:xfrm>
            <a:off x="2670048" y="2240280"/>
            <a:ext cx="1737360" cy="256032"/>
          </a:xfrm>
          <a:prstGeom prst="rect">
            <a:avLst/>
          </a:prstGeom>
          <a:noFill/>
          <a:ln/>
        </p:spPr>
        <p:txBody>
          <a:bodyPr wrap="square" lIns="0" tIns="0" rIns="0" bIns="0" rtlCol="0" anchor="ctr"/>
          <a:lstStyle/>
          <a:p>
            <a:pPr marL="0" indent="0" algn="ctr">
              <a:buNone/>
            </a:pPr>
            <a:r>
              <a:rPr lang="en-US" sz="1050" dirty="0">
                <a:solidFill>
                  <a:srgbClr val="2DD4BF"/>
                </a:solidFill>
                <a:latin typeface="Calibri" pitchFamily="34" charset="0"/>
                <a:ea typeface="Calibri" pitchFamily="34" charset="-122"/>
                <a:cs typeface="Calibri" pitchFamily="34" charset="-120"/>
              </a:rPr>
              <a:t>Technical Lead</a:t>
            </a:r>
            <a:endParaRPr lang="en-US" sz="1050" dirty="0"/>
          </a:p>
        </p:txBody>
      </p:sp>
      <p:sp>
        <p:nvSpPr>
          <p:cNvPr id="18" name="Shape 14"/>
          <p:cNvSpPr/>
          <p:nvPr/>
        </p:nvSpPr>
        <p:spPr>
          <a:xfrm>
            <a:off x="2834640" y="2560320"/>
            <a:ext cx="1417320" cy="0"/>
          </a:xfrm>
          <a:prstGeom prst="line">
            <a:avLst/>
          </a:prstGeom>
          <a:noFill/>
          <a:ln w="6350">
            <a:solidFill>
              <a:srgbClr val="0D7377"/>
            </a:solidFill>
            <a:prstDash val="solid"/>
          </a:ln>
        </p:spPr>
        <p:txBody>
          <a:bodyPr/>
          <a:lstStyle/>
          <a:p>
            <a:endParaRPr lang="en-GB"/>
          </a:p>
        </p:txBody>
      </p:sp>
      <p:sp>
        <p:nvSpPr>
          <p:cNvPr id="19" name="Text 15"/>
          <p:cNvSpPr/>
          <p:nvPr/>
        </p:nvSpPr>
        <p:spPr>
          <a:xfrm>
            <a:off x="2697480" y="2670048"/>
            <a:ext cx="1691640" cy="1463040"/>
          </a:xfrm>
          <a:prstGeom prst="rect">
            <a:avLst/>
          </a:prstGeom>
          <a:noFill/>
          <a:ln/>
        </p:spPr>
        <p:txBody>
          <a:bodyPr wrap="square" lIns="0" tIns="0" rIns="0" bIns="0" rtlCol="0" anchor="t"/>
          <a:lstStyle/>
          <a:p>
            <a:pPr marL="0" indent="0" algn="ctr">
              <a:buNone/>
            </a:pPr>
            <a:r>
              <a:rPr lang="en-US" sz="1000" dirty="0">
                <a:solidFill>
                  <a:srgbClr val="E2E8F0"/>
                </a:solidFill>
                <a:latin typeface="Calibri" pitchFamily="34" charset="0"/>
                <a:ea typeface="Calibri" pitchFamily="34" charset="-122"/>
                <a:cs typeface="Calibri" pitchFamily="34" charset="-120"/>
              </a:rPr>
              <a:t>Database schema · Backend architecture · Grade Import</a:t>
            </a:r>
            <a:endParaRPr lang="en-US" sz="1000" dirty="0"/>
          </a:p>
        </p:txBody>
      </p:sp>
      <p:sp>
        <p:nvSpPr>
          <p:cNvPr id="20" name="Shape 16"/>
          <p:cNvSpPr/>
          <p:nvPr/>
        </p:nvSpPr>
        <p:spPr>
          <a:xfrm>
            <a:off x="4709160" y="1051560"/>
            <a:ext cx="1965960" cy="3291840"/>
          </a:xfrm>
          <a:prstGeom prst="roundRect">
            <a:avLst>
              <a:gd name="adj" fmla="val 4651"/>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1" name="Shape 17"/>
          <p:cNvSpPr/>
          <p:nvPr/>
        </p:nvSpPr>
        <p:spPr>
          <a:xfrm>
            <a:off x="5468112" y="1234440"/>
            <a:ext cx="502920" cy="50292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2" name="Image 2" descr="preencoded.png"/>
          <p:cNvPicPr>
            <a:picLocks noChangeAspect="1"/>
          </p:cNvPicPr>
          <p:nvPr/>
        </p:nvPicPr>
        <p:blipFill>
          <a:blip r:embed="rId5"/>
          <a:stretch>
            <a:fillRect/>
          </a:stretch>
        </p:blipFill>
        <p:spPr>
          <a:xfrm>
            <a:off x="5543550" y="1309878"/>
            <a:ext cx="352044" cy="352044"/>
          </a:xfrm>
          <a:prstGeom prst="rect">
            <a:avLst/>
          </a:prstGeom>
        </p:spPr>
      </p:pic>
      <p:sp>
        <p:nvSpPr>
          <p:cNvPr id="23" name="Text 18"/>
          <p:cNvSpPr/>
          <p:nvPr/>
        </p:nvSpPr>
        <p:spPr>
          <a:xfrm>
            <a:off x="4818888" y="1920240"/>
            <a:ext cx="173736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Alin</a:t>
            </a:r>
            <a:endParaRPr lang="en-US" sz="1700" dirty="0"/>
          </a:p>
        </p:txBody>
      </p:sp>
      <p:sp>
        <p:nvSpPr>
          <p:cNvPr id="24" name="Text 19"/>
          <p:cNvSpPr/>
          <p:nvPr/>
        </p:nvSpPr>
        <p:spPr>
          <a:xfrm>
            <a:off x="4818888" y="2240280"/>
            <a:ext cx="1737360" cy="256032"/>
          </a:xfrm>
          <a:prstGeom prst="rect">
            <a:avLst/>
          </a:prstGeom>
          <a:noFill/>
          <a:ln/>
        </p:spPr>
        <p:txBody>
          <a:bodyPr wrap="square" lIns="0" tIns="0" rIns="0" bIns="0" rtlCol="0" anchor="ctr"/>
          <a:lstStyle/>
          <a:p>
            <a:pPr marL="0" indent="0" algn="ctr">
              <a:buNone/>
            </a:pPr>
            <a:r>
              <a:rPr lang="en-US" sz="1050" dirty="0">
                <a:solidFill>
                  <a:srgbClr val="2DD4BF"/>
                </a:solidFill>
                <a:latin typeface="Calibri" pitchFamily="34" charset="0"/>
                <a:ea typeface="Calibri" pitchFamily="34" charset="-122"/>
                <a:cs typeface="Calibri" pitchFamily="34" charset="-120"/>
              </a:rPr>
              <a:t>Frontend Developer</a:t>
            </a:r>
            <a:endParaRPr lang="en-US" sz="1050" dirty="0"/>
          </a:p>
        </p:txBody>
      </p:sp>
      <p:sp>
        <p:nvSpPr>
          <p:cNvPr id="25" name="Shape 20"/>
          <p:cNvSpPr/>
          <p:nvPr/>
        </p:nvSpPr>
        <p:spPr>
          <a:xfrm>
            <a:off x="4983480" y="2560320"/>
            <a:ext cx="1417320" cy="0"/>
          </a:xfrm>
          <a:prstGeom prst="line">
            <a:avLst/>
          </a:prstGeom>
          <a:noFill/>
          <a:ln w="6350">
            <a:solidFill>
              <a:srgbClr val="0D7377"/>
            </a:solidFill>
            <a:prstDash val="solid"/>
          </a:ln>
        </p:spPr>
        <p:txBody>
          <a:bodyPr/>
          <a:lstStyle/>
          <a:p>
            <a:endParaRPr lang="en-GB"/>
          </a:p>
        </p:txBody>
      </p:sp>
      <p:sp>
        <p:nvSpPr>
          <p:cNvPr id="26" name="Text 21"/>
          <p:cNvSpPr/>
          <p:nvPr/>
        </p:nvSpPr>
        <p:spPr>
          <a:xfrm>
            <a:off x="4846320" y="2670048"/>
            <a:ext cx="1691640" cy="1463040"/>
          </a:xfrm>
          <a:prstGeom prst="rect">
            <a:avLst/>
          </a:prstGeom>
          <a:noFill/>
          <a:ln/>
        </p:spPr>
        <p:txBody>
          <a:bodyPr wrap="square" lIns="0" tIns="0" rIns="0" bIns="0" rtlCol="0" anchor="t"/>
          <a:lstStyle/>
          <a:p>
            <a:pPr marL="0" indent="0" algn="ctr">
              <a:buNone/>
            </a:pPr>
            <a:r>
              <a:rPr lang="en-US" sz="1000" dirty="0">
                <a:solidFill>
                  <a:srgbClr val="E2E8F0"/>
                </a:solidFill>
                <a:latin typeface="Calibri" pitchFamily="34" charset="0"/>
                <a:ea typeface="Calibri" pitchFamily="34" charset="-122"/>
                <a:cs typeface="Calibri" pitchFamily="34" charset="-120"/>
              </a:rPr>
              <a:t>32 React pages · UI design · Frontend–backend integration</a:t>
            </a:r>
            <a:endParaRPr lang="en-US" sz="1000" dirty="0"/>
          </a:p>
        </p:txBody>
      </p:sp>
      <p:sp>
        <p:nvSpPr>
          <p:cNvPr id="27" name="Shape 22"/>
          <p:cNvSpPr/>
          <p:nvPr/>
        </p:nvSpPr>
        <p:spPr>
          <a:xfrm>
            <a:off x="6858000" y="1051560"/>
            <a:ext cx="1965960" cy="3291840"/>
          </a:xfrm>
          <a:prstGeom prst="roundRect">
            <a:avLst>
              <a:gd name="adj" fmla="val 4651"/>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8" name="Shape 23"/>
          <p:cNvSpPr/>
          <p:nvPr/>
        </p:nvSpPr>
        <p:spPr>
          <a:xfrm>
            <a:off x="7616952" y="1234440"/>
            <a:ext cx="502920" cy="50292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9" name="Image 3" descr="preencoded.png"/>
          <p:cNvPicPr>
            <a:picLocks noChangeAspect="1"/>
          </p:cNvPicPr>
          <p:nvPr/>
        </p:nvPicPr>
        <p:blipFill>
          <a:blip r:embed="rId6"/>
          <a:stretch>
            <a:fillRect/>
          </a:stretch>
        </p:blipFill>
        <p:spPr>
          <a:xfrm>
            <a:off x="7692390" y="1309878"/>
            <a:ext cx="352044" cy="352044"/>
          </a:xfrm>
          <a:prstGeom prst="rect">
            <a:avLst/>
          </a:prstGeom>
        </p:spPr>
      </p:pic>
      <p:sp>
        <p:nvSpPr>
          <p:cNvPr id="30" name="Text 24"/>
          <p:cNvSpPr/>
          <p:nvPr/>
        </p:nvSpPr>
        <p:spPr>
          <a:xfrm>
            <a:off x="6967728" y="1920240"/>
            <a:ext cx="173736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Ashik</a:t>
            </a:r>
            <a:endParaRPr lang="en-US" sz="1700" dirty="0"/>
          </a:p>
        </p:txBody>
      </p:sp>
      <p:sp>
        <p:nvSpPr>
          <p:cNvPr id="31" name="Text 25"/>
          <p:cNvSpPr/>
          <p:nvPr/>
        </p:nvSpPr>
        <p:spPr>
          <a:xfrm>
            <a:off x="6967728" y="2240280"/>
            <a:ext cx="1737360" cy="256032"/>
          </a:xfrm>
          <a:prstGeom prst="rect">
            <a:avLst/>
          </a:prstGeom>
          <a:noFill/>
          <a:ln/>
        </p:spPr>
        <p:txBody>
          <a:bodyPr wrap="square" lIns="0" tIns="0" rIns="0" bIns="0" rtlCol="0" anchor="ctr"/>
          <a:lstStyle/>
          <a:p>
            <a:pPr marL="0" indent="0" algn="ctr">
              <a:buNone/>
            </a:pPr>
            <a:r>
              <a:rPr lang="en-US" sz="1050" dirty="0">
                <a:solidFill>
                  <a:srgbClr val="2DD4BF"/>
                </a:solidFill>
                <a:latin typeface="Calibri" pitchFamily="34" charset="0"/>
                <a:ea typeface="Calibri" pitchFamily="34" charset="-122"/>
                <a:cs typeface="Calibri" pitchFamily="34" charset="-120"/>
              </a:rPr>
              <a:t>UX Research &amp; Docs</a:t>
            </a:r>
            <a:endParaRPr lang="en-US" sz="1050" dirty="0"/>
          </a:p>
        </p:txBody>
      </p:sp>
      <p:sp>
        <p:nvSpPr>
          <p:cNvPr id="32" name="Shape 26"/>
          <p:cNvSpPr/>
          <p:nvPr/>
        </p:nvSpPr>
        <p:spPr>
          <a:xfrm>
            <a:off x="7132320" y="2560320"/>
            <a:ext cx="1417320" cy="0"/>
          </a:xfrm>
          <a:prstGeom prst="line">
            <a:avLst/>
          </a:prstGeom>
          <a:noFill/>
          <a:ln w="6350">
            <a:solidFill>
              <a:srgbClr val="0D7377"/>
            </a:solidFill>
            <a:prstDash val="solid"/>
          </a:ln>
        </p:spPr>
        <p:txBody>
          <a:bodyPr/>
          <a:lstStyle/>
          <a:p>
            <a:endParaRPr lang="en-GB"/>
          </a:p>
        </p:txBody>
      </p:sp>
      <p:sp>
        <p:nvSpPr>
          <p:cNvPr id="33" name="Text 27"/>
          <p:cNvSpPr/>
          <p:nvPr/>
        </p:nvSpPr>
        <p:spPr>
          <a:xfrm>
            <a:off x="6995160" y="2670048"/>
            <a:ext cx="1691640" cy="1463040"/>
          </a:xfrm>
          <a:prstGeom prst="rect">
            <a:avLst/>
          </a:prstGeom>
          <a:noFill/>
          <a:ln/>
        </p:spPr>
        <p:txBody>
          <a:bodyPr wrap="square" lIns="0" tIns="0" rIns="0" bIns="0" rtlCol="0" anchor="t"/>
          <a:lstStyle/>
          <a:p>
            <a:pPr marL="0" indent="0" algn="ctr">
              <a:buNone/>
            </a:pPr>
            <a:r>
              <a:rPr lang="en-US" sz="1000" dirty="0">
                <a:solidFill>
                  <a:srgbClr val="E2E8F0"/>
                </a:solidFill>
                <a:latin typeface="Calibri" pitchFamily="34" charset="0"/>
                <a:ea typeface="Calibri" pitchFamily="34" charset="-122"/>
                <a:cs typeface="Calibri" pitchFamily="34" charset="-120"/>
              </a:rPr>
              <a:t>Usability evaluation · Testing · Documentation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Project Background</a:t>
            </a:r>
            <a:endParaRPr lang="en-US" sz="30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graphicFrame>
        <p:nvGraphicFramePr>
          <p:cNvPr id="8" name="Content Placeholder 2">
            <a:extLst>
              <a:ext uri="{FF2B5EF4-FFF2-40B4-BE49-F238E27FC236}">
                <a16:creationId xmlns:a16="http://schemas.microsoft.com/office/drawing/2014/main" id="{F85BCEFF-F5DD-10F0-DFAB-4438934DFA44}"/>
              </a:ext>
            </a:extLst>
          </p:cNvPr>
          <p:cNvGraphicFramePr/>
          <p:nvPr/>
        </p:nvGraphicFramePr>
        <p:xfrm>
          <a:off x="411480" y="849251"/>
          <a:ext cx="7950200" cy="3444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BF95F0-E094-D5CB-2BFA-23EA342AB1C6}"/>
            </a:ext>
          </a:extLst>
        </p:cNvPr>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165109B-7036-4613-93D4-579E77F6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F2EDF0B6-9338-4EB6-AFEE-2BC0FD396AD7}"/>
              </a:ext>
            </a:extLst>
          </p:cNvPr>
          <p:cNvSpPr/>
          <p:nvPr/>
        </p:nvSpPr>
        <p:spPr>
          <a:xfrm>
            <a:off x="571351" y="644236"/>
            <a:ext cx="2370256" cy="386470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2700" b="1" kern="1200">
                <a:solidFill>
                  <a:schemeClr val="tx1"/>
                </a:solidFill>
                <a:latin typeface="+mj-lt"/>
                <a:ea typeface="+mj-ea"/>
                <a:cs typeface="+mj-cs"/>
              </a:rPr>
              <a:t>Project Aim &amp; Objectives</a:t>
            </a:r>
            <a:endParaRPr lang="en-US" sz="2700" kern="1200">
              <a:solidFill>
                <a:schemeClr val="tx1"/>
              </a:solidFill>
              <a:latin typeface="+mj-lt"/>
              <a:ea typeface="+mj-ea"/>
              <a:cs typeface="+mj-cs"/>
            </a:endParaRPr>
          </a:p>
        </p:txBody>
      </p:sp>
      <p:sp useBgFill="1">
        <p:nvSpPr>
          <p:cNvPr id="12" name="Rectangle 11">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2530" y="0"/>
            <a:ext cx="5591470" cy="5143500"/>
          </a:xfrm>
          <a:prstGeom prst="rect">
            <a:avLst/>
          </a:prstGeom>
          <a:ln>
            <a:noFill/>
          </a:ln>
          <a:effectLst>
            <a:outerShdw blurRad="317500" dist="2286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3">
            <a:extLst>
              <a:ext uri="{FF2B5EF4-FFF2-40B4-BE49-F238E27FC236}">
                <a16:creationId xmlns:a16="http://schemas.microsoft.com/office/drawing/2014/main" id="{1810BAB1-E217-7727-C081-62A71C0B3CFD}"/>
              </a:ext>
            </a:extLst>
          </p:cNvPr>
          <p:cNvGraphicFramePr/>
          <p:nvPr>
            <p:extLst>
              <p:ext uri="{D42A27DB-BD31-4B8C-83A1-F6EECF244321}">
                <p14:modId xmlns:p14="http://schemas.microsoft.com/office/powerpoint/2010/main" val="2284237476"/>
              </p:ext>
            </p:extLst>
          </p:nvPr>
        </p:nvGraphicFramePr>
        <p:xfrm>
          <a:off x="4026126" y="450993"/>
          <a:ext cx="4387168" cy="4213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592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91F5-140D-84C0-FFA5-F70C05F4D4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35A7BA-ED66-25DF-E792-EF5529475BD8}"/>
              </a:ext>
            </a:extLst>
          </p:cNvPr>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Project Management Approach</a:t>
            </a:r>
            <a:endParaRPr lang="en-US" sz="3000" dirty="0"/>
          </a:p>
        </p:txBody>
      </p:sp>
      <p:sp>
        <p:nvSpPr>
          <p:cNvPr id="6" name="Shape 4">
            <a:extLst>
              <a:ext uri="{FF2B5EF4-FFF2-40B4-BE49-F238E27FC236}">
                <a16:creationId xmlns:a16="http://schemas.microsoft.com/office/drawing/2014/main" id="{5C630E58-3C06-9BD5-C15C-561B6C6EB3BF}"/>
              </a:ext>
            </a:extLst>
          </p:cNvPr>
          <p:cNvSpPr/>
          <p:nvPr/>
        </p:nvSpPr>
        <p:spPr>
          <a:xfrm>
            <a:off x="411480" y="713232"/>
            <a:ext cx="8321040" cy="0"/>
          </a:xfrm>
          <a:prstGeom prst="line">
            <a:avLst/>
          </a:prstGeom>
          <a:noFill/>
          <a:ln w="6350">
            <a:solidFill>
              <a:srgbClr val="E2E8F0"/>
            </a:solidFill>
            <a:prstDash val="solid"/>
          </a:ln>
        </p:spPr>
        <p:txBody>
          <a:bodyPr/>
          <a:lstStyle/>
          <a:p>
            <a:endParaRPr lang="en-GB"/>
          </a:p>
        </p:txBody>
      </p:sp>
      <p:graphicFrame>
        <p:nvGraphicFramePr>
          <p:cNvPr id="11" name="Content Placeholder 2">
            <a:extLst>
              <a:ext uri="{FF2B5EF4-FFF2-40B4-BE49-F238E27FC236}">
                <a16:creationId xmlns:a16="http://schemas.microsoft.com/office/drawing/2014/main" id="{A13321DB-B72F-669B-B10D-0907EA2CBEF5}"/>
              </a:ext>
            </a:extLst>
          </p:cNvPr>
          <p:cNvGraphicFramePr/>
          <p:nvPr/>
        </p:nvGraphicFramePr>
        <p:xfrm>
          <a:off x="411480" y="1067735"/>
          <a:ext cx="6798736" cy="3444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012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DDCCA-2723-ECE2-31A8-062CB28F06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391F88-08CE-41E5-9BD0-A952346D0AA6}"/>
              </a:ext>
            </a:extLst>
          </p:cNvPr>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Sprint Planning &amp; Timeline</a:t>
            </a:r>
            <a:endParaRPr lang="en-US" sz="3000" dirty="0"/>
          </a:p>
        </p:txBody>
      </p:sp>
      <p:sp>
        <p:nvSpPr>
          <p:cNvPr id="6" name="Shape 4">
            <a:extLst>
              <a:ext uri="{FF2B5EF4-FFF2-40B4-BE49-F238E27FC236}">
                <a16:creationId xmlns:a16="http://schemas.microsoft.com/office/drawing/2014/main" id="{3A155790-7195-C2A7-6361-981AAC1A1D58}"/>
              </a:ext>
            </a:extLst>
          </p:cNvPr>
          <p:cNvSpPr/>
          <p:nvPr/>
        </p:nvSpPr>
        <p:spPr>
          <a:xfrm>
            <a:off x="411480" y="713232"/>
            <a:ext cx="8321040" cy="0"/>
          </a:xfrm>
          <a:prstGeom prst="line">
            <a:avLst/>
          </a:prstGeom>
          <a:noFill/>
          <a:ln w="6350">
            <a:solidFill>
              <a:srgbClr val="E2E8F0"/>
            </a:solidFill>
            <a:prstDash val="solid"/>
          </a:ln>
        </p:spPr>
        <p:txBody>
          <a:bodyPr/>
          <a:lstStyle/>
          <a:p>
            <a:endParaRPr lang="en-GB"/>
          </a:p>
        </p:txBody>
      </p:sp>
      <p:graphicFrame>
        <p:nvGraphicFramePr>
          <p:cNvPr id="9" name="Content Placeholder 2">
            <a:extLst>
              <a:ext uri="{FF2B5EF4-FFF2-40B4-BE49-F238E27FC236}">
                <a16:creationId xmlns:a16="http://schemas.microsoft.com/office/drawing/2014/main" id="{FEFF16AB-6DFD-29E5-72CA-76E457310D22}"/>
              </a:ext>
            </a:extLst>
          </p:cNvPr>
          <p:cNvGraphicFramePr/>
          <p:nvPr/>
        </p:nvGraphicFramePr>
        <p:xfrm>
          <a:off x="411480" y="985271"/>
          <a:ext cx="6798736" cy="3444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5953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3200400" y="365760"/>
            <a:ext cx="2743200" cy="2743200"/>
          </a:xfrm>
          <a:prstGeom prst="ellipse">
            <a:avLst/>
          </a:prstGeom>
          <a:solidFill>
            <a:srgbClr val="0D7377">
              <a:alpha val="15000"/>
            </a:srgbClr>
          </a:solidFill>
          <a:ln/>
        </p:spPr>
        <p:txBody>
          <a:bodyPr/>
          <a:lstStyle/>
          <a:p>
            <a:endParaRPr lang="en-GB"/>
          </a:p>
        </p:txBody>
      </p:sp>
      <p:sp>
        <p:nvSpPr>
          <p:cNvPr id="3" name="Text 1"/>
          <p:cNvSpPr/>
          <p:nvPr/>
        </p:nvSpPr>
        <p:spPr>
          <a:xfrm>
            <a:off x="457200" y="822960"/>
            <a:ext cx="8229600"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Demo</a:t>
            </a:r>
            <a:endParaRPr lang="en-US" sz="5600" dirty="0"/>
          </a:p>
        </p:txBody>
      </p:sp>
      <p:sp>
        <p:nvSpPr>
          <p:cNvPr id="4" name="Text 2"/>
          <p:cNvSpPr/>
          <p:nvPr/>
        </p:nvSpPr>
        <p:spPr>
          <a:xfrm>
            <a:off x="457200" y="1920240"/>
            <a:ext cx="8229600" cy="502920"/>
          </a:xfrm>
          <a:prstGeom prst="rect">
            <a:avLst/>
          </a:prstGeom>
          <a:noFill/>
          <a:ln/>
        </p:spPr>
        <p:txBody>
          <a:bodyPr wrap="square" lIns="0" tIns="0" rIns="0" bIns="0" rtlCol="0" anchor="ctr"/>
          <a:lstStyle/>
          <a:p>
            <a:pPr marL="0" indent="0" algn="ctr">
              <a:buNone/>
            </a:pPr>
            <a:endParaRPr lang="en-US" sz="2800" dirty="0"/>
          </a:p>
        </p:txBody>
      </p:sp>
      <p:sp>
        <p:nvSpPr>
          <p:cNvPr id="5" name="Shape 3"/>
          <p:cNvSpPr/>
          <p:nvPr/>
        </p:nvSpPr>
        <p:spPr>
          <a:xfrm>
            <a:off x="502920" y="2862072"/>
            <a:ext cx="347472" cy="347472"/>
          </a:xfrm>
          <a:prstGeom prst="ellipse">
            <a:avLst/>
          </a:prstGeom>
          <a:solidFill>
            <a:srgbClr val="14A8AD"/>
          </a:solidFill>
          <a:ln/>
          <a:effectLst>
            <a:outerShdw blurRad="101600" dist="38100" dir="8100000" algn="bl" rotWithShape="0">
              <a:srgbClr val="000000">
                <a:alpha val="10000"/>
              </a:srgbClr>
            </a:outerShdw>
          </a:effectLst>
        </p:spPr>
        <p:txBody>
          <a:bodyPr/>
          <a:lstStyle/>
          <a:p>
            <a:endParaRPr lang="en-GB"/>
          </a:p>
        </p:txBody>
      </p:sp>
      <p:pic>
        <p:nvPicPr>
          <p:cNvPr id="6" name="Image 0" descr="preencoded.png"/>
          <p:cNvPicPr>
            <a:picLocks noChangeAspect="1"/>
          </p:cNvPicPr>
          <p:nvPr/>
        </p:nvPicPr>
        <p:blipFill>
          <a:blip r:embed="rId3"/>
          <a:stretch>
            <a:fillRect/>
          </a:stretch>
        </p:blipFill>
        <p:spPr>
          <a:xfrm>
            <a:off x="555041" y="2914193"/>
            <a:ext cx="243230" cy="243230"/>
          </a:xfrm>
          <a:prstGeom prst="rect">
            <a:avLst/>
          </a:prstGeom>
        </p:spPr>
      </p:pic>
      <p:sp>
        <p:nvSpPr>
          <p:cNvPr id="7" name="Text 4"/>
          <p:cNvSpPr/>
          <p:nvPr/>
        </p:nvSpPr>
        <p:spPr>
          <a:xfrm>
            <a:off x="960120" y="2834640"/>
            <a:ext cx="36576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Sign-up flow &amp; login</a:t>
            </a:r>
            <a:endParaRPr lang="en-US" sz="1500" dirty="0"/>
          </a:p>
        </p:txBody>
      </p:sp>
      <p:sp>
        <p:nvSpPr>
          <p:cNvPr id="8" name="Shape 5"/>
          <p:cNvSpPr/>
          <p:nvPr/>
        </p:nvSpPr>
        <p:spPr>
          <a:xfrm>
            <a:off x="4800600" y="2862072"/>
            <a:ext cx="347472" cy="347472"/>
          </a:xfrm>
          <a:prstGeom prst="ellipse">
            <a:avLst/>
          </a:prstGeom>
          <a:solidFill>
            <a:srgbClr val="14A8AD"/>
          </a:solidFill>
          <a:ln/>
          <a:effectLst>
            <a:outerShdw blurRad="101600" dist="38100" dir="8100000" algn="bl" rotWithShape="0">
              <a:srgbClr val="000000">
                <a:alpha val="10000"/>
              </a:srgbClr>
            </a:outerShdw>
          </a:effectLst>
        </p:spPr>
        <p:txBody>
          <a:bodyPr/>
          <a:lstStyle/>
          <a:p>
            <a:endParaRPr lang="en-GB"/>
          </a:p>
        </p:txBody>
      </p:sp>
      <p:pic>
        <p:nvPicPr>
          <p:cNvPr id="9" name="Image 1" descr="preencoded.png"/>
          <p:cNvPicPr>
            <a:picLocks noChangeAspect="1"/>
          </p:cNvPicPr>
          <p:nvPr/>
        </p:nvPicPr>
        <p:blipFill>
          <a:blip r:embed="rId3"/>
          <a:stretch>
            <a:fillRect/>
          </a:stretch>
        </p:blipFill>
        <p:spPr>
          <a:xfrm>
            <a:off x="4852721" y="2914193"/>
            <a:ext cx="243230" cy="243230"/>
          </a:xfrm>
          <a:prstGeom prst="rect">
            <a:avLst/>
          </a:prstGeom>
        </p:spPr>
      </p:pic>
      <p:sp>
        <p:nvSpPr>
          <p:cNvPr id="10" name="Text 6"/>
          <p:cNvSpPr/>
          <p:nvPr/>
        </p:nvSpPr>
        <p:spPr>
          <a:xfrm>
            <a:off x="5257800" y="2834640"/>
            <a:ext cx="36576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Role-based dashboard</a:t>
            </a:r>
            <a:endParaRPr lang="en-US" sz="1500" dirty="0"/>
          </a:p>
        </p:txBody>
      </p:sp>
      <p:sp>
        <p:nvSpPr>
          <p:cNvPr id="11" name="Shape 7"/>
          <p:cNvSpPr/>
          <p:nvPr/>
        </p:nvSpPr>
        <p:spPr>
          <a:xfrm>
            <a:off x="502920" y="3520440"/>
            <a:ext cx="347472" cy="347472"/>
          </a:xfrm>
          <a:prstGeom prst="ellipse">
            <a:avLst/>
          </a:prstGeom>
          <a:solidFill>
            <a:srgbClr val="14A8AD"/>
          </a:solidFill>
          <a:ln/>
          <a:effectLst>
            <a:outerShdw blurRad="101600" dist="38100" dir="8100000" algn="bl" rotWithShape="0">
              <a:srgbClr val="000000">
                <a:alpha val="10000"/>
              </a:srgbClr>
            </a:outerShdw>
          </a:effectLst>
        </p:spPr>
        <p:txBody>
          <a:bodyPr/>
          <a:lstStyle/>
          <a:p>
            <a:endParaRPr lang="en-GB"/>
          </a:p>
        </p:txBody>
      </p:sp>
      <p:pic>
        <p:nvPicPr>
          <p:cNvPr id="12" name="Image 2" descr="preencoded.png"/>
          <p:cNvPicPr>
            <a:picLocks noChangeAspect="1"/>
          </p:cNvPicPr>
          <p:nvPr/>
        </p:nvPicPr>
        <p:blipFill>
          <a:blip r:embed="rId3"/>
          <a:stretch>
            <a:fillRect/>
          </a:stretch>
        </p:blipFill>
        <p:spPr>
          <a:xfrm>
            <a:off x="555041" y="3572561"/>
            <a:ext cx="243230" cy="243230"/>
          </a:xfrm>
          <a:prstGeom prst="rect">
            <a:avLst/>
          </a:prstGeom>
        </p:spPr>
      </p:pic>
      <p:sp>
        <p:nvSpPr>
          <p:cNvPr id="13" name="Text 8"/>
          <p:cNvSpPr/>
          <p:nvPr/>
        </p:nvSpPr>
        <p:spPr>
          <a:xfrm>
            <a:off x="960120" y="3493008"/>
            <a:ext cx="36576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Schedule Generator + Excel export</a:t>
            </a:r>
            <a:endParaRPr lang="en-US" sz="1500" dirty="0"/>
          </a:p>
        </p:txBody>
      </p:sp>
      <p:sp>
        <p:nvSpPr>
          <p:cNvPr id="14" name="Shape 9"/>
          <p:cNvSpPr/>
          <p:nvPr/>
        </p:nvSpPr>
        <p:spPr>
          <a:xfrm>
            <a:off x="4800600" y="3520440"/>
            <a:ext cx="347472" cy="347472"/>
          </a:xfrm>
          <a:prstGeom prst="ellipse">
            <a:avLst/>
          </a:prstGeom>
          <a:solidFill>
            <a:srgbClr val="14A8AD"/>
          </a:solidFill>
          <a:ln/>
          <a:effectLst>
            <a:outerShdw blurRad="101600" dist="38100" dir="8100000" algn="bl" rotWithShape="0">
              <a:srgbClr val="000000">
                <a:alpha val="10000"/>
              </a:srgbClr>
            </a:outerShdw>
          </a:effectLst>
        </p:spPr>
        <p:txBody>
          <a:bodyPr/>
          <a:lstStyle/>
          <a:p>
            <a:endParaRPr lang="en-GB"/>
          </a:p>
        </p:txBody>
      </p:sp>
      <p:pic>
        <p:nvPicPr>
          <p:cNvPr id="15" name="Image 3" descr="preencoded.png"/>
          <p:cNvPicPr>
            <a:picLocks noChangeAspect="1"/>
          </p:cNvPicPr>
          <p:nvPr/>
        </p:nvPicPr>
        <p:blipFill>
          <a:blip r:embed="rId3"/>
          <a:stretch>
            <a:fillRect/>
          </a:stretch>
        </p:blipFill>
        <p:spPr>
          <a:xfrm>
            <a:off x="4852721" y="3572561"/>
            <a:ext cx="243230" cy="243230"/>
          </a:xfrm>
          <a:prstGeom prst="rect">
            <a:avLst/>
          </a:prstGeom>
        </p:spPr>
      </p:pic>
      <p:sp>
        <p:nvSpPr>
          <p:cNvPr id="16" name="Text 10"/>
          <p:cNvSpPr/>
          <p:nvPr/>
        </p:nvSpPr>
        <p:spPr>
          <a:xfrm>
            <a:off x="5257800" y="3493008"/>
            <a:ext cx="36576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Grade Import + Student Overview</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Requirements — Traceability Table</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REQUIREMENTS</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graphicFrame>
        <p:nvGraphicFramePr>
          <p:cNvPr id="22" name="Table 0"/>
          <p:cNvGraphicFramePr>
            <a:graphicFrameLocks noGrp="1"/>
          </p:cNvGraphicFramePr>
          <p:nvPr>
            <p:extLst>
              <p:ext uri="{D42A27DB-BD31-4B8C-83A1-F6EECF244321}">
                <p14:modId xmlns:p14="http://schemas.microsoft.com/office/powerpoint/2010/main" val="2984824703"/>
              </p:ext>
            </p:extLst>
          </p:nvPr>
        </p:nvGraphicFramePr>
        <p:xfrm>
          <a:off x="411480" y="1062110"/>
          <a:ext cx="8138160" cy="4096512"/>
        </p:xfrm>
        <a:graphic>
          <a:graphicData uri="http://schemas.openxmlformats.org/drawingml/2006/table">
            <a:tbl>
              <a:tblPr/>
              <a:tblGrid>
                <a:gridCol w="1005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118872">
                <a:tc>
                  <a:txBody>
                    <a:bodyPr/>
                    <a:lstStyle/>
                    <a:p>
                      <a:pPr marL="0" indent="0">
                        <a:buNone/>
                      </a:pPr>
                      <a:r>
                        <a:rPr lang="en-US" sz="1200" b="1" dirty="0">
                          <a:solidFill>
                            <a:srgbClr val="FFFFFF"/>
                          </a:solidFill>
                        </a:rPr>
                        <a:t>Req ID</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rPr>
                        <a:t>Requirement</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rPr>
                        <a:t>Implementation Detail</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Met?</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FR-AU1–6</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Authentication &amp; RBAC</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JWT auth, 6 roles, audit log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FR-D1–7</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Dashboard (role-specific)</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6 dashboards, KPI metrics, quick actions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FR-S1–6</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Schedule Generator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Date inputs, week calculation, .xlsx export (2 formats)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FR-G1–7</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Grade Import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CSV/Excel, auto-detect, at-risk flag, upsert, transaction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FR-K1–3</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KSB Mapping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Module-to-KSB matrix, gap analysis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FR-A1–4</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Assessment Tracking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Release, deadline, marking status, ext. examiner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FR-E1–6</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Evidence, Visits &amp; Targets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Evidence log, mentor feedback, visits, targets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NFR-Sec</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bcrypt, JWT 8h expiry, RBAC middleware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NFR-GDPR</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Data Protection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Data minimisation, audit log, deletion support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NFR-Perf</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Performance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4s dashboard load, 10s import for 100 records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0"/>
                  </a:ext>
                </a:extLst>
              </a:tr>
              <a:tr h="347472">
                <a:tc>
                  <a:txBody>
                    <a:bodyPr/>
                    <a:lstStyle/>
                    <a:p>
                      <a:pPr marL="0" indent="0">
                        <a:buNone/>
                      </a:pPr>
                      <a:r>
                        <a:rPr lang="en-US" sz="950" dirty="0">
                          <a:solidFill>
                            <a:srgbClr val="0D7377"/>
                          </a:solidFill>
                          <a:latin typeface="Courier New" pitchFamily="34" charset="0"/>
                          <a:ea typeface="Courier New" pitchFamily="34" charset="-122"/>
                          <a:cs typeface="Courier New" pitchFamily="34" charset="-120"/>
                        </a:rPr>
                        <a:t>NFR-A11y</a:t>
                      </a:r>
                      <a:endParaRPr lang="en-US" sz="950" dirty="0">
                        <a:latin typeface="Courier New" charset="0"/>
                        <a:ea typeface="Courier New" charset="0"/>
                        <a:cs typeface="Courier New"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Accessibility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WCAG 2.2 contrast, keyboard navigation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0B98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UI/UX — Design Philosophy</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UI / UX  1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1005840"/>
            <a:ext cx="1234440" cy="685800"/>
          </a:xfrm>
          <a:prstGeom prst="roundRect">
            <a:avLst>
              <a:gd name="adj" fmla="val 10667"/>
            </a:avLst>
          </a:prstGeom>
          <a:solidFill>
            <a:srgbClr val="0F172A"/>
          </a:solidFill>
          <a:ln/>
          <a:effectLst>
            <a:outerShdw blurRad="101600" dist="38100" dir="8100000" algn="bl" rotWithShape="0">
              <a:srgbClr val="000000">
                <a:alpha val="10000"/>
              </a:srgbClr>
            </a:outerShdw>
          </a:effectLst>
        </p:spPr>
        <p:txBody>
          <a:bodyPr/>
          <a:lstStyle/>
          <a:p>
            <a:endParaRPr lang="en-GB"/>
          </a:p>
        </p:txBody>
      </p:sp>
      <p:sp>
        <p:nvSpPr>
          <p:cNvPr id="8" name="Text 6"/>
          <p:cNvSpPr/>
          <p:nvPr/>
        </p:nvSpPr>
        <p:spPr>
          <a:xfrm>
            <a:off x="411480"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Dark Navy</a:t>
            </a:r>
            <a:endParaRPr lang="en-US" sz="1000" dirty="0"/>
          </a:p>
        </p:txBody>
      </p:sp>
      <p:sp>
        <p:nvSpPr>
          <p:cNvPr id="9" name="Text 7"/>
          <p:cNvSpPr/>
          <p:nvPr/>
        </p:nvSpPr>
        <p:spPr>
          <a:xfrm>
            <a:off x="411480"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Sidebar &amp; dark slides</a:t>
            </a:r>
            <a:endParaRPr lang="en-US" sz="850" dirty="0"/>
          </a:p>
        </p:txBody>
      </p:sp>
      <p:sp>
        <p:nvSpPr>
          <p:cNvPr id="10" name="Shape 8"/>
          <p:cNvSpPr/>
          <p:nvPr/>
        </p:nvSpPr>
        <p:spPr>
          <a:xfrm>
            <a:off x="1801368" y="1005840"/>
            <a:ext cx="1234440" cy="685800"/>
          </a:xfrm>
          <a:prstGeom prst="roundRect">
            <a:avLst>
              <a:gd name="adj" fmla="val 10667"/>
            </a:avLst>
          </a:prstGeom>
          <a:solidFill>
            <a:srgbClr val="0D7377"/>
          </a:solidFill>
          <a:ln/>
          <a:effectLst>
            <a:outerShdw blurRad="101600" dist="38100" dir="8100000" algn="bl" rotWithShape="0">
              <a:srgbClr val="000000">
                <a:alpha val="10000"/>
              </a:srgbClr>
            </a:outerShdw>
          </a:effectLst>
        </p:spPr>
        <p:txBody>
          <a:bodyPr/>
          <a:lstStyle/>
          <a:p>
            <a:endParaRPr lang="en-GB"/>
          </a:p>
        </p:txBody>
      </p:sp>
      <p:sp>
        <p:nvSpPr>
          <p:cNvPr id="11" name="Text 9"/>
          <p:cNvSpPr/>
          <p:nvPr/>
        </p:nvSpPr>
        <p:spPr>
          <a:xfrm>
            <a:off x="1801368"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Teal</a:t>
            </a:r>
            <a:endParaRPr lang="en-US" sz="1000" dirty="0"/>
          </a:p>
        </p:txBody>
      </p:sp>
      <p:sp>
        <p:nvSpPr>
          <p:cNvPr id="12" name="Text 10"/>
          <p:cNvSpPr/>
          <p:nvPr/>
        </p:nvSpPr>
        <p:spPr>
          <a:xfrm>
            <a:off x="1801368"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Primary actions &amp; headings</a:t>
            </a:r>
            <a:endParaRPr lang="en-US" sz="850" dirty="0"/>
          </a:p>
        </p:txBody>
      </p:sp>
      <p:sp>
        <p:nvSpPr>
          <p:cNvPr id="13" name="Shape 11"/>
          <p:cNvSpPr/>
          <p:nvPr/>
        </p:nvSpPr>
        <p:spPr>
          <a:xfrm>
            <a:off x="3191256" y="1005840"/>
            <a:ext cx="1234440" cy="685800"/>
          </a:xfrm>
          <a:prstGeom prst="roundRect">
            <a:avLst>
              <a:gd name="adj" fmla="val 10667"/>
            </a:avLst>
          </a:prstGeom>
          <a:solidFill>
            <a:srgbClr val="2DD4BF"/>
          </a:solidFill>
          <a:ln/>
          <a:effectLst>
            <a:outerShdw blurRad="101600" dist="38100" dir="8100000" algn="bl" rotWithShape="0">
              <a:srgbClr val="000000">
                <a:alpha val="10000"/>
              </a:srgbClr>
            </a:outerShdw>
          </a:effectLst>
        </p:spPr>
        <p:txBody>
          <a:bodyPr/>
          <a:lstStyle/>
          <a:p>
            <a:endParaRPr lang="en-GB"/>
          </a:p>
        </p:txBody>
      </p:sp>
      <p:sp>
        <p:nvSpPr>
          <p:cNvPr id="14" name="Text 12"/>
          <p:cNvSpPr/>
          <p:nvPr/>
        </p:nvSpPr>
        <p:spPr>
          <a:xfrm>
            <a:off x="3191256"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Mint</a:t>
            </a:r>
            <a:endParaRPr lang="en-US" sz="1000" dirty="0"/>
          </a:p>
        </p:txBody>
      </p:sp>
      <p:sp>
        <p:nvSpPr>
          <p:cNvPr id="15" name="Text 13"/>
          <p:cNvSpPr/>
          <p:nvPr/>
        </p:nvSpPr>
        <p:spPr>
          <a:xfrm>
            <a:off x="3191256"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Highlights &amp; tags</a:t>
            </a:r>
            <a:endParaRPr lang="en-US" sz="850" dirty="0"/>
          </a:p>
        </p:txBody>
      </p:sp>
      <p:sp>
        <p:nvSpPr>
          <p:cNvPr id="16" name="Shape 14"/>
          <p:cNvSpPr/>
          <p:nvPr/>
        </p:nvSpPr>
        <p:spPr>
          <a:xfrm>
            <a:off x="4581144" y="1005840"/>
            <a:ext cx="1234440" cy="685800"/>
          </a:xfrm>
          <a:prstGeom prst="roundRect">
            <a:avLst>
              <a:gd name="adj" fmla="val 10667"/>
            </a:avLst>
          </a:prstGeom>
          <a:solidFill>
            <a:srgbClr val="10B981"/>
          </a:solidFill>
          <a:ln/>
          <a:effectLst>
            <a:outerShdw blurRad="101600" dist="38100" dir="8100000" algn="bl" rotWithShape="0">
              <a:srgbClr val="000000">
                <a:alpha val="10000"/>
              </a:srgbClr>
            </a:outerShdw>
          </a:effectLst>
        </p:spPr>
        <p:txBody>
          <a:bodyPr/>
          <a:lstStyle/>
          <a:p>
            <a:endParaRPr lang="en-GB"/>
          </a:p>
        </p:txBody>
      </p:sp>
      <p:sp>
        <p:nvSpPr>
          <p:cNvPr id="17" name="Text 15"/>
          <p:cNvSpPr/>
          <p:nvPr/>
        </p:nvSpPr>
        <p:spPr>
          <a:xfrm>
            <a:off x="4581144"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Emerald</a:t>
            </a:r>
            <a:endParaRPr lang="en-US" sz="1000" dirty="0"/>
          </a:p>
        </p:txBody>
      </p:sp>
      <p:sp>
        <p:nvSpPr>
          <p:cNvPr id="18" name="Text 16"/>
          <p:cNvSpPr/>
          <p:nvPr/>
        </p:nvSpPr>
        <p:spPr>
          <a:xfrm>
            <a:off x="4581144"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Success / on-track states</a:t>
            </a:r>
            <a:endParaRPr lang="en-US" sz="850" dirty="0"/>
          </a:p>
        </p:txBody>
      </p:sp>
      <p:sp>
        <p:nvSpPr>
          <p:cNvPr id="19" name="Shape 17"/>
          <p:cNvSpPr/>
          <p:nvPr/>
        </p:nvSpPr>
        <p:spPr>
          <a:xfrm>
            <a:off x="5971032" y="1005840"/>
            <a:ext cx="1234440" cy="685800"/>
          </a:xfrm>
          <a:prstGeom prst="roundRect">
            <a:avLst>
              <a:gd name="adj" fmla="val 10667"/>
            </a:avLst>
          </a:prstGeom>
          <a:solidFill>
            <a:srgbClr val="F59E0B"/>
          </a:solidFill>
          <a:ln/>
          <a:effectLst>
            <a:outerShdw blurRad="101600" dist="38100" dir="8100000" algn="bl" rotWithShape="0">
              <a:srgbClr val="000000">
                <a:alpha val="10000"/>
              </a:srgbClr>
            </a:outerShdw>
          </a:effectLst>
        </p:spPr>
        <p:txBody>
          <a:bodyPr/>
          <a:lstStyle/>
          <a:p>
            <a:endParaRPr lang="en-GB"/>
          </a:p>
        </p:txBody>
      </p:sp>
      <p:sp>
        <p:nvSpPr>
          <p:cNvPr id="20" name="Text 18"/>
          <p:cNvSpPr/>
          <p:nvPr/>
        </p:nvSpPr>
        <p:spPr>
          <a:xfrm>
            <a:off x="5971032"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Amber</a:t>
            </a:r>
            <a:endParaRPr lang="en-US" sz="1000" dirty="0"/>
          </a:p>
        </p:txBody>
      </p:sp>
      <p:sp>
        <p:nvSpPr>
          <p:cNvPr id="21" name="Text 19"/>
          <p:cNvSpPr/>
          <p:nvPr/>
        </p:nvSpPr>
        <p:spPr>
          <a:xfrm>
            <a:off x="5971032"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Warnings / pending states</a:t>
            </a:r>
            <a:endParaRPr lang="en-US" sz="850" dirty="0"/>
          </a:p>
        </p:txBody>
      </p:sp>
      <p:sp>
        <p:nvSpPr>
          <p:cNvPr id="22" name="Shape 20"/>
          <p:cNvSpPr/>
          <p:nvPr/>
        </p:nvSpPr>
        <p:spPr>
          <a:xfrm>
            <a:off x="7360920" y="1005840"/>
            <a:ext cx="1234440" cy="685800"/>
          </a:xfrm>
          <a:prstGeom prst="roundRect">
            <a:avLst>
              <a:gd name="adj" fmla="val 10667"/>
            </a:avLst>
          </a:prstGeom>
          <a:solidFill>
            <a:srgbClr val="EF4444"/>
          </a:solidFill>
          <a:ln/>
          <a:effectLst>
            <a:outerShdw blurRad="101600" dist="38100" dir="8100000" algn="bl" rotWithShape="0">
              <a:srgbClr val="000000">
                <a:alpha val="10000"/>
              </a:srgbClr>
            </a:outerShdw>
          </a:effectLst>
        </p:spPr>
        <p:txBody>
          <a:bodyPr/>
          <a:lstStyle/>
          <a:p>
            <a:endParaRPr lang="en-GB"/>
          </a:p>
        </p:txBody>
      </p:sp>
      <p:sp>
        <p:nvSpPr>
          <p:cNvPr id="23" name="Text 21"/>
          <p:cNvSpPr/>
          <p:nvPr/>
        </p:nvSpPr>
        <p:spPr>
          <a:xfrm>
            <a:off x="7360920" y="1755648"/>
            <a:ext cx="1234440" cy="22860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Red</a:t>
            </a:r>
            <a:endParaRPr lang="en-US" sz="1000" dirty="0"/>
          </a:p>
        </p:txBody>
      </p:sp>
      <p:sp>
        <p:nvSpPr>
          <p:cNvPr id="24" name="Text 22"/>
          <p:cNvSpPr/>
          <p:nvPr/>
        </p:nvSpPr>
        <p:spPr>
          <a:xfrm>
            <a:off x="7360920" y="1984248"/>
            <a:ext cx="1234440" cy="228600"/>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Errors / at-risk flags</a:t>
            </a:r>
            <a:endParaRPr lang="en-US" sz="850" dirty="0"/>
          </a:p>
        </p:txBody>
      </p:sp>
      <p:sp>
        <p:nvSpPr>
          <p:cNvPr id="25" name="Shape 23"/>
          <p:cNvSpPr/>
          <p:nvPr/>
        </p:nvSpPr>
        <p:spPr>
          <a:xfrm>
            <a:off x="411480" y="2377440"/>
            <a:ext cx="2651760" cy="2331720"/>
          </a:xfrm>
          <a:prstGeom prst="roundRect">
            <a:avLst>
              <a:gd name="adj" fmla="val 3922"/>
            </a:avLst>
          </a:prstGeom>
          <a:solidFill>
            <a:srgbClr val="FFFFFF"/>
          </a:solidFill>
          <a:ln/>
          <a:effectLst>
            <a:outerShdw blurRad="101600" dist="38100" dir="8100000" algn="bl" rotWithShape="0">
              <a:srgbClr val="000000">
                <a:alpha val="10000"/>
              </a:srgbClr>
            </a:outerShdw>
          </a:effectLst>
        </p:spPr>
        <p:txBody>
          <a:bodyPr/>
          <a:lstStyle/>
          <a:p>
            <a:endParaRPr lang="en-GB"/>
          </a:p>
        </p:txBody>
      </p:sp>
      <p:pic>
        <p:nvPicPr>
          <p:cNvPr id="26" name="Image 0" descr="preencoded.png"/>
          <p:cNvPicPr>
            <a:picLocks noChangeAspect="1"/>
          </p:cNvPicPr>
          <p:nvPr/>
        </p:nvPicPr>
        <p:blipFill>
          <a:blip r:embed="rId3"/>
          <a:stretch>
            <a:fillRect/>
          </a:stretch>
        </p:blipFill>
        <p:spPr>
          <a:xfrm>
            <a:off x="594360" y="2560320"/>
            <a:ext cx="411480" cy="411480"/>
          </a:xfrm>
          <a:prstGeom prst="rect">
            <a:avLst/>
          </a:prstGeom>
        </p:spPr>
      </p:pic>
      <p:sp>
        <p:nvSpPr>
          <p:cNvPr id="27" name="Text 24"/>
          <p:cNvSpPr/>
          <p:nvPr/>
        </p:nvSpPr>
        <p:spPr>
          <a:xfrm>
            <a:off x="1097280" y="2578608"/>
            <a:ext cx="17830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Role-specific views</a:t>
            </a:r>
            <a:endParaRPr lang="en-US" sz="1300" dirty="0"/>
          </a:p>
        </p:txBody>
      </p:sp>
      <p:sp>
        <p:nvSpPr>
          <p:cNvPr id="28" name="Text 25"/>
          <p:cNvSpPr/>
          <p:nvPr/>
        </p:nvSpPr>
        <p:spPr>
          <a:xfrm>
            <a:off x="594360" y="3017520"/>
            <a:ext cx="233172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Each of 6 roles sees only relevant data</a:t>
            </a:r>
            <a:endParaRPr lang="en-US" sz="1200" dirty="0"/>
          </a:p>
        </p:txBody>
      </p:sp>
      <p:sp>
        <p:nvSpPr>
          <p:cNvPr id="29" name="Shape 26"/>
          <p:cNvSpPr/>
          <p:nvPr/>
        </p:nvSpPr>
        <p:spPr>
          <a:xfrm>
            <a:off x="3291840" y="2377440"/>
            <a:ext cx="2651760" cy="2331720"/>
          </a:xfrm>
          <a:prstGeom prst="roundRect">
            <a:avLst>
              <a:gd name="adj" fmla="val 3922"/>
            </a:avLst>
          </a:prstGeom>
          <a:solidFill>
            <a:srgbClr val="FFFFFF"/>
          </a:solidFill>
          <a:ln/>
          <a:effectLst>
            <a:outerShdw blurRad="101600" dist="38100" dir="8100000" algn="bl" rotWithShape="0">
              <a:srgbClr val="000000">
                <a:alpha val="10000"/>
              </a:srgbClr>
            </a:outerShdw>
          </a:effectLst>
        </p:spPr>
        <p:txBody>
          <a:bodyPr/>
          <a:lstStyle/>
          <a:p>
            <a:endParaRPr lang="en-GB"/>
          </a:p>
        </p:txBody>
      </p:sp>
      <p:pic>
        <p:nvPicPr>
          <p:cNvPr id="30" name="Image 1" descr="preencoded.png"/>
          <p:cNvPicPr>
            <a:picLocks noChangeAspect="1"/>
          </p:cNvPicPr>
          <p:nvPr/>
        </p:nvPicPr>
        <p:blipFill>
          <a:blip r:embed="rId4"/>
          <a:stretch>
            <a:fillRect/>
          </a:stretch>
        </p:blipFill>
        <p:spPr>
          <a:xfrm>
            <a:off x="3474720" y="2560320"/>
            <a:ext cx="411480" cy="411480"/>
          </a:xfrm>
          <a:prstGeom prst="rect">
            <a:avLst/>
          </a:prstGeom>
        </p:spPr>
      </p:pic>
      <p:sp>
        <p:nvSpPr>
          <p:cNvPr id="31" name="Text 27"/>
          <p:cNvSpPr/>
          <p:nvPr/>
        </p:nvSpPr>
        <p:spPr>
          <a:xfrm>
            <a:off x="3977640" y="2578608"/>
            <a:ext cx="17830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Consistent motif</a:t>
            </a:r>
            <a:endParaRPr lang="en-US" sz="1300" dirty="0"/>
          </a:p>
        </p:txBody>
      </p:sp>
      <p:sp>
        <p:nvSpPr>
          <p:cNvPr id="32" name="Text 28"/>
          <p:cNvSpPr/>
          <p:nvPr/>
        </p:nvSpPr>
        <p:spPr>
          <a:xfrm>
            <a:off x="3474720" y="3017520"/>
            <a:ext cx="233172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Card layouts, Tailwind tokens, icon circles</a:t>
            </a:r>
            <a:endParaRPr lang="en-US" sz="1200" dirty="0"/>
          </a:p>
        </p:txBody>
      </p:sp>
      <p:sp>
        <p:nvSpPr>
          <p:cNvPr id="33" name="Shape 29"/>
          <p:cNvSpPr/>
          <p:nvPr/>
        </p:nvSpPr>
        <p:spPr>
          <a:xfrm>
            <a:off x="6172200" y="2377440"/>
            <a:ext cx="2651760" cy="2331720"/>
          </a:xfrm>
          <a:prstGeom prst="roundRect">
            <a:avLst>
              <a:gd name="adj" fmla="val 3922"/>
            </a:avLst>
          </a:prstGeom>
          <a:solidFill>
            <a:srgbClr val="FFFFFF"/>
          </a:solidFill>
          <a:ln/>
          <a:effectLst>
            <a:outerShdw blurRad="101600" dist="38100" dir="8100000" algn="bl" rotWithShape="0">
              <a:srgbClr val="000000">
                <a:alpha val="10000"/>
              </a:srgbClr>
            </a:outerShdw>
          </a:effectLst>
        </p:spPr>
        <p:txBody>
          <a:bodyPr/>
          <a:lstStyle/>
          <a:p>
            <a:endParaRPr lang="en-GB"/>
          </a:p>
        </p:txBody>
      </p:sp>
      <p:pic>
        <p:nvPicPr>
          <p:cNvPr id="34" name="Image 2" descr="preencoded.png"/>
          <p:cNvPicPr>
            <a:picLocks noChangeAspect="1"/>
          </p:cNvPicPr>
          <p:nvPr/>
        </p:nvPicPr>
        <p:blipFill>
          <a:blip r:embed="rId5"/>
          <a:stretch>
            <a:fillRect/>
          </a:stretch>
        </p:blipFill>
        <p:spPr>
          <a:xfrm>
            <a:off x="6355080" y="2560320"/>
            <a:ext cx="411480" cy="411480"/>
          </a:xfrm>
          <a:prstGeom prst="rect">
            <a:avLst/>
          </a:prstGeom>
        </p:spPr>
      </p:pic>
      <p:sp>
        <p:nvSpPr>
          <p:cNvPr id="35" name="Text 30"/>
          <p:cNvSpPr/>
          <p:nvPr/>
        </p:nvSpPr>
        <p:spPr>
          <a:xfrm>
            <a:off x="6858000" y="2578608"/>
            <a:ext cx="17830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Minimal cognitive load</a:t>
            </a:r>
            <a:endParaRPr lang="en-US" sz="1300" dirty="0"/>
          </a:p>
        </p:txBody>
      </p:sp>
      <p:sp>
        <p:nvSpPr>
          <p:cNvPr id="36" name="Text 31"/>
          <p:cNvSpPr/>
          <p:nvPr/>
        </p:nvSpPr>
        <p:spPr>
          <a:xfrm>
            <a:off x="6355080" y="3017520"/>
            <a:ext cx="233172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5-step workflows, inline validation feedback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UI/UX — Layout &amp; Navigation Decisions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UI / UX  2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1005840"/>
            <a:ext cx="1417320" cy="3749040"/>
          </a:xfrm>
          <a:prstGeom prst="roundRect">
            <a:avLst>
              <a:gd name="adj" fmla="val 6452"/>
            </a:avLst>
          </a:prstGeom>
          <a:solidFill>
            <a:srgbClr val="0F172A"/>
          </a:solidFill>
          <a:ln/>
          <a:effectLst>
            <a:outerShdw blurRad="101600" dist="38100" dir="8100000" algn="bl" rotWithShape="0">
              <a:srgbClr val="000000">
                <a:alpha val="10000"/>
              </a:srgbClr>
            </a:outerShdw>
          </a:effectLst>
        </p:spPr>
        <p:txBody>
          <a:bodyPr/>
          <a:lstStyle/>
          <a:p>
            <a:endParaRPr lang="en-GB"/>
          </a:p>
        </p:txBody>
      </p:sp>
      <p:sp>
        <p:nvSpPr>
          <p:cNvPr id="8" name="Text 6"/>
          <p:cNvSpPr/>
          <p:nvPr/>
        </p:nvSpPr>
        <p:spPr>
          <a:xfrm>
            <a:off x="475488" y="1115568"/>
            <a:ext cx="1298448" cy="274320"/>
          </a:xfrm>
          <a:prstGeom prst="rect">
            <a:avLst/>
          </a:prstGeom>
          <a:noFill/>
          <a:ln/>
        </p:spPr>
        <p:txBody>
          <a:bodyPr wrap="square" lIns="0" tIns="0" rIns="0" bIns="0" rtlCol="0" anchor="ctr"/>
          <a:lstStyle/>
          <a:p>
            <a:pPr marL="0" indent="0" algn="ctr">
              <a:buNone/>
            </a:pPr>
            <a:r>
              <a:rPr lang="en-US" sz="1000" b="1" dirty="0">
                <a:solidFill>
                  <a:srgbClr val="2DD4BF"/>
                </a:solidFill>
                <a:latin typeface="Calibri" pitchFamily="34" charset="0"/>
                <a:ea typeface="Calibri" pitchFamily="34" charset="-122"/>
                <a:cs typeface="Calibri" pitchFamily="34" charset="-120"/>
              </a:rPr>
              <a:t>Clarity</a:t>
            </a:r>
            <a:endParaRPr lang="en-US" sz="1000" dirty="0"/>
          </a:p>
        </p:txBody>
      </p:sp>
      <p:sp>
        <p:nvSpPr>
          <p:cNvPr id="9" name="Shape 7"/>
          <p:cNvSpPr/>
          <p:nvPr/>
        </p:nvSpPr>
        <p:spPr>
          <a:xfrm>
            <a:off x="502920" y="1463040"/>
            <a:ext cx="1234440" cy="411480"/>
          </a:xfrm>
          <a:prstGeom prst="roundRect">
            <a:avLst>
              <a:gd name="adj" fmla="val 13333"/>
            </a:avLst>
          </a:prstGeom>
          <a:solidFill>
            <a:srgbClr val="0D7377"/>
          </a:solidFill>
          <a:ln/>
        </p:spPr>
        <p:txBody>
          <a:bodyPr/>
          <a:lstStyle/>
          <a:p>
            <a:endParaRPr lang="en-GB"/>
          </a:p>
        </p:txBody>
      </p:sp>
      <p:sp>
        <p:nvSpPr>
          <p:cNvPr id="10" name="Text 8"/>
          <p:cNvSpPr/>
          <p:nvPr/>
        </p:nvSpPr>
        <p:spPr>
          <a:xfrm>
            <a:off x="502920" y="1463040"/>
            <a:ext cx="1234440" cy="41148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Dashboard</a:t>
            </a:r>
            <a:endParaRPr lang="en-US" sz="950" dirty="0"/>
          </a:p>
        </p:txBody>
      </p:sp>
      <p:sp>
        <p:nvSpPr>
          <p:cNvPr id="11" name="Shape 9"/>
          <p:cNvSpPr/>
          <p:nvPr/>
        </p:nvSpPr>
        <p:spPr>
          <a:xfrm>
            <a:off x="502920" y="1975104"/>
            <a:ext cx="1234440" cy="411480"/>
          </a:xfrm>
          <a:prstGeom prst="roundRect">
            <a:avLst>
              <a:gd name="adj" fmla="val 13333"/>
            </a:avLst>
          </a:prstGeom>
          <a:solidFill>
            <a:srgbClr val="1A2332"/>
          </a:solidFill>
          <a:ln/>
        </p:spPr>
        <p:txBody>
          <a:bodyPr/>
          <a:lstStyle/>
          <a:p>
            <a:endParaRPr lang="en-GB"/>
          </a:p>
        </p:txBody>
      </p:sp>
      <p:sp>
        <p:nvSpPr>
          <p:cNvPr id="12" name="Text 10"/>
          <p:cNvSpPr/>
          <p:nvPr/>
        </p:nvSpPr>
        <p:spPr>
          <a:xfrm>
            <a:off x="502920" y="1975104"/>
            <a:ext cx="123444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Schedule</a:t>
            </a:r>
            <a:endParaRPr lang="en-US" sz="950" dirty="0"/>
          </a:p>
        </p:txBody>
      </p:sp>
      <p:sp>
        <p:nvSpPr>
          <p:cNvPr id="13" name="Shape 11"/>
          <p:cNvSpPr/>
          <p:nvPr/>
        </p:nvSpPr>
        <p:spPr>
          <a:xfrm>
            <a:off x="502920" y="2487168"/>
            <a:ext cx="1234440" cy="411480"/>
          </a:xfrm>
          <a:prstGeom prst="roundRect">
            <a:avLst>
              <a:gd name="adj" fmla="val 13333"/>
            </a:avLst>
          </a:prstGeom>
          <a:solidFill>
            <a:srgbClr val="1A2332"/>
          </a:solidFill>
          <a:ln/>
        </p:spPr>
        <p:txBody>
          <a:bodyPr/>
          <a:lstStyle/>
          <a:p>
            <a:endParaRPr lang="en-GB"/>
          </a:p>
        </p:txBody>
      </p:sp>
      <p:sp>
        <p:nvSpPr>
          <p:cNvPr id="14" name="Text 12"/>
          <p:cNvSpPr/>
          <p:nvPr/>
        </p:nvSpPr>
        <p:spPr>
          <a:xfrm>
            <a:off x="502920" y="2487168"/>
            <a:ext cx="123444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Grades</a:t>
            </a:r>
            <a:endParaRPr lang="en-US" sz="950" dirty="0"/>
          </a:p>
        </p:txBody>
      </p:sp>
      <p:sp>
        <p:nvSpPr>
          <p:cNvPr id="15" name="Shape 13"/>
          <p:cNvSpPr/>
          <p:nvPr/>
        </p:nvSpPr>
        <p:spPr>
          <a:xfrm>
            <a:off x="502920" y="2999232"/>
            <a:ext cx="1234440" cy="411480"/>
          </a:xfrm>
          <a:prstGeom prst="roundRect">
            <a:avLst>
              <a:gd name="adj" fmla="val 13333"/>
            </a:avLst>
          </a:prstGeom>
          <a:solidFill>
            <a:srgbClr val="1A2332"/>
          </a:solidFill>
          <a:ln/>
        </p:spPr>
        <p:txBody>
          <a:bodyPr/>
          <a:lstStyle/>
          <a:p>
            <a:endParaRPr lang="en-GB"/>
          </a:p>
        </p:txBody>
      </p:sp>
      <p:sp>
        <p:nvSpPr>
          <p:cNvPr id="16" name="Text 14"/>
          <p:cNvSpPr/>
          <p:nvPr/>
        </p:nvSpPr>
        <p:spPr>
          <a:xfrm>
            <a:off x="502920" y="2999232"/>
            <a:ext cx="123444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KSB Map</a:t>
            </a:r>
            <a:endParaRPr lang="en-US" sz="950" dirty="0"/>
          </a:p>
        </p:txBody>
      </p:sp>
      <p:sp>
        <p:nvSpPr>
          <p:cNvPr id="17" name="Shape 15"/>
          <p:cNvSpPr/>
          <p:nvPr/>
        </p:nvSpPr>
        <p:spPr>
          <a:xfrm>
            <a:off x="502920" y="3511296"/>
            <a:ext cx="1234440" cy="411480"/>
          </a:xfrm>
          <a:prstGeom prst="roundRect">
            <a:avLst>
              <a:gd name="adj" fmla="val 13333"/>
            </a:avLst>
          </a:prstGeom>
          <a:solidFill>
            <a:srgbClr val="1A2332"/>
          </a:solidFill>
          <a:ln/>
        </p:spPr>
        <p:txBody>
          <a:bodyPr/>
          <a:lstStyle/>
          <a:p>
            <a:endParaRPr lang="en-GB"/>
          </a:p>
        </p:txBody>
      </p:sp>
      <p:sp>
        <p:nvSpPr>
          <p:cNvPr id="18" name="Text 16"/>
          <p:cNvSpPr/>
          <p:nvPr/>
        </p:nvSpPr>
        <p:spPr>
          <a:xfrm>
            <a:off x="502920" y="3511296"/>
            <a:ext cx="123444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19" name="Shape 17"/>
          <p:cNvSpPr/>
          <p:nvPr/>
        </p:nvSpPr>
        <p:spPr>
          <a:xfrm>
            <a:off x="502920" y="4023360"/>
            <a:ext cx="1234440" cy="411480"/>
          </a:xfrm>
          <a:prstGeom prst="roundRect">
            <a:avLst>
              <a:gd name="adj" fmla="val 13333"/>
            </a:avLst>
          </a:prstGeom>
          <a:solidFill>
            <a:srgbClr val="1A2332"/>
          </a:solidFill>
          <a:ln/>
        </p:spPr>
        <p:txBody>
          <a:bodyPr/>
          <a:lstStyle/>
          <a:p>
            <a:endParaRPr lang="en-GB"/>
          </a:p>
        </p:txBody>
      </p:sp>
      <p:sp>
        <p:nvSpPr>
          <p:cNvPr id="20" name="Text 18"/>
          <p:cNvSpPr/>
          <p:nvPr/>
        </p:nvSpPr>
        <p:spPr>
          <a:xfrm>
            <a:off x="502920" y="4023360"/>
            <a:ext cx="123444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Assessments</a:t>
            </a:r>
            <a:endParaRPr lang="en-US" sz="950" dirty="0"/>
          </a:p>
        </p:txBody>
      </p:sp>
      <p:sp>
        <p:nvSpPr>
          <p:cNvPr id="21" name="Shape 19"/>
          <p:cNvSpPr/>
          <p:nvPr/>
        </p:nvSpPr>
        <p:spPr>
          <a:xfrm>
            <a:off x="1965960" y="1005840"/>
            <a:ext cx="6766560" cy="457200"/>
          </a:xfrm>
          <a:prstGeom prst="roundRect">
            <a:avLst>
              <a:gd name="adj" fmla="val 16000"/>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2" name="Text 20"/>
          <p:cNvSpPr/>
          <p:nvPr/>
        </p:nvSpPr>
        <p:spPr>
          <a:xfrm>
            <a:off x="2103120" y="1078992"/>
            <a:ext cx="6400800"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Top bar — Search | Notifications | User avatar</a:t>
            </a:r>
            <a:endParaRPr lang="en-US" sz="900" dirty="0"/>
          </a:p>
        </p:txBody>
      </p:sp>
      <p:sp>
        <p:nvSpPr>
          <p:cNvPr id="23" name="Shape 21"/>
          <p:cNvSpPr/>
          <p:nvPr/>
        </p:nvSpPr>
        <p:spPr>
          <a:xfrm>
            <a:off x="1965960" y="1600200"/>
            <a:ext cx="1536192" cy="685800"/>
          </a:xfrm>
          <a:prstGeom prst="roundRect">
            <a:avLst>
              <a:gd name="adj" fmla="val 13333"/>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4" name="Text 22"/>
          <p:cNvSpPr/>
          <p:nvPr/>
        </p:nvSpPr>
        <p:spPr>
          <a:xfrm>
            <a:off x="2039112" y="1719072"/>
            <a:ext cx="1389888" cy="411480"/>
          </a:xfrm>
          <a:prstGeom prst="rect">
            <a:avLst/>
          </a:prstGeom>
          <a:noFill/>
          <a:ln/>
        </p:spPr>
        <p:txBody>
          <a:bodyPr wrap="square" lIns="0" tIns="0" rIns="0" bIns="0" rtlCol="0" anchor="ctr"/>
          <a:lstStyle/>
          <a:p>
            <a:pPr marL="0" indent="0" algn="ctr">
              <a:buNone/>
            </a:pPr>
            <a:r>
              <a:rPr lang="en-US" sz="1400" b="1" dirty="0">
                <a:solidFill>
                  <a:srgbClr val="0D7377"/>
                </a:solidFill>
                <a:latin typeface="Cambria" pitchFamily="34" charset="0"/>
                <a:ea typeface="Cambria" pitchFamily="34" charset="-122"/>
                <a:cs typeface="Cambria" pitchFamily="34" charset="-120"/>
              </a:rPr>
              <a:t>24 Modules</a:t>
            </a:r>
            <a:endParaRPr lang="en-US" sz="1400" dirty="0"/>
          </a:p>
        </p:txBody>
      </p:sp>
      <p:sp>
        <p:nvSpPr>
          <p:cNvPr id="25" name="Shape 23"/>
          <p:cNvSpPr/>
          <p:nvPr/>
        </p:nvSpPr>
        <p:spPr>
          <a:xfrm>
            <a:off x="3630168" y="1600200"/>
            <a:ext cx="1536192" cy="685800"/>
          </a:xfrm>
          <a:prstGeom prst="roundRect">
            <a:avLst>
              <a:gd name="adj" fmla="val 13333"/>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6" name="Text 24"/>
          <p:cNvSpPr/>
          <p:nvPr/>
        </p:nvSpPr>
        <p:spPr>
          <a:xfrm>
            <a:off x="3703320" y="1719072"/>
            <a:ext cx="1389888" cy="411480"/>
          </a:xfrm>
          <a:prstGeom prst="rect">
            <a:avLst/>
          </a:prstGeom>
          <a:noFill/>
          <a:ln/>
        </p:spPr>
        <p:txBody>
          <a:bodyPr wrap="square" lIns="0" tIns="0" rIns="0" bIns="0" rtlCol="0" anchor="ctr"/>
          <a:lstStyle/>
          <a:p>
            <a:pPr marL="0" indent="0" algn="ctr">
              <a:buNone/>
            </a:pPr>
            <a:r>
              <a:rPr lang="en-US" sz="1400" b="1" dirty="0">
                <a:solidFill>
                  <a:srgbClr val="0D7377"/>
                </a:solidFill>
                <a:latin typeface="Cambria" pitchFamily="34" charset="0"/>
                <a:ea typeface="Cambria" pitchFamily="34" charset="-122"/>
                <a:cs typeface="Cambria" pitchFamily="34" charset="-120"/>
              </a:rPr>
              <a:t>5 At-Risk</a:t>
            </a:r>
            <a:endParaRPr lang="en-US" sz="1400" dirty="0"/>
          </a:p>
        </p:txBody>
      </p:sp>
      <p:sp>
        <p:nvSpPr>
          <p:cNvPr id="27" name="Shape 25"/>
          <p:cNvSpPr/>
          <p:nvPr/>
        </p:nvSpPr>
        <p:spPr>
          <a:xfrm>
            <a:off x="5294376" y="1600200"/>
            <a:ext cx="1536192" cy="685800"/>
          </a:xfrm>
          <a:prstGeom prst="roundRect">
            <a:avLst>
              <a:gd name="adj" fmla="val 13333"/>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8" name="Text 26"/>
          <p:cNvSpPr/>
          <p:nvPr/>
        </p:nvSpPr>
        <p:spPr>
          <a:xfrm>
            <a:off x="5367528" y="1719072"/>
            <a:ext cx="1389888" cy="411480"/>
          </a:xfrm>
          <a:prstGeom prst="rect">
            <a:avLst/>
          </a:prstGeom>
          <a:noFill/>
          <a:ln/>
        </p:spPr>
        <p:txBody>
          <a:bodyPr wrap="square" lIns="0" tIns="0" rIns="0" bIns="0" rtlCol="0" anchor="ctr"/>
          <a:lstStyle/>
          <a:p>
            <a:pPr marL="0" indent="0" algn="ctr">
              <a:buNone/>
            </a:pPr>
            <a:r>
              <a:rPr lang="en-US" sz="1400" b="1" dirty="0">
                <a:solidFill>
                  <a:srgbClr val="0D7377"/>
                </a:solidFill>
                <a:latin typeface="Cambria" pitchFamily="34" charset="0"/>
                <a:ea typeface="Cambria" pitchFamily="34" charset="-122"/>
                <a:cs typeface="Cambria" pitchFamily="34" charset="-120"/>
              </a:rPr>
              <a:t>12 Pending</a:t>
            </a:r>
            <a:endParaRPr lang="en-US" sz="1400" dirty="0"/>
          </a:p>
        </p:txBody>
      </p:sp>
      <p:sp>
        <p:nvSpPr>
          <p:cNvPr id="29" name="Shape 27"/>
          <p:cNvSpPr/>
          <p:nvPr/>
        </p:nvSpPr>
        <p:spPr>
          <a:xfrm>
            <a:off x="6958584" y="1600200"/>
            <a:ext cx="1536192" cy="685800"/>
          </a:xfrm>
          <a:prstGeom prst="roundRect">
            <a:avLst>
              <a:gd name="adj" fmla="val 13333"/>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30" name="Text 28"/>
          <p:cNvSpPr/>
          <p:nvPr/>
        </p:nvSpPr>
        <p:spPr>
          <a:xfrm>
            <a:off x="7031736" y="1719072"/>
            <a:ext cx="1389888" cy="411480"/>
          </a:xfrm>
          <a:prstGeom prst="rect">
            <a:avLst/>
          </a:prstGeom>
          <a:noFill/>
          <a:ln/>
        </p:spPr>
        <p:txBody>
          <a:bodyPr wrap="square" lIns="0" tIns="0" rIns="0" bIns="0" rtlCol="0" anchor="ctr"/>
          <a:lstStyle/>
          <a:p>
            <a:pPr marL="0" indent="0" algn="ctr">
              <a:buNone/>
            </a:pPr>
            <a:r>
              <a:rPr lang="en-US" sz="1400" b="1" dirty="0">
                <a:solidFill>
                  <a:srgbClr val="0D7377"/>
                </a:solidFill>
                <a:latin typeface="Cambria" pitchFamily="34" charset="0"/>
                <a:ea typeface="Cambria" pitchFamily="34" charset="-122"/>
                <a:cs typeface="Cambria" pitchFamily="34" charset="-120"/>
              </a:rPr>
              <a:t>78% KSB</a:t>
            </a:r>
            <a:endParaRPr lang="en-US" sz="1400" dirty="0"/>
          </a:p>
        </p:txBody>
      </p:sp>
      <p:sp>
        <p:nvSpPr>
          <p:cNvPr id="31" name="Shape 29"/>
          <p:cNvSpPr/>
          <p:nvPr/>
        </p:nvSpPr>
        <p:spPr>
          <a:xfrm>
            <a:off x="1965960" y="2377440"/>
            <a:ext cx="4160520" cy="2240280"/>
          </a:xfrm>
          <a:prstGeom prst="roundRect">
            <a:avLst>
              <a:gd name="adj" fmla="val 4082"/>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32" name="Text 30"/>
          <p:cNvSpPr/>
          <p:nvPr/>
        </p:nvSpPr>
        <p:spPr>
          <a:xfrm>
            <a:off x="2103120" y="2514600"/>
            <a:ext cx="3886200" cy="27432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Module Progress Chart</a:t>
            </a:r>
            <a:endParaRPr lang="en-US" sz="1000" dirty="0"/>
          </a:p>
        </p:txBody>
      </p:sp>
      <p:sp>
        <p:nvSpPr>
          <p:cNvPr id="33" name="Shape 31"/>
          <p:cNvSpPr/>
          <p:nvPr/>
        </p:nvSpPr>
        <p:spPr>
          <a:xfrm>
            <a:off x="2194560" y="3511296"/>
            <a:ext cx="347472" cy="877824"/>
          </a:xfrm>
          <a:prstGeom prst="rect">
            <a:avLst/>
          </a:prstGeom>
          <a:solidFill>
            <a:srgbClr val="14A8AD"/>
          </a:solidFill>
          <a:ln/>
        </p:spPr>
        <p:txBody>
          <a:bodyPr/>
          <a:lstStyle/>
          <a:p>
            <a:endParaRPr lang="en-GB"/>
          </a:p>
        </p:txBody>
      </p:sp>
      <p:sp>
        <p:nvSpPr>
          <p:cNvPr id="34" name="Shape 32"/>
          <p:cNvSpPr/>
          <p:nvPr/>
        </p:nvSpPr>
        <p:spPr>
          <a:xfrm>
            <a:off x="2697480" y="3803904"/>
            <a:ext cx="347472" cy="585216"/>
          </a:xfrm>
          <a:prstGeom prst="rect">
            <a:avLst/>
          </a:prstGeom>
          <a:solidFill>
            <a:srgbClr val="14A8AD"/>
          </a:solidFill>
          <a:ln/>
        </p:spPr>
        <p:txBody>
          <a:bodyPr/>
          <a:lstStyle/>
          <a:p>
            <a:endParaRPr lang="en-GB"/>
          </a:p>
        </p:txBody>
      </p:sp>
      <p:sp>
        <p:nvSpPr>
          <p:cNvPr id="35" name="Shape 33"/>
          <p:cNvSpPr/>
          <p:nvPr/>
        </p:nvSpPr>
        <p:spPr>
          <a:xfrm>
            <a:off x="3200400" y="3145536"/>
            <a:ext cx="347472" cy="1243584"/>
          </a:xfrm>
          <a:prstGeom prst="rect">
            <a:avLst/>
          </a:prstGeom>
          <a:solidFill>
            <a:srgbClr val="14A8AD"/>
          </a:solidFill>
          <a:ln/>
        </p:spPr>
        <p:txBody>
          <a:bodyPr/>
          <a:lstStyle/>
          <a:p>
            <a:endParaRPr lang="en-GB"/>
          </a:p>
        </p:txBody>
      </p:sp>
      <p:sp>
        <p:nvSpPr>
          <p:cNvPr id="36" name="Shape 34"/>
          <p:cNvSpPr/>
          <p:nvPr/>
        </p:nvSpPr>
        <p:spPr>
          <a:xfrm>
            <a:off x="3703320" y="3584448"/>
            <a:ext cx="347472" cy="804672"/>
          </a:xfrm>
          <a:prstGeom prst="rect">
            <a:avLst/>
          </a:prstGeom>
          <a:solidFill>
            <a:srgbClr val="14A8AD"/>
          </a:solidFill>
          <a:ln/>
        </p:spPr>
        <p:txBody>
          <a:bodyPr/>
          <a:lstStyle/>
          <a:p>
            <a:endParaRPr lang="en-GB"/>
          </a:p>
        </p:txBody>
      </p:sp>
      <p:sp>
        <p:nvSpPr>
          <p:cNvPr id="37" name="Shape 35"/>
          <p:cNvSpPr/>
          <p:nvPr/>
        </p:nvSpPr>
        <p:spPr>
          <a:xfrm>
            <a:off x="4206240" y="3072384"/>
            <a:ext cx="347472" cy="1316736"/>
          </a:xfrm>
          <a:prstGeom prst="rect">
            <a:avLst/>
          </a:prstGeom>
          <a:solidFill>
            <a:srgbClr val="14A8AD"/>
          </a:solidFill>
          <a:ln/>
        </p:spPr>
        <p:txBody>
          <a:bodyPr/>
          <a:lstStyle/>
          <a:p>
            <a:endParaRPr lang="en-GB"/>
          </a:p>
        </p:txBody>
      </p:sp>
      <p:sp>
        <p:nvSpPr>
          <p:cNvPr id="38" name="Shape 36"/>
          <p:cNvSpPr/>
          <p:nvPr/>
        </p:nvSpPr>
        <p:spPr>
          <a:xfrm>
            <a:off x="4709160" y="3877056"/>
            <a:ext cx="347472" cy="512064"/>
          </a:xfrm>
          <a:prstGeom prst="rect">
            <a:avLst/>
          </a:prstGeom>
          <a:solidFill>
            <a:srgbClr val="F59E0B"/>
          </a:solidFill>
          <a:ln/>
        </p:spPr>
        <p:txBody>
          <a:bodyPr/>
          <a:lstStyle/>
          <a:p>
            <a:endParaRPr lang="en-GB"/>
          </a:p>
        </p:txBody>
      </p:sp>
      <p:sp>
        <p:nvSpPr>
          <p:cNvPr id="39" name="Shape 37"/>
          <p:cNvSpPr/>
          <p:nvPr/>
        </p:nvSpPr>
        <p:spPr>
          <a:xfrm>
            <a:off x="5212080" y="3364992"/>
            <a:ext cx="347472" cy="1024128"/>
          </a:xfrm>
          <a:prstGeom prst="rect">
            <a:avLst/>
          </a:prstGeom>
          <a:solidFill>
            <a:srgbClr val="14A8AD"/>
          </a:solidFill>
          <a:ln/>
        </p:spPr>
        <p:txBody>
          <a:bodyPr/>
          <a:lstStyle/>
          <a:p>
            <a:endParaRPr lang="en-GB"/>
          </a:p>
        </p:txBody>
      </p:sp>
      <p:sp>
        <p:nvSpPr>
          <p:cNvPr id="40" name="Shape 38"/>
          <p:cNvSpPr/>
          <p:nvPr/>
        </p:nvSpPr>
        <p:spPr>
          <a:xfrm>
            <a:off x="6263640" y="2377440"/>
            <a:ext cx="2468880" cy="2240280"/>
          </a:xfrm>
          <a:prstGeom prst="roundRect">
            <a:avLst>
              <a:gd name="adj" fmla="val 4082"/>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41" name="Text 39"/>
          <p:cNvSpPr/>
          <p:nvPr/>
        </p:nvSpPr>
        <p:spPr>
          <a:xfrm>
            <a:off x="6400800" y="2514600"/>
            <a:ext cx="2194560" cy="27432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Recent Activity</a:t>
            </a:r>
            <a:endParaRPr lang="en-US" sz="1000" dirty="0"/>
          </a:p>
        </p:txBody>
      </p:sp>
      <p:sp>
        <p:nvSpPr>
          <p:cNvPr id="42" name="Shape 40"/>
          <p:cNvSpPr/>
          <p:nvPr/>
        </p:nvSpPr>
        <p:spPr>
          <a:xfrm>
            <a:off x="6400800" y="2907792"/>
            <a:ext cx="45720" cy="201168"/>
          </a:xfrm>
          <a:prstGeom prst="rect">
            <a:avLst/>
          </a:prstGeom>
          <a:solidFill>
            <a:srgbClr val="2DD4BF"/>
          </a:solidFill>
          <a:ln/>
        </p:spPr>
        <p:txBody>
          <a:bodyPr/>
          <a:lstStyle/>
          <a:p>
            <a:endParaRPr lang="en-GB"/>
          </a:p>
        </p:txBody>
      </p:sp>
      <p:sp>
        <p:nvSpPr>
          <p:cNvPr id="43" name="Text 41"/>
          <p:cNvSpPr/>
          <p:nvPr/>
        </p:nvSpPr>
        <p:spPr>
          <a:xfrm>
            <a:off x="6510528" y="2907792"/>
            <a:ext cx="20116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Grade file uploaded</a:t>
            </a:r>
            <a:endParaRPr lang="en-US" sz="900" dirty="0"/>
          </a:p>
        </p:txBody>
      </p:sp>
      <p:sp>
        <p:nvSpPr>
          <p:cNvPr id="44" name="Shape 42"/>
          <p:cNvSpPr/>
          <p:nvPr/>
        </p:nvSpPr>
        <p:spPr>
          <a:xfrm>
            <a:off x="6400800" y="3236976"/>
            <a:ext cx="45720" cy="201168"/>
          </a:xfrm>
          <a:prstGeom prst="rect">
            <a:avLst/>
          </a:prstGeom>
          <a:solidFill>
            <a:srgbClr val="2DD4BF"/>
          </a:solidFill>
          <a:ln/>
        </p:spPr>
        <p:txBody>
          <a:bodyPr/>
          <a:lstStyle/>
          <a:p>
            <a:endParaRPr lang="en-GB"/>
          </a:p>
        </p:txBody>
      </p:sp>
      <p:sp>
        <p:nvSpPr>
          <p:cNvPr id="45" name="Text 43"/>
          <p:cNvSpPr/>
          <p:nvPr/>
        </p:nvSpPr>
        <p:spPr>
          <a:xfrm>
            <a:off x="6510528" y="3236976"/>
            <a:ext cx="20116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Schedule generated</a:t>
            </a:r>
            <a:endParaRPr lang="en-US" sz="900" dirty="0"/>
          </a:p>
        </p:txBody>
      </p:sp>
      <p:sp>
        <p:nvSpPr>
          <p:cNvPr id="46" name="Shape 44"/>
          <p:cNvSpPr/>
          <p:nvPr/>
        </p:nvSpPr>
        <p:spPr>
          <a:xfrm>
            <a:off x="6400800" y="3566160"/>
            <a:ext cx="45720" cy="201168"/>
          </a:xfrm>
          <a:prstGeom prst="rect">
            <a:avLst/>
          </a:prstGeom>
          <a:solidFill>
            <a:srgbClr val="2DD4BF"/>
          </a:solidFill>
          <a:ln/>
        </p:spPr>
        <p:txBody>
          <a:bodyPr/>
          <a:lstStyle/>
          <a:p>
            <a:endParaRPr lang="en-GB"/>
          </a:p>
        </p:txBody>
      </p:sp>
      <p:sp>
        <p:nvSpPr>
          <p:cNvPr id="47" name="Text 45"/>
          <p:cNvSpPr/>
          <p:nvPr/>
        </p:nvSpPr>
        <p:spPr>
          <a:xfrm>
            <a:off x="6510528" y="3566160"/>
            <a:ext cx="20116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KSB updated</a:t>
            </a:r>
            <a:endParaRPr lang="en-US" sz="900" dirty="0"/>
          </a:p>
        </p:txBody>
      </p:sp>
      <p:sp>
        <p:nvSpPr>
          <p:cNvPr id="48" name="Shape 46"/>
          <p:cNvSpPr/>
          <p:nvPr/>
        </p:nvSpPr>
        <p:spPr>
          <a:xfrm>
            <a:off x="6400800" y="3895344"/>
            <a:ext cx="45720" cy="201168"/>
          </a:xfrm>
          <a:prstGeom prst="rect">
            <a:avLst/>
          </a:prstGeom>
          <a:solidFill>
            <a:srgbClr val="2DD4BF"/>
          </a:solidFill>
          <a:ln/>
        </p:spPr>
        <p:txBody>
          <a:bodyPr/>
          <a:lstStyle/>
          <a:p>
            <a:endParaRPr lang="en-GB"/>
          </a:p>
        </p:txBody>
      </p:sp>
      <p:sp>
        <p:nvSpPr>
          <p:cNvPr id="49" name="Text 47"/>
          <p:cNvSpPr/>
          <p:nvPr/>
        </p:nvSpPr>
        <p:spPr>
          <a:xfrm>
            <a:off x="6510528" y="3895344"/>
            <a:ext cx="20116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Mentor feedback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UI/UX — Usability Evaluation Results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UI / UX  3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1005840"/>
            <a:ext cx="2926080" cy="3703320"/>
          </a:xfrm>
          <a:prstGeom prst="roundRect">
            <a:avLst>
              <a:gd name="adj" fmla="val 3125"/>
            </a:avLst>
          </a:prstGeom>
          <a:solidFill>
            <a:srgbClr val="0F172A"/>
          </a:solidFill>
          <a:ln/>
          <a:effectLst>
            <a:outerShdw blurRad="101600" dist="38100" dir="8100000" algn="bl" rotWithShape="0">
              <a:srgbClr val="000000">
                <a:alpha val="10000"/>
              </a:srgbClr>
            </a:outerShdw>
          </a:effectLst>
        </p:spPr>
        <p:txBody>
          <a:bodyPr/>
          <a:lstStyle/>
          <a:p>
            <a:endParaRPr lang="en-GB"/>
          </a:p>
        </p:txBody>
      </p:sp>
      <p:sp>
        <p:nvSpPr>
          <p:cNvPr id="8" name="Text 6"/>
          <p:cNvSpPr/>
          <p:nvPr/>
        </p:nvSpPr>
        <p:spPr>
          <a:xfrm>
            <a:off x="502920" y="1417320"/>
            <a:ext cx="2743200" cy="1188720"/>
          </a:xfrm>
          <a:prstGeom prst="rect">
            <a:avLst/>
          </a:prstGeom>
          <a:noFill/>
          <a:ln/>
        </p:spPr>
        <p:txBody>
          <a:bodyPr wrap="square" lIns="0" tIns="0" rIns="0" bIns="0" rtlCol="0" anchor="ctr"/>
          <a:lstStyle/>
          <a:p>
            <a:pPr marL="0" indent="0" algn="ctr">
              <a:buNone/>
            </a:pPr>
            <a:r>
              <a:rPr lang="en-US" sz="7200" b="1" dirty="0">
                <a:solidFill>
                  <a:srgbClr val="2DD4BF"/>
                </a:solidFill>
                <a:latin typeface="Cambria" pitchFamily="34" charset="0"/>
                <a:ea typeface="Cambria" pitchFamily="34" charset="-122"/>
                <a:cs typeface="Cambria" pitchFamily="34" charset="-120"/>
              </a:rPr>
              <a:t>94%</a:t>
            </a:r>
            <a:endParaRPr lang="en-US" sz="7200" dirty="0"/>
          </a:p>
        </p:txBody>
      </p:sp>
      <p:sp>
        <p:nvSpPr>
          <p:cNvPr id="9" name="Text 7"/>
          <p:cNvSpPr/>
          <p:nvPr/>
        </p:nvSpPr>
        <p:spPr>
          <a:xfrm>
            <a:off x="502920" y="2651760"/>
            <a:ext cx="2743200" cy="32004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Overall Usability Score</a:t>
            </a:r>
            <a:endParaRPr lang="en-US" sz="1400" dirty="0"/>
          </a:p>
        </p:txBody>
      </p:sp>
      <p:sp>
        <p:nvSpPr>
          <p:cNvPr id="10" name="Text 8"/>
          <p:cNvSpPr/>
          <p:nvPr/>
        </p:nvSpPr>
        <p:spPr>
          <a:xfrm>
            <a:off x="502920" y="3017520"/>
            <a:ext cx="274320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Nielsen's 10 Heuristics</a:t>
            </a:r>
            <a:endParaRPr lang="en-US" sz="1100" dirty="0"/>
          </a:p>
        </p:txBody>
      </p:sp>
      <p:sp>
        <p:nvSpPr>
          <p:cNvPr id="11" name="Text 9"/>
          <p:cNvSpPr/>
          <p:nvPr/>
        </p:nvSpPr>
        <p:spPr>
          <a:xfrm>
            <a:off x="594360" y="3429000"/>
            <a:ext cx="2560320" cy="25603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WCAG 2.2 Accessible</a:t>
            </a:r>
            <a:endParaRPr lang="en-US" sz="1100" dirty="0"/>
          </a:p>
        </p:txBody>
      </p:sp>
      <p:sp>
        <p:nvSpPr>
          <p:cNvPr id="12" name="Shape 10"/>
          <p:cNvSpPr/>
          <p:nvPr/>
        </p:nvSpPr>
        <p:spPr>
          <a:xfrm>
            <a:off x="3520440" y="1005840"/>
            <a:ext cx="5212080" cy="621792"/>
          </a:xfrm>
          <a:prstGeom prst="roundRect">
            <a:avLst>
              <a:gd name="adj" fmla="val 14706"/>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3" name="Text 11"/>
          <p:cNvSpPr/>
          <p:nvPr/>
        </p:nvSpPr>
        <p:spPr>
          <a:xfrm>
            <a:off x="3657600" y="1133856"/>
            <a:ext cx="3474720" cy="27432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Ease of Navigation</a:t>
            </a:r>
            <a:endParaRPr lang="en-US" sz="1300" dirty="0"/>
          </a:p>
        </p:txBody>
      </p:sp>
      <p:sp>
        <p:nvSpPr>
          <p:cNvPr id="14" name="Shape 12"/>
          <p:cNvSpPr/>
          <p:nvPr/>
        </p:nvSpPr>
        <p:spPr>
          <a:xfrm>
            <a:off x="7269480" y="1188720"/>
            <a:ext cx="1325880" cy="201168"/>
          </a:xfrm>
          <a:prstGeom prst="roundRect">
            <a:avLst>
              <a:gd name="adj" fmla="val 22727"/>
            </a:avLst>
          </a:prstGeom>
          <a:solidFill>
            <a:srgbClr val="E2E8F0"/>
          </a:solidFill>
          <a:ln/>
        </p:spPr>
        <p:txBody>
          <a:bodyPr/>
          <a:lstStyle/>
          <a:p>
            <a:endParaRPr lang="en-GB"/>
          </a:p>
        </p:txBody>
      </p:sp>
      <p:sp>
        <p:nvSpPr>
          <p:cNvPr id="15" name="Shape 13"/>
          <p:cNvSpPr/>
          <p:nvPr/>
        </p:nvSpPr>
        <p:spPr>
          <a:xfrm>
            <a:off x="7269480" y="1188720"/>
            <a:ext cx="1193292" cy="201168"/>
          </a:xfrm>
          <a:prstGeom prst="roundRect">
            <a:avLst>
              <a:gd name="adj" fmla="val 22727"/>
            </a:avLst>
          </a:prstGeom>
          <a:solidFill>
            <a:srgbClr val="0D7377"/>
          </a:solidFill>
          <a:ln/>
        </p:spPr>
        <p:txBody>
          <a:bodyPr/>
          <a:lstStyle/>
          <a:p>
            <a:endParaRPr lang="en-GB"/>
          </a:p>
        </p:txBody>
      </p:sp>
      <p:sp>
        <p:nvSpPr>
          <p:cNvPr id="16" name="Text 14"/>
          <p:cNvSpPr/>
          <p:nvPr/>
        </p:nvSpPr>
        <p:spPr>
          <a:xfrm>
            <a:off x="7818120" y="1152144"/>
            <a:ext cx="777240" cy="27432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90%</a:t>
            </a:r>
            <a:endParaRPr lang="en-US" sz="1100" dirty="0"/>
          </a:p>
        </p:txBody>
      </p:sp>
      <p:sp>
        <p:nvSpPr>
          <p:cNvPr id="17" name="Shape 15"/>
          <p:cNvSpPr/>
          <p:nvPr/>
        </p:nvSpPr>
        <p:spPr>
          <a:xfrm>
            <a:off x="3520440" y="1737360"/>
            <a:ext cx="5212080" cy="621792"/>
          </a:xfrm>
          <a:prstGeom prst="roundRect">
            <a:avLst>
              <a:gd name="adj" fmla="val 14706"/>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8" name="Text 16"/>
          <p:cNvSpPr/>
          <p:nvPr/>
        </p:nvSpPr>
        <p:spPr>
          <a:xfrm>
            <a:off x="3657600" y="1865376"/>
            <a:ext cx="3474720" cy="27432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Accessibility Features</a:t>
            </a:r>
            <a:endParaRPr lang="en-US" sz="1300" dirty="0"/>
          </a:p>
        </p:txBody>
      </p:sp>
      <p:sp>
        <p:nvSpPr>
          <p:cNvPr id="19" name="Shape 17"/>
          <p:cNvSpPr/>
          <p:nvPr/>
        </p:nvSpPr>
        <p:spPr>
          <a:xfrm>
            <a:off x="7269480" y="1920240"/>
            <a:ext cx="1325880" cy="201168"/>
          </a:xfrm>
          <a:prstGeom prst="roundRect">
            <a:avLst>
              <a:gd name="adj" fmla="val 22727"/>
            </a:avLst>
          </a:prstGeom>
          <a:solidFill>
            <a:srgbClr val="E2E8F0"/>
          </a:solidFill>
          <a:ln/>
        </p:spPr>
        <p:txBody>
          <a:bodyPr/>
          <a:lstStyle/>
          <a:p>
            <a:endParaRPr lang="en-GB"/>
          </a:p>
        </p:txBody>
      </p:sp>
      <p:sp>
        <p:nvSpPr>
          <p:cNvPr id="20" name="Shape 18"/>
          <p:cNvSpPr/>
          <p:nvPr/>
        </p:nvSpPr>
        <p:spPr>
          <a:xfrm>
            <a:off x="7269480" y="1920240"/>
            <a:ext cx="1193292" cy="201168"/>
          </a:xfrm>
          <a:prstGeom prst="roundRect">
            <a:avLst>
              <a:gd name="adj" fmla="val 22727"/>
            </a:avLst>
          </a:prstGeom>
          <a:solidFill>
            <a:srgbClr val="0D7377"/>
          </a:solidFill>
          <a:ln/>
        </p:spPr>
        <p:txBody>
          <a:bodyPr/>
          <a:lstStyle/>
          <a:p>
            <a:endParaRPr lang="en-GB"/>
          </a:p>
        </p:txBody>
      </p:sp>
      <p:sp>
        <p:nvSpPr>
          <p:cNvPr id="21" name="Text 19"/>
          <p:cNvSpPr/>
          <p:nvPr/>
        </p:nvSpPr>
        <p:spPr>
          <a:xfrm>
            <a:off x="7818120" y="1883664"/>
            <a:ext cx="777240" cy="27432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90%</a:t>
            </a:r>
            <a:endParaRPr lang="en-US" sz="1100" dirty="0"/>
          </a:p>
        </p:txBody>
      </p:sp>
      <p:sp>
        <p:nvSpPr>
          <p:cNvPr id="22" name="Shape 20"/>
          <p:cNvSpPr/>
          <p:nvPr/>
        </p:nvSpPr>
        <p:spPr>
          <a:xfrm>
            <a:off x="3520440" y="2468880"/>
            <a:ext cx="5212080" cy="621792"/>
          </a:xfrm>
          <a:prstGeom prst="roundRect">
            <a:avLst>
              <a:gd name="adj" fmla="val 14706"/>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3" name="Text 21"/>
          <p:cNvSpPr/>
          <p:nvPr/>
        </p:nvSpPr>
        <p:spPr>
          <a:xfrm>
            <a:off x="3657600" y="2596896"/>
            <a:ext cx="3474720" cy="27432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Workflow Simplicity</a:t>
            </a:r>
            <a:endParaRPr lang="en-US" sz="1300" dirty="0"/>
          </a:p>
        </p:txBody>
      </p:sp>
      <p:sp>
        <p:nvSpPr>
          <p:cNvPr id="24" name="Shape 22"/>
          <p:cNvSpPr/>
          <p:nvPr/>
        </p:nvSpPr>
        <p:spPr>
          <a:xfrm>
            <a:off x="7269480" y="2651760"/>
            <a:ext cx="1325880" cy="201168"/>
          </a:xfrm>
          <a:prstGeom prst="roundRect">
            <a:avLst>
              <a:gd name="adj" fmla="val 22727"/>
            </a:avLst>
          </a:prstGeom>
          <a:solidFill>
            <a:srgbClr val="E2E8F0"/>
          </a:solidFill>
          <a:ln/>
        </p:spPr>
        <p:txBody>
          <a:bodyPr/>
          <a:lstStyle/>
          <a:p>
            <a:endParaRPr lang="en-GB"/>
          </a:p>
        </p:txBody>
      </p:sp>
      <p:sp>
        <p:nvSpPr>
          <p:cNvPr id="25" name="Shape 23"/>
          <p:cNvSpPr/>
          <p:nvPr/>
        </p:nvSpPr>
        <p:spPr>
          <a:xfrm>
            <a:off x="7269480" y="2651760"/>
            <a:ext cx="1325880" cy="201168"/>
          </a:xfrm>
          <a:prstGeom prst="roundRect">
            <a:avLst>
              <a:gd name="adj" fmla="val 22727"/>
            </a:avLst>
          </a:prstGeom>
          <a:solidFill>
            <a:srgbClr val="10B981"/>
          </a:solidFill>
          <a:ln/>
        </p:spPr>
        <p:txBody>
          <a:bodyPr/>
          <a:lstStyle/>
          <a:p>
            <a:endParaRPr lang="en-GB"/>
          </a:p>
        </p:txBody>
      </p:sp>
      <p:sp>
        <p:nvSpPr>
          <p:cNvPr id="26" name="Text 24"/>
          <p:cNvSpPr/>
          <p:nvPr/>
        </p:nvSpPr>
        <p:spPr>
          <a:xfrm>
            <a:off x="7818120" y="2615184"/>
            <a:ext cx="777240" cy="27432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100%</a:t>
            </a:r>
            <a:endParaRPr lang="en-US" sz="1100" dirty="0"/>
          </a:p>
        </p:txBody>
      </p:sp>
      <p:sp>
        <p:nvSpPr>
          <p:cNvPr id="27" name="Shape 25"/>
          <p:cNvSpPr/>
          <p:nvPr/>
        </p:nvSpPr>
        <p:spPr>
          <a:xfrm>
            <a:off x="3520440" y="3200400"/>
            <a:ext cx="5212080" cy="621792"/>
          </a:xfrm>
          <a:prstGeom prst="roundRect">
            <a:avLst>
              <a:gd name="adj" fmla="val 14706"/>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8" name="Text 26"/>
          <p:cNvSpPr/>
          <p:nvPr/>
        </p:nvSpPr>
        <p:spPr>
          <a:xfrm>
            <a:off x="3657600" y="3328416"/>
            <a:ext cx="3474720" cy="27432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Validation Visibility</a:t>
            </a:r>
            <a:endParaRPr lang="en-US" sz="1300" dirty="0"/>
          </a:p>
        </p:txBody>
      </p:sp>
      <p:sp>
        <p:nvSpPr>
          <p:cNvPr id="29" name="Shape 27"/>
          <p:cNvSpPr/>
          <p:nvPr/>
        </p:nvSpPr>
        <p:spPr>
          <a:xfrm>
            <a:off x="7269480" y="3383280"/>
            <a:ext cx="1325880" cy="201168"/>
          </a:xfrm>
          <a:prstGeom prst="roundRect">
            <a:avLst>
              <a:gd name="adj" fmla="val 22727"/>
            </a:avLst>
          </a:prstGeom>
          <a:solidFill>
            <a:srgbClr val="E2E8F0"/>
          </a:solidFill>
          <a:ln/>
        </p:spPr>
        <p:txBody>
          <a:bodyPr/>
          <a:lstStyle/>
          <a:p>
            <a:endParaRPr lang="en-GB"/>
          </a:p>
        </p:txBody>
      </p:sp>
      <p:sp>
        <p:nvSpPr>
          <p:cNvPr id="30" name="Shape 28"/>
          <p:cNvSpPr/>
          <p:nvPr/>
        </p:nvSpPr>
        <p:spPr>
          <a:xfrm>
            <a:off x="7269480" y="3383280"/>
            <a:ext cx="1193292" cy="201168"/>
          </a:xfrm>
          <a:prstGeom prst="roundRect">
            <a:avLst>
              <a:gd name="adj" fmla="val 22727"/>
            </a:avLst>
          </a:prstGeom>
          <a:solidFill>
            <a:srgbClr val="0D7377"/>
          </a:solidFill>
          <a:ln/>
        </p:spPr>
        <p:txBody>
          <a:bodyPr/>
          <a:lstStyle/>
          <a:p>
            <a:endParaRPr lang="en-GB"/>
          </a:p>
        </p:txBody>
      </p:sp>
      <p:sp>
        <p:nvSpPr>
          <p:cNvPr id="31" name="Text 29"/>
          <p:cNvSpPr/>
          <p:nvPr/>
        </p:nvSpPr>
        <p:spPr>
          <a:xfrm>
            <a:off x="7818120" y="3346704"/>
            <a:ext cx="777240" cy="27432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90%</a:t>
            </a:r>
            <a:endParaRPr lang="en-US" sz="1100" dirty="0"/>
          </a:p>
        </p:txBody>
      </p:sp>
      <p:sp>
        <p:nvSpPr>
          <p:cNvPr id="32" name="Shape 30"/>
          <p:cNvSpPr/>
          <p:nvPr/>
        </p:nvSpPr>
        <p:spPr>
          <a:xfrm>
            <a:off x="3520440" y="3931920"/>
            <a:ext cx="5212080" cy="621792"/>
          </a:xfrm>
          <a:prstGeom prst="roundRect">
            <a:avLst>
              <a:gd name="adj" fmla="val 14706"/>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33" name="Text 31"/>
          <p:cNvSpPr/>
          <p:nvPr/>
        </p:nvSpPr>
        <p:spPr>
          <a:xfrm>
            <a:off x="3657600" y="4059936"/>
            <a:ext cx="3474720" cy="27432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Interface Consistency</a:t>
            </a:r>
            <a:endParaRPr lang="en-US" sz="1300" dirty="0"/>
          </a:p>
        </p:txBody>
      </p:sp>
      <p:sp>
        <p:nvSpPr>
          <p:cNvPr id="34" name="Shape 32"/>
          <p:cNvSpPr/>
          <p:nvPr/>
        </p:nvSpPr>
        <p:spPr>
          <a:xfrm>
            <a:off x="7269480" y="4114800"/>
            <a:ext cx="1325880" cy="201168"/>
          </a:xfrm>
          <a:prstGeom prst="roundRect">
            <a:avLst>
              <a:gd name="adj" fmla="val 22727"/>
            </a:avLst>
          </a:prstGeom>
          <a:solidFill>
            <a:srgbClr val="E2E8F0"/>
          </a:solidFill>
          <a:ln/>
        </p:spPr>
        <p:txBody>
          <a:bodyPr/>
          <a:lstStyle/>
          <a:p>
            <a:endParaRPr lang="en-GB"/>
          </a:p>
        </p:txBody>
      </p:sp>
      <p:sp>
        <p:nvSpPr>
          <p:cNvPr id="35" name="Shape 33"/>
          <p:cNvSpPr/>
          <p:nvPr/>
        </p:nvSpPr>
        <p:spPr>
          <a:xfrm>
            <a:off x="7269480" y="4114800"/>
            <a:ext cx="1325880" cy="201168"/>
          </a:xfrm>
          <a:prstGeom prst="roundRect">
            <a:avLst>
              <a:gd name="adj" fmla="val 22727"/>
            </a:avLst>
          </a:prstGeom>
          <a:solidFill>
            <a:srgbClr val="10B981"/>
          </a:solidFill>
          <a:ln/>
        </p:spPr>
        <p:txBody>
          <a:bodyPr/>
          <a:lstStyle/>
          <a:p>
            <a:endParaRPr lang="en-GB"/>
          </a:p>
        </p:txBody>
      </p:sp>
      <p:sp>
        <p:nvSpPr>
          <p:cNvPr id="36" name="Text 34"/>
          <p:cNvSpPr/>
          <p:nvPr/>
        </p:nvSpPr>
        <p:spPr>
          <a:xfrm>
            <a:off x="7818120" y="4078224"/>
            <a:ext cx="777240" cy="274320"/>
          </a:xfrm>
          <a:prstGeom prst="rect">
            <a:avLst/>
          </a:prstGeom>
          <a:noFill/>
          <a:ln/>
        </p:spPr>
        <p:txBody>
          <a:bodyPr wrap="square" lIns="0" tIns="0" rIns="0" bIns="0" rtlCol="0" anchor="ctr"/>
          <a:lstStyle/>
          <a:p>
            <a:pPr marL="0" indent="0" algn="r">
              <a:buNone/>
            </a:pPr>
            <a:r>
              <a:rPr lang="en-US" sz="1100" b="1" dirty="0">
                <a:solidFill>
                  <a:srgbClr val="0F172A"/>
                </a:solidFill>
                <a:latin typeface="Calibri" pitchFamily="34" charset="0"/>
                <a:ea typeface="Calibri" pitchFamily="34" charset="-122"/>
                <a:cs typeface="Calibri" pitchFamily="34" charset="-120"/>
              </a:rPr>
              <a:t>100%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Frontend — What Was Built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F172A"/>
                </a:solidFill>
                <a:effectLst/>
                <a:uLnTx/>
                <a:uFillTx/>
                <a:latin typeface="Calibri" pitchFamily="34" charset="0"/>
                <a:ea typeface="Calibri" pitchFamily="34" charset="-122"/>
                <a:cs typeface="Calibri" pitchFamily="34" charset="-120"/>
              </a:rPr>
              <a:t>FRONTEND  1 OF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11480" y="98755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94360" y="118872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57454" y="1251814"/>
            <a:ext cx="294437" cy="294437"/>
          </a:xfrm>
          <a:prstGeom prst="rect">
            <a:avLst/>
          </a:prstGeom>
        </p:spPr>
      </p:pic>
      <p:sp>
        <p:nvSpPr>
          <p:cNvPr id="9" name="Text 6"/>
          <p:cNvSpPr/>
          <p:nvPr/>
        </p:nvSpPr>
        <p:spPr>
          <a:xfrm>
            <a:off x="1161288" y="118872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Academic Staff</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1161288" y="153619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Modules · Schedule · Grades · KSB Map · Assessments · Evidence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319272" y="98755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3502152" y="118872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3565246" y="1251814"/>
            <a:ext cx="294437" cy="294437"/>
          </a:xfrm>
          <a:prstGeom prst="rect">
            <a:avLst/>
          </a:prstGeom>
        </p:spPr>
      </p:pic>
      <p:sp>
        <p:nvSpPr>
          <p:cNvPr id="14" name="Text 10"/>
          <p:cNvSpPr/>
          <p:nvPr/>
        </p:nvSpPr>
        <p:spPr>
          <a:xfrm>
            <a:off x="4069080" y="118872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Programme Leader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4069080" y="153619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Analytics · Quality · Staff Mgmt · Resources · Reports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227064" y="98755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409944" y="118872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6473038" y="1251814"/>
            <a:ext cx="294437" cy="294437"/>
          </a:xfrm>
          <a:prstGeom prst="rect">
            <a:avLst/>
          </a:prstGeom>
        </p:spPr>
      </p:pic>
      <p:sp>
        <p:nvSpPr>
          <p:cNvPr id="19" name="Text 14"/>
          <p:cNvSpPr/>
          <p:nvPr/>
        </p:nvSpPr>
        <p:spPr>
          <a:xfrm>
            <a:off x="6976872" y="118872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Apprenticeship Coach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6976872" y="153619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My Learners · Progress · Sessions · Targets · Feedback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411480" y="277063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594360" y="297180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657454" y="3034894"/>
            <a:ext cx="294437" cy="294437"/>
          </a:xfrm>
          <a:prstGeom prst="rect">
            <a:avLst/>
          </a:prstGeom>
        </p:spPr>
      </p:pic>
      <p:sp>
        <p:nvSpPr>
          <p:cNvPr id="24" name="Text 18"/>
          <p:cNvSpPr/>
          <p:nvPr/>
        </p:nvSpPr>
        <p:spPr>
          <a:xfrm>
            <a:off x="1161288" y="2971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Employer / Mentor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p:nvPr/>
        </p:nvSpPr>
        <p:spPr>
          <a:xfrm>
            <a:off x="1161288" y="331927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Apprentices · Feedback Form · Visits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3319272" y="277063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3502152" y="297180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3565246" y="3034894"/>
            <a:ext cx="294437" cy="294437"/>
          </a:xfrm>
          <a:prstGeom prst="rect">
            <a:avLst/>
          </a:prstGeom>
        </p:spPr>
      </p:pic>
      <p:sp>
        <p:nvSpPr>
          <p:cNvPr id="29" name="Text 22"/>
          <p:cNvSpPr/>
          <p:nvPr/>
        </p:nvSpPr>
        <p:spPr>
          <a:xfrm>
            <a:off x="4069080" y="2971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Ofsted Inspector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p:nvPr/>
        </p:nvSpPr>
        <p:spPr>
          <a:xfrm>
            <a:off x="4069080" y="331927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Compliance · Quality Review · Documentation · Observations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6227064" y="2770632"/>
            <a:ext cx="2724912" cy="1627632"/>
          </a:xfrm>
          <a:prstGeom prst="roundRect">
            <a:avLst>
              <a:gd name="adj" fmla="val 5618"/>
            </a:avLst>
          </a:prstGeom>
          <a:solidFill>
            <a:srgbClr val="1A2332"/>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6409944" y="2971800"/>
            <a:ext cx="420624" cy="420624"/>
          </a:xfrm>
          <a:prstGeom prst="ellipse">
            <a:avLst/>
          </a:prstGeom>
          <a:solidFill>
            <a:srgbClr val="0D7377"/>
          </a:solidFill>
          <a:ln/>
          <a:effectLst>
            <a:outerShdw blurRad="101600" dist="381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6473038" y="3034894"/>
            <a:ext cx="294437" cy="294437"/>
          </a:xfrm>
          <a:prstGeom prst="rect">
            <a:avLst/>
          </a:prstGeom>
        </p:spPr>
      </p:pic>
      <p:sp>
        <p:nvSpPr>
          <p:cNvPr id="34" name="Text 26"/>
          <p:cNvSpPr/>
          <p:nvPr/>
        </p:nvSpPr>
        <p:spPr>
          <a:xfrm>
            <a:off x="6976872" y="2971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DD4BF"/>
                </a:solidFill>
                <a:effectLst/>
                <a:uLnTx/>
                <a:uFillTx/>
                <a:latin typeface="Calibri" pitchFamily="34" charset="0"/>
                <a:ea typeface="Calibri" pitchFamily="34" charset="-122"/>
                <a:cs typeface="Calibri" pitchFamily="34" charset="-120"/>
              </a:rPr>
              <a:t>System Administrator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p:nvPr/>
        </p:nvSpPr>
        <p:spPr>
          <a:xfrm>
            <a:off x="6976872" y="3319272"/>
            <a:ext cx="1828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Users · Roles · System · Logs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p:nvPr/>
        </p:nvSpPr>
        <p:spPr>
          <a:xfrm>
            <a:off x="822960" y="4572000"/>
            <a:ext cx="228600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DD4BF"/>
                </a:solidFill>
                <a:effectLst/>
                <a:uLnTx/>
                <a:uFillTx/>
                <a:latin typeface="Cambria" pitchFamily="34" charset="0"/>
                <a:ea typeface="Cambria" pitchFamily="34" charset="-122"/>
                <a:cs typeface="Cambria" pitchFamily="34" charset="-120"/>
              </a:rPr>
              <a:t>38</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p:nvPr/>
        </p:nvSpPr>
        <p:spPr>
          <a:xfrm>
            <a:off x="822960" y="4965192"/>
            <a:ext cx="228600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Pages &amp; dashboards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0"/>
          <p:cNvSpPr/>
          <p:nvPr/>
        </p:nvSpPr>
        <p:spPr>
          <a:xfrm>
            <a:off x="3749040" y="4572000"/>
            <a:ext cx="228600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DD4BF"/>
                </a:solidFill>
                <a:effectLst/>
                <a:uLnTx/>
                <a:uFillTx/>
                <a:latin typeface="Cambria" pitchFamily="34" charset="0"/>
                <a:ea typeface="Cambria" pitchFamily="34" charset="-122"/>
                <a:cs typeface="Cambria" pitchFamily="34" charset="-120"/>
              </a:rPr>
              <a:t>6</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1"/>
          <p:cNvSpPr/>
          <p:nvPr/>
        </p:nvSpPr>
        <p:spPr>
          <a:xfrm>
            <a:off x="3749040" y="4965192"/>
            <a:ext cx="228600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Role-specific nav menus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2"/>
          <p:cNvSpPr/>
          <p:nvPr/>
        </p:nvSpPr>
        <p:spPr>
          <a:xfrm>
            <a:off x="6675120" y="4572000"/>
            <a:ext cx="228600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DD4BF"/>
                </a:solidFill>
                <a:effectLst/>
                <a:uLnTx/>
                <a:uFillTx/>
                <a:latin typeface="Cambria" pitchFamily="34" charset="0"/>
                <a:ea typeface="Cambria" pitchFamily="34" charset="-122"/>
                <a:cs typeface="Cambria" pitchFamily="34" charset="-120"/>
              </a:rPr>
              <a:t>3</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3"/>
          <p:cNvSpPr/>
          <p:nvPr/>
        </p:nvSpPr>
        <p:spPr>
          <a:xfrm>
            <a:off x="6675120" y="4965192"/>
            <a:ext cx="228600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Shared components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Frontend — Technology Stack</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58444"/>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FRONTEND  2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960120"/>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8" name="Shape 6"/>
          <p:cNvSpPr/>
          <p:nvPr/>
        </p:nvSpPr>
        <p:spPr>
          <a:xfrm>
            <a:off x="548640" y="1124712"/>
            <a:ext cx="274320" cy="274320"/>
          </a:xfrm>
          <a:prstGeom prst="ellipse">
            <a:avLst/>
          </a:prstGeom>
          <a:solidFill>
            <a:srgbClr val="0D7377"/>
          </a:solidFill>
          <a:ln/>
        </p:spPr>
        <p:txBody>
          <a:bodyPr/>
          <a:lstStyle/>
          <a:p>
            <a:endParaRPr lang="en-GB"/>
          </a:p>
        </p:txBody>
      </p:sp>
      <p:sp>
        <p:nvSpPr>
          <p:cNvPr id="9" name="Text 7"/>
          <p:cNvSpPr/>
          <p:nvPr/>
        </p:nvSpPr>
        <p:spPr>
          <a:xfrm>
            <a:off x="960120" y="1005840"/>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React 18 + TypeScript</a:t>
            </a:r>
            <a:endParaRPr lang="en-US" sz="1300" dirty="0"/>
          </a:p>
        </p:txBody>
      </p:sp>
      <p:sp>
        <p:nvSpPr>
          <p:cNvPr id="10" name="Text 8"/>
          <p:cNvSpPr/>
          <p:nvPr/>
        </p:nvSpPr>
        <p:spPr>
          <a:xfrm>
            <a:off x="960120" y="1271016"/>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main.tsx + *.tsx</a:t>
            </a:r>
            <a:endParaRPr lang="en-US" sz="950" dirty="0"/>
          </a:p>
        </p:txBody>
      </p:sp>
      <p:sp>
        <p:nvSpPr>
          <p:cNvPr id="11" name="Text 9"/>
          <p:cNvSpPr/>
          <p:nvPr/>
        </p:nvSpPr>
        <p:spPr>
          <a:xfrm>
            <a:off x="3611880" y="1051560"/>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Component-based SPA; TypeScript enforces types across all 33 pages and API calls, catching errors at compile time</a:t>
            </a:r>
            <a:endParaRPr lang="en-US" sz="1200" dirty="0"/>
          </a:p>
        </p:txBody>
      </p:sp>
      <p:sp>
        <p:nvSpPr>
          <p:cNvPr id="12" name="Shape 10"/>
          <p:cNvSpPr/>
          <p:nvPr/>
        </p:nvSpPr>
        <p:spPr>
          <a:xfrm>
            <a:off x="411480" y="1636776"/>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3" name="Shape 11"/>
          <p:cNvSpPr/>
          <p:nvPr/>
        </p:nvSpPr>
        <p:spPr>
          <a:xfrm>
            <a:off x="548640" y="1801368"/>
            <a:ext cx="274320" cy="274320"/>
          </a:xfrm>
          <a:prstGeom prst="ellipse">
            <a:avLst/>
          </a:prstGeom>
          <a:solidFill>
            <a:srgbClr val="0D7377"/>
          </a:solidFill>
          <a:ln/>
        </p:spPr>
        <p:txBody>
          <a:bodyPr/>
          <a:lstStyle/>
          <a:p>
            <a:endParaRPr lang="en-GB"/>
          </a:p>
        </p:txBody>
      </p:sp>
      <p:sp>
        <p:nvSpPr>
          <p:cNvPr id="14" name="Text 12"/>
          <p:cNvSpPr/>
          <p:nvPr/>
        </p:nvSpPr>
        <p:spPr>
          <a:xfrm>
            <a:off x="960120" y="1682496"/>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Tailwind CSS</a:t>
            </a:r>
            <a:endParaRPr lang="en-US" sz="1300" dirty="0"/>
          </a:p>
        </p:txBody>
      </p:sp>
      <p:sp>
        <p:nvSpPr>
          <p:cNvPr id="15" name="Text 13"/>
          <p:cNvSpPr/>
          <p:nvPr/>
        </p:nvSpPr>
        <p:spPr>
          <a:xfrm>
            <a:off x="960120" y="1947672"/>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tailwind.css</a:t>
            </a:r>
            <a:endParaRPr lang="en-US" sz="950" dirty="0"/>
          </a:p>
        </p:txBody>
      </p:sp>
      <p:sp>
        <p:nvSpPr>
          <p:cNvPr id="16" name="Text 14"/>
          <p:cNvSpPr/>
          <p:nvPr/>
        </p:nvSpPr>
        <p:spPr>
          <a:xfrm>
            <a:off x="3611880" y="1728216"/>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Utility classes applied inline — slate-800 sidebar, teal-600 active nav, teal-400 brand colour consistent throughout</a:t>
            </a:r>
            <a:endParaRPr lang="en-US" sz="1200" dirty="0"/>
          </a:p>
        </p:txBody>
      </p:sp>
      <p:sp>
        <p:nvSpPr>
          <p:cNvPr id="17" name="Shape 15"/>
          <p:cNvSpPr/>
          <p:nvPr/>
        </p:nvSpPr>
        <p:spPr>
          <a:xfrm>
            <a:off x="411480" y="2313432"/>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8" name="Shape 16"/>
          <p:cNvSpPr/>
          <p:nvPr/>
        </p:nvSpPr>
        <p:spPr>
          <a:xfrm>
            <a:off x="548640" y="2478024"/>
            <a:ext cx="274320" cy="274320"/>
          </a:xfrm>
          <a:prstGeom prst="ellipse">
            <a:avLst/>
          </a:prstGeom>
          <a:solidFill>
            <a:srgbClr val="0D7377"/>
          </a:solidFill>
          <a:ln/>
        </p:spPr>
        <p:txBody>
          <a:bodyPr/>
          <a:lstStyle/>
          <a:p>
            <a:endParaRPr lang="en-GB"/>
          </a:p>
        </p:txBody>
      </p:sp>
      <p:sp>
        <p:nvSpPr>
          <p:cNvPr id="19" name="Text 17"/>
          <p:cNvSpPr/>
          <p:nvPr/>
        </p:nvSpPr>
        <p:spPr>
          <a:xfrm>
            <a:off x="960120" y="2359152"/>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Vite</a:t>
            </a:r>
            <a:endParaRPr lang="en-US" sz="1300" dirty="0"/>
          </a:p>
        </p:txBody>
      </p:sp>
      <p:sp>
        <p:nvSpPr>
          <p:cNvPr id="20" name="Text 18"/>
          <p:cNvSpPr/>
          <p:nvPr/>
        </p:nvSpPr>
        <p:spPr>
          <a:xfrm>
            <a:off x="960120" y="2624328"/>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vite.config</a:t>
            </a:r>
            <a:endParaRPr lang="en-US" sz="950" dirty="0"/>
          </a:p>
        </p:txBody>
      </p:sp>
      <p:sp>
        <p:nvSpPr>
          <p:cNvPr id="21" name="Text 19"/>
          <p:cNvSpPr/>
          <p:nvPr/>
        </p:nvSpPr>
        <p:spPr>
          <a:xfrm>
            <a:off x="3611880" y="2404872"/>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Build tool providing fast hot module replacement; faster iteration than Create React App</a:t>
            </a:r>
            <a:endParaRPr lang="en-US" sz="1200" dirty="0"/>
          </a:p>
        </p:txBody>
      </p:sp>
      <p:sp>
        <p:nvSpPr>
          <p:cNvPr id="22" name="Shape 20"/>
          <p:cNvSpPr/>
          <p:nvPr/>
        </p:nvSpPr>
        <p:spPr>
          <a:xfrm>
            <a:off x="411480" y="2990088"/>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3" name="Shape 21"/>
          <p:cNvSpPr/>
          <p:nvPr/>
        </p:nvSpPr>
        <p:spPr>
          <a:xfrm>
            <a:off x="548640" y="3154680"/>
            <a:ext cx="274320" cy="274320"/>
          </a:xfrm>
          <a:prstGeom prst="ellipse">
            <a:avLst/>
          </a:prstGeom>
          <a:solidFill>
            <a:srgbClr val="0D7377"/>
          </a:solidFill>
          <a:ln/>
        </p:spPr>
        <p:txBody>
          <a:bodyPr/>
          <a:lstStyle/>
          <a:p>
            <a:endParaRPr lang="en-GB"/>
          </a:p>
        </p:txBody>
      </p:sp>
      <p:sp>
        <p:nvSpPr>
          <p:cNvPr id="24" name="Text 22"/>
          <p:cNvSpPr/>
          <p:nvPr/>
        </p:nvSpPr>
        <p:spPr>
          <a:xfrm>
            <a:off x="960120" y="3035808"/>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React Router v7</a:t>
            </a:r>
            <a:endParaRPr lang="en-US" sz="1300" dirty="0"/>
          </a:p>
        </p:txBody>
      </p:sp>
      <p:sp>
        <p:nvSpPr>
          <p:cNvPr id="25" name="Text 23"/>
          <p:cNvSpPr/>
          <p:nvPr/>
        </p:nvSpPr>
        <p:spPr>
          <a:xfrm>
            <a:off x="960120" y="3300984"/>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routes.ts</a:t>
            </a:r>
            <a:endParaRPr lang="en-US" sz="950" dirty="0"/>
          </a:p>
        </p:txBody>
      </p:sp>
      <p:sp>
        <p:nvSpPr>
          <p:cNvPr id="26" name="Text 24"/>
          <p:cNvSpPr/>
          <p:nvPr/>
        </p:nvSpPr>
        <p:spPr>
          <a:xfrm>
            <a:off x="3611880" y="3081528"/>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Handles all 32 routes; Layout wraps authenticated routes; public routes (/, /login, /register) are unprotected</a:t>
            </a:r>
            <a:endParaRPr lang="en-US" sz="1200" dirty="0"/>
          </a:p>
        </p:txBody>
      </p:sp>
      <p:sp>
        <p:nvSpPr>
          <p:cNvPr id="27" name="Shape 25"/>
          <p:cNvSpPr/>
          <p:nvPr/>
        </p:nvSpPr>
        <p:spPr>
          <a:xfrm>
            <a:off x="411480" y="3666744"/>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8" name="Shape 26"/>
          <p:cNvSpPr/>
          <p:nvPr/>
        </p:nvSpPr>
        <p:spPr>
          <a:xfrm>
            <a:off x="548640" y="3831336"/>
            <a:ext cx="274320" cy="274320"/>
          </a:xfrm>
          <a:prstGeom prst="ellipse">
            <a:avLst/>
          </a:prstGeom>
          <a:solidFill>
            <a:srgbClr val="0D7377"/>
          </a:solidFill>
          <a:ln/>
        </p:spPr>
        <p:txBody>
          <a:bodyPr/>
          <a:lstStyle/>
          <a:p>
            <a:endParaRPr lang="en-GB"/>
          </a:p>
        </p:txBody>
      </p:sp>
      <p:sp>
        <p:nvSpPr>
          <p:cNvPr id="29" name="Text 27"/>
          <p:cNvSpPr/>
          <p:nvPr/>
        </p:nvSpPr>
        <p:spPr>
          <a:xfrm>
            <a:off x="960120" y="3712464"/>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Lucide React</a:t>
            </a:r>
            <a:endParaRPr lang="en-US" sz="1300" dirty="0"/>
          </a:p>
        </p:txBody>
      </p:sp>
      <p:sp>
        <p:nvSpPr>
          <p:cNvPr id="30" name="Text 28"/>
          <p:cNvSpPr/>
          <p:nvPr/>
        </p:nvSpPr>
        <p:spPr>
          <a:xfrm>
            <a:off x="960120" y="3977640"/>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Sidebar.tsx</a:t>
            </a:r>
            <a:endParaRPr lang="en-US" sz="950" dirty="0"/>
          </a:p>
        </p:txBody>
      </p:sp>
      <p:sp>
        <p:nvSpPr>
          <p:cNvPr id="31" name="Text 29"/>
          <p:cNvSpPr/>
          <p:nvPr/>
        </p:nvSpPr>
        <p:spPr>
          <a:xfrm>
            <a:off x="3611880" y="3758184"/>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Icon library used throughout Sidebar navigation: LayoutDashboard, Calendar, FileText, Target, BarChart3 etc.</a:t>
            </a:r>
            <a:endParaRPr lang="en-US" sz="1200" dirty="0"/>
          </a:p>
        </p:txBody>
      </p:sp>
      <p:sp>
        <p:nvSpPr>
          <p:cNvPr id="32" name="Shape 30"/>
          <p:cNvSpPr/>
          <p:nvPr/>
        </p:nvSpPr>
        <p:spPr>
          <a:xfrm>
            <a:off x="685800" y="4247896"/>
            <a:ext cx="8321040" cy="594360"/>
          </a:xfrm>
          <a:prstGeom prst="roundRect">
            <a:avLst>
              <a:gd name="adj" fmla="val 15385"/>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33" name="Shape 31"/>
          <p:cNvSpPr/>
          <p:nvPr/>
        </p:nvSpPr>
        <p:spPr>
          <a:xfrm>
            <a:off x="548640" y="4507992"/>
            <a:ext cx="274320" cy="274320"/>
          </a:xfrm>
          <a:prstGeom prst="ellipse">
            <a:avLst/>
          </a:prstGeom>
          <a:solidFill>
            <a:srgbClr val="0D7377"/>
          </a:solidFill>
          <a:ln/>
        </p:spPr>
        <p:txBody>
          <a:bodyPr/>
          <a:lstStyle/>
          <a:p>
            <a:endParaRPr lang="en-GB"/>
          </a:p>
        </p:txBody>
      </p:sp>
      <p:sp>
        <p:nvSpPr>
          <p:cNvPr id="34" name="Text 32"/>
          <p:cNvSpPr/>
          <p:nvPr/>
        </p:nvSpPr>
        <p:spPr>
          <a:xfrm>
            <a:off x="960120" y="4389120"/>
            <a:ext cx="2560320" cy="256032"/>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Native fetch via api.ts</a:t>
            </a:r>
            <a:endParaRPr lang="en-US" sz="1300" dirty="0"/>
          </a:p>
        </p:txBody>
      </p:sp>
      <p:sp>
        <p:nvSpPr>
          <p:cNvPr id="35" name="Text 33"/>
          <p:cNvSpPr/>
          <p:nvPr/>
        </p:nvSpPr>
        <p:spPr>
          <a:xfrm>
            <a:off x="960120" y="4654296"/>
            <a:ext cx="2560320" cy="201168"/>
          </a:xfrm>
          <a:prstGeom prst="rect">
            <a:avLst/>
          </a:prstGeom>
          <a:noFill/>
          <a:ln/>
        </p:spPr>
        <p:txBody>
          <a:bodyPr wrap="square" lIns="0" tIns="0" rIns="0" bIns="0" rtlCol="0" anchor="ctr"/>
          <a:lstStyle/>
          <a:p>
            <a:pPr marL="0" indent="0">
              <a:buNone/>
            </a:pPr>
            <a:r>
              <a:rPr lang="en-US" sz="950" dirty="0">
                <a:solidFill>
                  <a:srgbClr val="64748B"/>
                </a:solidFill>
                <a:latin typeface="Courier New" pitchFamily="34" charset="0"/>
                <a:ea typeface="Courier New" pitchFamily="34" charset="-122"/>
                <a:cs typeface="Courier New" pitchFamily="34" charset="-120"/>
              </a:rPr>
              <a:t>services/</a:t>
            </a:r>
            <a:r>
              <a:rPr lang="en-US" sz="950" dirty="0" err="1">
                <a:solidFill>
                  <a:srgbClr val="64748B"/>
                </a:solidFill>
                <a:latin typeface="Courier New" pitchFamily="34" charset="0"/>
                <a:ea typeface="Courier New" pitchFamily="34" charset="-122"/>
                <a:cs typeface="Courier New" pitchFamily="34" charset="-120"/>
              </a:rPr>
              <a:t>api.ts</a:t>
            </a:r>
            <a:endParaRPr lang="en-US" sz="950" dirty="0"/>
          </a:p>
        </p:txBody>
      </p:sp>
      <p:sp>
        <p:nvSpPr>
          <p:cNvPr id="36" name="Text 34"/>
          <p:cNvSpPr/>
          <p:nvPr/>
        </p:nvSpPr>
        <p:spPr>
          <a:xfrm>
            <a:off x="3611880" y="4434840"/>
            <a:ext cx="4983480"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Single centralised file wrapping get, post, put, patch, del, upload — all routes call api.* not fetch directly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Frontend — Architecture &amp; Structure</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FRONTEND  3 OF 3</a:t>
            </a:r>
            <a:endParaRPr lang="en-US" sz="900" dirty="0"/>
          </a:p>
        </p:txBody>
      </p:sp>
      <p:sp>
        <p:nvSpPr>
          <p:cNvPr id="16" name="Shape 14"/>
          <p:cNvSpPr/>
          <p:nvPr/>
        </p:nvSpPr>
        <p:spPr>
          <a:xfrm>
            <a:off x="4663440" y="1005840"/>
            <a:ext cx="4069080" cy="868680"/>
          </a:xfrm>
          <a:prstGeom prst="roundRect">
            <a:avLst>
              <a:gd name="adj" fmla="val 10526"/>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7" name="Text 15"/>
          <p:cNvSpPr/>
          <p:nvPr/>
        </p:nvSpPr>
        <p:spPr>
          <a:xfrm>
            <a:off x="4828032" y="1115568"/>
            <a:ext cx="3657600" cy="256032"/>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Role-gated routing</a:t>
            </a:r>
            <a:endParaRPr lang="en-US" sz="1300" dirty="0"/>
          </a:p>
        </p:txBody>
      </p:sp>
      <p:sp>
        <p:nvSpPr>
          <p:cNvPr id="18" name="Text 16"/>
          <p:cNvSpPr/>
          <p:nvPr/>
        </p:nvSpPr>
        <p:spPr>
          <a:xfrm>
            <a:off x="4828032" y="1389888"/>
            <a:ext cx="3657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routes.ts checks JWT role; redirects unauthorised users before rendering any page</a:t>
            </a:r>
            <a:endParaRPr lang="en-US" sz="1100" dirty="0"/>
          </a:p>
        </p:txBody>
      </p:sp>
      <p:sp>
        <p:nvSpPr>
          <p:cNvPr id="19" name="Shape 17"/>
          <p:cNvSpPr/>
          <p:nvPr/>
        </p:nvSpPr>
        <p:spPr>
          <a:xfrm>
            <a:off x="4663440" y="2011680"/>
            <a:ext cx="4069080" cy="868680"/>
          </a:xfrm>
          <a:prstGeom prst="roundRect">
            <a:avLst>
              <a:gd name="adj" fmla="val 10526"/>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0" name="Text 18"/>
          <p:cNvSpPr/>
          <p:nvPr/>
        </p:nvSpPr>
        <p:spPr>
          <a:xfrm>
            <a:off x="4828032" y="2121408"/>
            <a:ext cx="3657600" cy="256032"/>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Single API service</a:t>
            </a:r>
            <a:endParaRPr lang="en-US" sz="1300" dirty="0"/>
          </a:p>
        </p:txBody>
      </p:sp>
      <p:sp>
        <p:nvSpPr>
          <p:cNvPr id="21" name="Text 19"/>
          <p:cNvSpPr/>
          <p:nvPr/>
        </p:nvSpPr>
        <p:spPr>
          <a:xfrm>
            <a:off x="4828032" y="2395728"/>
            <a:ext cx="3657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api.ts is the only file that talks to the backend, making endpoint changes trivial</a:t>
            </a:r>
            <a:endParaRPr lang="en-US" sz="1100" dirty="0"/>
          </a:p>
        </p:txBody>
      </p:sp>
      <p:sp>
        <p:nvSpPr>
          <p:cNvPr id="22" name="Shape 20"/>
          <p:cNvSpPr/>
          <p:nvPr/>
        </p:nvSpPr>
        <p:spPr>
          <a:xfrm>
            <a:off x="4663440" y="3017520"/>
            <a:ext cx="4069080" cy="868680"/>
          </a:xfrm>
          <a:prstGeom prst="roundRect">
            <a:avLst>
              <a:gd name="adj" fmla="val 10526"/>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3" name="Text 21"/>
          <p:cNvSpPr/>
          <p:nvPr/>
        </p:nvSpPr>
        <p:spPr>
          <a:xfrm>
            <a:off x="4828032" y="3127248"/>
            <a:ext cx="3657600" cy="256032"/>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Shared component library</a:t>
            </a:r>
            <a:endParaRPr lang="en-US" sz="1300" dirty="0"/>
          </a:p>
        </p:txBody>
      </p:sp>
      <p:sp>
        <p:nvSpPr>
          <p:cNvPr id="24" name="Text 22"/>
          <p:cNvSpPr/>
          <p:nvPr/>
        </p:nvSpPr>
        <p:spPr>
          <a:xfrm>
            <a:off x="4828032" y="3401568"/>
            <a:ext cx="3657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Cards, tables, and form inputs built once, reused across all 32 pages</a:t>
            </a:r>
            <a:endParaRPr lang="en-US" sz="1100" dirty="0"/>
          </a:p>
        </p:txBody>
      </p:sp>
      <p:sp>
        <p:nvSpPr>
          <p:cNvPr id="25" name="Shape 23"/>
          <p:cNvSpPr/>
          <p:nvPr/>
        </p:nvSpPr>
        <p:spPr>
          <a:xfrm>
            <a:off x="4663440" y="4023360"/>
            <a:ext cx="4069080" cy="868680"/>
          </a:xfrm>
          <a:prstGeom prst="roundRect">
            <a:avLst>
              <a:gd name="adj" fmla="val 10526"/>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6" name="Text 24"/>
          <p:cNvSpPr/>
          <p:nvPr/>
        </p:nvSpPr>
        <p:spPr>
          <a:xfrm>
            <a:off x="4828032" y="4133088"/>
            <a:ext cx="3657600" cy="256032"/>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Optimistic UI</a:t>
            </a:r>
            <a:endParaRPr lang="en-US" sz="1300" dirty="0"/>
          </a:p>
        </p:txBody>
      </p:sp>
      <p:sp>
        <p:nvSpPr>
          <p:cNvPr id="27" name="Text 25"/>
          <p:cNvSpPr/>
          <p:nvPr/>
        </p:nvSpPr>
        <p:spPr>
          <a:xfrm>
            <a:off x="4828032" y="4407408"/>
            <a:ext cx="3657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Grade import table refreshes immediately after upload without full page reload</a:t>
            </a:r>
            <a:endParaRPr lang="en-US" sz="1100" dirty="0"/>
          </a:p>
        </p:txBody>
      </p:sp>
      <p:pic>
        <p:nvPicPr>
          <p:cNvPr id="7" name="Picture 6">
            <a:extLst>
              <a:ext uri="{FF2B5EF4-FFF2-40B4-BE49-F238E27FC236}">
                <a16:creationId xmlns:a16="http://schemas.microsoft.com/office/drawing/2014/main" id="{50E51641-AA4F-32AC-1593-3198EEDB0478}"/>
              </a:ext>
            </a:extLst>
          </p:cNvPr>
          <p:cNvPicPr>
            <a:picLocks noChangeAspect="1"/>
          </p:cNvPicPr>
          <p:nvPr/>
        </p:nvPicPr>
        <p:blipFill>
          <a:blip r:embed="rId3"/>
          <a:stretch>
            <a:fillRect/>
          </a:stretch>
        </p:blipFill>
        <p:spPr>
          <a:xfrm>
            <a:off x="332344" y="1222248"/>
            <a:ext cx="4084208" cy="3550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Backend — Stack &amp; Architecture</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49808"/>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BACKEND  1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960120"/>
            <a:ext cx="8321040" cy="658368"/>
          </a:xfrm>
          <a:prstGeom prst="roundRect">
            <a:avLst>
              <a:gd name="adj" fmla="val 13889"/>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8" name="Shape 6"/>
          <p:cNvSpPr/>
          <p:nvPr/>
        </p:nvSpPr>
        <p:spPr>
          <a:xfrm>
            <a:off x="521208" y="1097280"/>
            <a:ext cx="1691640" cy="365760"/>
          </a:xfrm>
          <a:prstGeom prst="roundRect">
            <a:avLst>
              <a:gd name="adj" fmla="val 15000"/>
            </a:avLst>
          </a:prstGeom>
          <a:solidFill>
            <a:srgbClr val="0D7377"/>
          </a:solidFill>
          <a:ln/>
        </p:spPr>
        <p:txBody>
          <a:bodyPr/>
          <a:lstStyle/>
          <a:p>
            <a:endParaRPr lang="en-GB"/>
          </a:p>
        </p:txBody>
      </p:sp>
      <p:sp>
        <p:nvSpPr>
          <p:cNvPr id="9" name="Text 7"/>
          <p:cNvSpPr/>
          <p:nvPr/>
        </p:nvSpPr>
        <p:spPr>
          <a:xfrm>
            <a:off x="521208" y="1097280"/>
            <a:ext cx="1691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Node.js</a:t>
            </a:r>
            <a:endParaRPr lang="en-US" sz="1200" dirty="0"/>
          </a:p>
        </p:txBody>
      </p:sp>
      <p:sp>
        <p:nvSpPr>
          <p:cNvPr id="10" name="Text 8"/>
          <p:cNvSpPr/>
          <p:nvPr/>
        </p:nvSpPr>
        <p:spPr>
          <a:xfrm>
            <a:off x="2359152" y="1097280"/>
            <a:ext cx="621792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JavaScript runtime — same language as frontend, simplifying full-stack coordination</a:t>
            </a:r>
            <a:endParaRPr lang="en-US" sz="1300" dirty="0"/>
          </a:p>
        </p:txBody>
      </p:sp>
      <p:sp>
        <p:nvSpPr>
          <p:cNvPr id="11" name="Shape 9"/>
          <p:cNvSpPr/>
          <p:nvPr/>
        </p:nvSpPr>
        <p:spPr>
          <a:xfrm>
            <a:off x="411480" y="1709928"/>
            <a:ext cx="8321040" cy="658368"/>
          </a:xfrm>
          <a:prstGeom prst="roundRect">
            <a:avLst>
              <a:gd name="adj" fmla="val 13889"/>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2" name="Shape 10"/>
          <p:cNvSpPr/>
          <p:nvPr/>
        </p:nvSpPr>
        <p:spPr>
          <a:xfrm>
            <a:off x="521208" y="1847088"/>
            <a:ext cx="1691640" cy="365760"/>
          </a:xfrm>
          <a:prstGeom prst="roundRect">
            <a:avLst>
              <a:gd name="adj" fmla="val 15000"/>
            </a:avLst>
          </a:prstGeom>
          <a:solidFill>
            <a:srgbClr val="0D7377"/>
          </a:solidFill>
          <a:ln/>
        </p:spPr>
        <p:txBody>
          <a:bodyPr/>
          <a:lstStyle/>
          <a:p>
            <a:endParaRPr lang="en-GB"/>
          </a:p>
        </p:txBody>
      </p:sp>
      <p:sp>
        <p:nvSpPr>
          <p:cNvPr id="13" name="Text 11"/>
          <p:cNvSpPr/>
          <p:nvPr/>
        </p:nvSpPr>
        <p:spPr>
          <a:xfrm>
            <a:off x="521208" y="1847088"/>
            <a:ext cx="1691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Express 5</a:t>
            </a:r>
            <a:endParaRPr lang="en-US" sz="1200" dirty="0"/>
          </a:p>
        </p:txBody>
      </p:sp>
      <p:sp>
        <p:nvSpPr>
          <p:cNvPr id="14" name="Text 12"/>
          <p:cNvSpPr/>
          <p:nvPr/>
        </p:nvSpPr>
        <p:spPr>
          <a:xfrm>
            <a:off x="2359152" y="1847088"/>
            <a:ext cx="621792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Lightweight, flexible REST API framework with async error handling built in</a:t>
            </a:r>
            <a:endParaRPr lang="en-US" sz="1300" dirty="0"/>
          </a:p>
        </p:txBody>
      </p:sp>
      <p:sp>
        <p:nvSpPr>
          <p:cNvPr id="15" name="Shape 13"/>
          <p:cNvSpPr/>
          <p:nvPr/>
        </p:nvSpPr>
        <p:spPr>
          <a:xfrm>
            <a:off x="411480" y="2459736"/>
            <a:ext cx="8321040" cy="658368"/>
          </a:xfrm>
          <a:prstGeom prst="roundRect">
            <a:avLst>
              <a:gd name="adj" fmla="val 13889"/>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6" name="Shape 14"/>
          <p:cNvSpPr/>
          <p:nvPr/>
        </p:nvSpPr>
        <p:spPr>
          <a:xfrm>
            <a:off x="521208" y="2596896"/>
            <a:ext cx="1691640" cy="365760"/>
          </a:xfrm>
          <a:prstGeom prst="roundRect">
            <a:avLst>
              <a:gd name="adj" fmla="val 15000"/>
            </a:avLst>
          </a:prstGeom>
          <a:solidFill>
            <a:srgbClr val="0D7377"/>
          </a:solidFill>
          <a:ln/>
        </p:spPr>
        <p:txBody>
          <a:bodyPr/>
          <a:lstStyle/>
          <a:p>
            <a:endParaRPr lang="en-GB"/>
          </a:p>
        </p:txBody>
      </p:sp>
      <p:sp>
        <p:nvSpPr>
          <p:cNvPr id="17" name="Text 15"/>
          <p:cNvSpPr/>
          <p:nvPr/>
        </p:nvSpPr>
        <p:spPr>
          <a:xfrm>
            <a:off x="521208" y="2596896"/>
            <a:ext cx="1691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JWT + bcryptjs</a:t>
            </a:r>
            <a:endParaRPr lang="en-US" sz="1200" dirty="0"/>
          </a:p>
        </p:txBody>
      </p:sp>
      <p:sp>
        <p:nvSpPr>
          <p:cNvPr id="18" name="Text 16"/>
          <p:cNvSpPr/>
          <p:nvPr/>
        </p:nvSpPr>
        <p:spPr>
          <a:xfrm>
            <a:off x="2359152" y="2596896"/>
            <a:ext cx="621792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Stateless tokens with 8-hour expiry; bcrypt hashes passwords at 12 salt rounds</a:t>
            </a:r>
            <a:endParaRPr lang="en-US" sz="1300" dirty="0"/>
          </a:p>
        </p:txBody>
      </p:sp>
      <p:sp>
        <p:nvSpPr>
          <p:cNvPr id="19" name="Shape 17"/>
          <p:cNvSpPr/>
          <p:nvPr/>
        </p:nvSpPr>
        <p:spPr>
          <a:xfrm>
            <a:off x="411480" y="3209544"/>
            <a:ext cx="8321040" cy="658368"/>
          </a:xfrm>
          <a:prstGeom prst="roundRect">
            <a:avLst>
              <a:gd name="adj" fmla="val 13889"/>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0" name="Shape 18"/>
          <p:cNvSpPr/>
          <p:nvPr/>
        </p:nvSpPr>
        <p:spPr>
          <a:xfrm>
            <a:off x="521208" y="3346704"/>
            <a:ext cx="1691640" cy="365760"/>
          </a:xfrm>
          <a:prstGeom prst="roundRect">
            <a:avLst>
              <a:gd name="adj" fmla="val 15000"/>
            </a:avLst>
          </a:prstGeom>
          <a:solidFill>
            <a:srgbClr val="0D7377"/>
          </a:solidFill>
          <a:ln/>
        </p:spPr>
        <p:txBody>
          <a:bodyPr/>
          <a:lstStyle/>
          <a:p>
            <a:endParaRPr lang="en-GB"/>
          </a:p>
        </p:txBody>
      </p:sp>
      <p:sp>
        <p:nvSpPr>
          <p:cNvPr id="21" name="Text 19"/>
          <p:cNvSpPr/>
          <p:nvPr/>
        </p:nvSpPr>
        <p:spPr>
          <a:xfrm>
            <a:off x="521208" y="3346704"/>
            <a:ext cx="1691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SQLite (better-sqlite3)</a:t>
            </a:r>
            <a:endParaRPr lang="en-US" sz="1200" dirty="0"/>
          </a:p>
        </p:txBody>
      </p:sp>
      <p:sp>
        <p:nvSpPr>
          <p:cNvPr id="22" name="Text 20"/>
          <p:cNvSpPr/>
          <p:nvPr/>
        </p:nvSpPr>
        <p:spPr>
          <a:xfrm>
            <a:off x="2359152" y="3346704"/>
            <a:ext cx="621792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Single-file DB; no server setup; synchronous API simplifies transaction handling</a:t>
            </a:r>
            <a:endParaRPr lang="en-US" sz="1300" dirty="0"/>
          </a:p>
        </p:txBody>
      </p:sp>
      <p:sp>
        <p:nvSpPr>
          <p:cNvPr id="23" name="Shape 21"/>
          <p:cNvSpPr/>
          <p:nvPr/>
        </p:nvSpPr>
        <p:spPr>
          <a:xfrm>
            <a:off x="411480" y="3959352"/>
            <a:ext cx="8321040" cy="658368"/>
          </a:xfrm>
          <a:prstGeom prst="roundRect">
            <a:avLst>
              <a:gd name="adj" fmla="val 13889"/>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4" name="Shape 22"/>
          <p:cNvSpPr/>
          <p:nvPr/>
        </p:nvSpPr>
        <p:spPr>
          <a:xfrm>
            <a:off x="521208" y="4096512"/>
            <a:ext cx="1691640" cy="365760"/>
          </a:xfrm>
          <a:prstGeom prst="roundRect">
            <a:avLst>
              <a:gd name="adj" fmla="val 15000"/>
            </a:avLst>
          </a:prstGeom>
          <a:solidFill>
            <a:srgbClr val="0D7377"/>
          </a:solidFill>
          <a:ln/>
        </p:spPr>
        <p:txBody>
          <a:bodyPr/>
          <a:lstStyle/>
          <a:p>
            <a:endParaRPr lang="en-GB"/>
          </a:p>
        </p:txBody>
      </p:sp>
      <p:sp>
        <p:nvSpPr>
          <p:cNvPr id="25" name="Text 23"/>
          <p:cNvSpPr/>
          <p:nvPr/>
        </p:nvSpPr>
        <p:spPr>
          <a:xfrm>
            <a:off x="521208" y="4096512"/>
            <a:ext cx="1691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Multer</a:t>
            </a:r>
            <a:endParaRPr lang="en-US" sz="1200" dirty="0"/>
          </a:p>
        </p:txBody>
      </p:sp>
      <p:sp>
        <p:nvSpPr>
          <p:cNvPr id="26" name="Text 24"/>
          <p:cNvSpPr/>
          <p:nvPr/>
        </p:nvSpPr>
        <p:spPr>
          <a:xfrm>
            <a:off x="2359152" y="4096512"/>
            <a:ext cx="621792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Multipart file upload middleware — handles CSV/Excel file receipt from the frontend</a:t>
            </a:r>
            <a:endParaRPr lang="en-US" sz="1300" dirty="0"/>
          </a:p>
        </p:txBody>
      </p:sp>
      <p:sp>
        <p:nvSpPr>
          <p:cNvPr id="27" name="Shape 25"/>
          <p:cNvSpPr/>
          <p:nvPr/>
        </p:nvSpPr>
        <p:spPr>
          <a:xfrm>
            <a:off x="411480" y="4681728"/>
            <a:ext cx="8321040" cy="365760"/>
          </a:xfrm>
          <a:prstGeom prst="roundRect">
            <a:avLst>
              <a:gd name="adj" fmla="val 25000"/>
            </a:avLst>
          </a:prstGeom>
          <a:solidFill>
            <a:srgbClr val="0D7377"/>
          </a:solidFill>
          <a:ln/>
          <a:effectLst>
            <a:outerShdw blurRad="101600" dist="38100" dir="8100000" algn="bl" rotWithShape="0">
              <a:srgbClr val="000000">
                <a:alpha val="10000"/>
              </a:srgbClr>
            </a:outerShdw>
          </a:effectLst>
        </p:spPr>
        <p:txBody>
          <a:bodyPr/>
          <a:lstStyle/>
          <a:p>
            <a:endParaRPr lang="en-GB"/>
          </a:p>
        </p:txBody>
      </p:sp>
      <p:sp>
        <p:nvSpPr>
          <p:cNvPr id="28" name="Text 26"/>
          <p:cNvSpPr/>
          <p:nvPr/>
        </p:nvSpPr>
        <p:spPr>
          <a:xfrm>
            <a:off x="548640" y="4736592"/>
            <a:ext cx="8046720" cy="25603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17 API route modules  ·  2 service modules (scheduleEngine.js  +  gradeProcessor.js)  ·  Auth &amp; RBAC middleware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Backend — Database Design</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BACKEND  2 OF 3</a:t>
            </a:r>
            <a:endParaRPr lang="en-US" sz="900" dirty="0"/>
          </a:p>
        </p:txBody>
      </p:sp>
      <p:sp>
        <p:nvSpPr>
          <p:cNvPr id="6" name="Shape 4"/>
          <p:cNvSpPr/>
          <p:nvPr/>
        </p:nvSpPr>
        <p:spPr>
          <a:xfrm>
            <a:off x="411480" y="100584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7" name="Text 5"/>
          <p:cNvSpPr/>
          <p:nvPr/>
        </p:nvSpPr>
        <p:spPr>
          <a:xfrm>
            <a:off x="411480" y="100584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users</a:t>
            </a:r>
            <a:endParaRPr lang="en-US" sz="1100" dirty="0"/>
          </a:p>
        </p:txBody>
      </p:sp>
      <p:sp>
        <p:nvSpPr>
          <p:cNvPr id="8" name="Shape 6"/>
          <p:cNvSpPr/>
          <p:nvPr/>
        </p:nvSpPr>
        <p:spPr>
          <a:xfrm>
            <a:off x="2560320" y="100584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9" name="Text 7"/>
          <p:cNvSpPr/>
          <p:nvPr/>
        </p:nvSpPr>
        <p:spPr>
          <a:xfrm>
            <a:off x="2560320" y="100584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employers</a:t>
            </a:r>
            <a:endParaRPr lang="en-US" sz="1100" dirty="0"/>
          </a:p>
        </p:txBody>
      </p:sp>
      <p:sp>
        <p:nvSpPr>
          <p:cNvPr id="10" name="Shape 8"/>
          <p:cNvSpPr/>
          <p:nvPr/>
        </p:nvSpPr>
        <p:spPr>
          <a:xfrm>
            <a:off x="4709160" y="100584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1" name="Text 9"/>
          <p:cNvSpPr/>
          <p:nvPr/>
        </p:nvSpPr>
        <p:spPr>
          <a:xfrm>
            <a:off x="4709160" y="100584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learners</a:t>
            </a:r>
            <a:endParaRPr lang="en-US" sz="1100" dirty="0"/>
          </a:p>
        </p:txBody>
      </p:sp>
      <p:sp>
        <p:nvSpPr>
          <p:cNvPr id="12" name="Shape 10"/>
          <p:cNvSpPr/>
          <p:nvPr/>
        </p:nvSpPr>
        <p:spPr>
          <a:xfrm>
            <a:off x="6858000" y="100584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3" name="Text 11"/>
          <p:cNvSpPr/>
          <p:nvPr/>
        </p:nvSpPr>
        <p:spPr>
          <a:xfrm>
            <a:off x="6858000" y="100584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modules</a:t>
            </a:r>
            <a:endParaRPr lang="en-US" sz="1100" dirty="0"/>
          </a:p>
        </p:txBody>
      </p:sp>
      <p:sp>
        <p:nvSpPr>
          <p:cNvPr id="14" name="Shape 12"/>
          <p:cNvSpPr/>
          <p:nvPr/>
        </p:nvSpPr>
        <p:spPr>
          <a:xfrm>
            <a:off x="411480" y="1645920"/>
            <a:ext cx="1965960" cy="475488"/>
          </a:xfrm>
          <a:prstGeom prst="roundRect">
            <a:avLst>
              <a:gd name="adj" fmla="val 15385"/>
            </a:avLst>
          </a:prstGeom>
          <a:solidFill>
            <a:srgbClr val="0D7377"/>
          </a:solidFill>
          <a:ln/>
          <a:effectLst>
            <a:outerShdw blurRad="101600" dist="38100" dir="8100000" algn="bl" rotWithShape="0">
              <a:srgbClr val="000000">
                <a:alpha val="10000"/>
              </a:srgbClr>
            </a:outerShdw>
          </a:effectLst>
        </p:spPr>
        <p:txBody>
          <a:bodyPr/>
          <a:lstStyle/>
          <a:p>
            <a:endParaRPr lang="en-GB"/>
          </a:p>
        </p:txBody>
      </p:sp>
      <p:sp>
        <p:nvSpPr>
          <p:cNvPr id="15" name="Text 13"/>
          <p:cNvSpPr/>
          <p:nvPr/>
        </p:nvSpPr>
        <p:spPr>
          <a:xfrm>
            <a:off x="411480" y="1645920"/>
            <a:ext cx="19659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enrolments</a:t>
            </a:r>
            <a:endParaRPr lang="en-US" sz="1100" dirty="0"/>
          </a:p>
        </p:txBody>
      </p:sp>
      <p:sp>
        <p:nvSpPr>
          <p:cNvPr id="16" name="Shape 14"/>
          <p:cNvSpPr/>
          <p:nvPr/>
        </p:nvSpPr>
        <p:spPr>
          <a:xfrm>
            <a:off x="2560320" y="164592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7" name="Text 15"/>
          <p:cNvSpPr/>
          <p:nvPr/>
        </p:nvSpPr>
        <p:spPr>
          <a:xfrm>
            <a:off x="2560320" y="164592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assessments</a:t>
            </a:r>
            <a:endParaRPr lang="en-US" sz="1100" dirty="0"/>
          </a:p>
        </p:txBody>
      </p:sp>
      <p:sp>
        <p:nvSpPr>
          <p:cNvPr id="18" name="Shape 16"/>
          <p:cNvSpPr/>
          <p:nvPr/>
        </p:nvSpPr>
        <p:spPr>
          <a:xfrm>
            <a:off x="4709160" y="164592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9" name="Text 17"/>
          <p:cNvSpPr/>
          <p:nvPr/>
        </p:nvSpPr>
        <p:spPr>
          <a:xfrm>
            <a:off x="4709160" y="164592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ksb_mappings</a:t>
            </a:r>
            <a:endParaRPr lang="en-US" sz="1100" dirty="0"/>
          </a:p>
        </p:txBody>
      </p:sp>
      <p:sp>
        <p:nvSpPr>
          <p:cNvPr id="20" name="Shape 18"/>
          <p:cNvSpPr/>
          <p:nvPr/>
        </p:nvSpPr>
        <p:spPr>
          <a:xfrm>
            <a:off x="6858000" y="1645920"/>
            <a:ext cx="1965960" cy="475488"/>
          </a:xfrm>
          <a:prstGeom prst="roundRect">
            <a:avLst>
              <a:gd name="adj" fmla="val 15385"/>
            </a:avLst>
          </a:prstGeom>
          <a:solidFill>
            <a:srgbClr val="0D7377"/>
          </a:solidFill>
          <a:ln/>
          <a:effectLst>
            <a:outerShdw blurRad="101600" dist="38100" dir="8100000" algn="bl" rotWithShape="0">
              <a:srgbClr val="000000">
                <a:alpha val="10000"/>
              </a:srgbClr>
            </a:outerShdw>
          </a:effectLst>
        </p:spPr>
        <p:txBody>
          <a:bodyPr/>
          <a:lstStyle/>
          <a:p>
            <a:endParaRPr lang="en-GB"/>
          </a:p>
        </p:txBody>
      </p:sp>
      <p:sp>
        <p:nvSpPr>
          <p:cNvPr id="21" name="Text 19"/>
          <p:cNvSpPr/>
          <p:nvPr/>
        </p:nvSpPr>
        <p:spPr>
          <a:xfrm>
            <a:off x="6858000" y="1645920"/>
            <a:ext cx="19659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schedules</a:t>
            </a:r>
            <a:endParaRPr lang="en-US" sz="1100" dirty="0"/>
          </a:p>
        </p:txBody>
      </p:sp>
      <p:sp>
        <p:nvSpPr>
          <p:cNvPr id="22" name="Shape 20"/>
          <p:cNvSpPr/>
          <p:nvPr/>
        </p:nvSpPr>
        <p:spPr>
          <a:xfrm>
            <a:off x="411480" y="228600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3" name="Text 21"/>
          <p:cNvSpPr/>
          <p:nvPr/>
        </p:nvSpPr>
        <p:spPr>
          <a:xfrm>
            <a:off x="411480" y="228600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evidence</a:t>
            </a:r>
            <a:endParaRPr lang="en-US" sz="1100" dirty="0"/>
          </a:p>
        </p:txBody>
      </p:sp>
      <p:sp>
        <p:nvSpPr>
          <p:cNvPr id="24" name="Shape 22"/>
          <p:cNvSpPr/>
          <p:nvPr/>
        </p:nvSpPr>
        <p:spPr>
          <a:xfrm>
            <a:off x="2560320" y="228600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5" name="Text 23"/>
          <p:cNvSpPr/>
          <p:nvPr/>
        </p:nvSpPr>
        <p:spPr>
          <a:xfrm>
            <a:off x="2560320" y="228600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feedback</a:t>
            </a:r>
            <a:endParaRPr lang="en-US" sz="1100" dirty="0"/>
          </a:p>
        </p:txBody>
      </p:sp>
      <p:sp>
        <p:nvSpPr>
          <p:cNvPr id="26" name="Shape 24"/>
          <p:cNvSpPr/>
          <p:nvPr/>
        </p:nvSpPr>
        <p:spPr>
          <a:xfrm>
            <a:off x="4709160" y="228600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7" name="Text 25"/>
          <p:cNvSpPr/>
          <p:nvPr/>
        </p:nvSpPr>
        <p:spPr>
          <a:xfrm>
            <a:off x="4709160" y="228600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visits</a:t>
            </a:r>
            <a:endParaRPr lang="en-US" sz="1100" dirty="0"/>
          </a:p>
        </p:txBody>
      </p:sp>
      <p:sp>
        <p:nvSpPr>
          <p:cNvPr id="28" name="Shape 26"/>
          <p:cNvSpPr/>
          <p:nvPr/>
        </p:nvSpPr>
        <p:spPr>
          <a:xfrm>
            <a:off x="6858000" y="228600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9" name="Text 27"/>
          <p:cNvSpPr/>
          <p:nvPr/>
        </p:nvSpPr>
        <p:spPr>
          <a:xfrm>
            <a:off x="6858000" y="228600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sessions</a:t>
            </a:r>
            <a:endParaRPr lang="en-US" sz="1100" dirty="0"/>
          </a:p>
        </p:txBody>
      </p:sp>
      <p:sp>
        <p:nvSpPr>
          <p:cNvPr id="30" name="Shape 28"/>
          <p:cNvSpPr/>
          <p:nvPr/>
        </p:nvSpPr>
        <p:spPr>
          <a:xfrm>
            <a:off x="411480" y="292608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1" name="Text 29"/>
          <p:cNvSpPr/>
          <p:nvPr/>
        </p:nvSpPr>
        <p:spPr>
          <a:xfrm>
            <a:off x="411480" y="292608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observations</a:t>
            </a:r>
            <a:endParaRPr lang="en-US" sz="1100" dirty="0"/>
          </a:p>
        </p:txBody>
      </p:sp>
      <p:sp>
        <p:nvSpPr>
          <p:cNvPr id="32" name="Shape 30"/>
          <p:cNvSpPr/>
          <p:nvPr/>
        </p:nvSpPr>
        <p:spPr>
          <a:xfrm>
            <a:off x="2560320" y="292608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3" name="Text 31"/>
          <p:cNvSpPr/>
          <p:nvPr/>
        </p:nvSpPr>
        <p:spPr>
          <a:xfrm>
            <a:off x="2560320" y="292608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targets</a:t>
            </a:r>
            <a:endParaRPr lang="en-US" sz="1100" dirty="0"/>
          </a:p>
        </p:txBody>
      </p:sp>
      <p:sp>
        <p:nvSpPr>
          <p:cNvPr id="34" name="Shape 32"/>
          <p:cNvSpPr/>
          <p:nvPr/>
        </p:nvSpPr>
        <p:spPr>
          <a:xfrm>
            <a:off x="4709160" y="2926080"/>
            <a:ext cx="1965960" cy="475488"/>
          </a:xfrm>
          <a:prstGeom prst="roundRect">
            <a:avLst>
              <a:gd name="adj" fmla="val 15385"/>
            </a:avLst>
          </a:prstGeom>
          <a:solidFill>
            <a:srgbClr val="0D7377"/>
          </a:solidFill>
          <a:ln/>
          <a:effectLst>
            <a:outerShdw blurRad="101600" dist="38100" dir="8100000" algn="bl" rotWithShape="0">
              <a:srgbClr val="000000">
                <a:alpha val="10000"/>
              </a:srgbClr>
            </a:outerShdw>
          </a:effectLst>
        </p:spPr>
        <p:txBody>
          <a:bodyPr/>
          <a:lstStyle/>
          <a:p>
            <a:endParaRPr lang="en-GB"/>
          </a:p>
        </p:txBody>
      </p:sp>
      <p:sp>
        <p:nvSpPr>
          <p:cNvPr id="35" name="Text 33"/>
          <p:cNvSpPr/>
          <p:nvPr/>
        </p:nvSpPr>
        <p:spPr>
          <a:xfrm>
            <a:off x="4709160" y="2926080"/>
            <a:ext cx="19659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audit_logs</a:t>
            </a:r>
            <a:endParaRPr lang="en-US" sz="1100" dirty="0"/>
          </a:p>
        </p:txBody>
      </p:sp>
      <p:sp>
        <p:nvSpPr>
          <p:cNvPr id="36" name="Shape 34"/>
          <p:cNvSpPr/>
          <p:nvPr/>
        </p:nvSpPr>
        <p:spPr>
          <a:xfrm>
            <a:off x="6858000" y="2926080"/>
            <a:ext cx="1965960" cy="475488"/>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7" name="Text 35"/>
          <p:cNvSpPr/>
          <p:nvPr/>
        </p:nvSpPr>
        <p:spPr>
          <a:xfrm>
            <a:off x="6858000" y="2926080"/>
            <a:ext cx="1965960" cy="475488"/>
          </a:xfrm>
          <a:prstGeom prst="rect">
            <a:avLst/>
          </a:prstGeom>
          <a:noFill/>
          <a:ln/>
        </p:spPr>
        <p:txBody>
          <a:bodyPr wrap="square" lIns="0" tIns="0" rIns="0" bIns="0" rtlCol="0" anchor="ctr"/>
          <a:lstStyle/>
          <a:p>
            <a:pPr marL="0" indent="0" algn="ctr">
              <a:buNone/>
            </a:pPr>
            <a:r>
              <a:rPr lang="en-US" sz="1100" dirty="0">
                <a:solidFill>
                  <a:srgbClr val="E2E8F0"/>
                </a:solidFill>
                <a:latin typeface="Courier New" pitchFamily="34" charset="0"/>
                <a:ea typeface="Courier New" pitchFamily="34" charset="-122"/>
                <a:cs typeface="Courier New" pitchFamily="34" charset="-120"/>
              </a:rPr>
              <a:t>+ indexes</a:t>
            </a:r>
            <a:endParaRPr lang="en-US" sz="1100" dirty="0"/>
          </a:p>
        </p:txBody>
      </p:sp>
      <p:sp>
        <p:nvSpPr>
          <p:cNvPr id="38" name="Text 36"/>
          <p:cNvSpPr/>
          <p:nvPr/>
        </p:nvSpPr>
        <p:spPr>
          <a:xfrm>
            <a:off x="411480" y="3703320"/>
            <a:ext cx="3840480" cy="228600"/>
          </a:xfrm>
          <a:prstGeom prst="rect">
            <a:avLst/>
          </a:prstGeom>
          <a:noFill/>
          <a:ln/>
        </p:spPr>
        <p:txBody>
          <a:bodyPr wrap="square" lIns="0" tIns="0" rIns="0" bIns="0" rtlCol="0" anchor="ctr"/>
          <a:lstStyle/>
          <a:p>
            <a:pPr marL="0" indent="0">
              <a:buNone/>
            </a:pPr>
            <a:r>
              <a:rPr lang="en-US" sz="1150" b="1" dirty="0">
                <a:solidFill>
                  <a:srgbClr val="2DD4BF"/>
                </a:solidFill>
                <a:latin typeface="Calibri" pitchFamily="34" charset="0"/>
                <a:ea typeface="Calibri" pitchFamily="34" charset="-122"/>
                <a:cs typeface="Calibri" pitchFamily="34" charset="-120"/>
              </a:rPr>
              <a:t>▸ Upsert on enrolments:</a:t>
            </a:r>
            <a:endParaRPr lang="en-US" sz="1150" dirty="0"/>
          </a:p>
        </p:txBody>
      </p:sp>
      <p:sp>
        <p:nvSpPr>
          <p:cNvPr id="39" name="Text 37"/>
          <p:cNvSpPr/>
          <p:nvPr/>
        </p:nvSpPr>
        <p:spPr>
          <a:xfrm>
            <a:off x="411480" y="3931920"/>
            <a:ext cx="3840480" cy="228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UNIQUE(learner_id, module_id) — prevents duplicate grades; enables safe re-import</a:t>
            </a:r>
            <a:endParaRPr lang="en-US" sz="1050" dirty="0"/>
          </a:p>
        </p:txBody>
      </p:sp>
      <p:sp>
        <p:nvSpPr>
          <p:cNvPr id="40" name="Text 38"/>
          <p:cNvSpPr/>
          <p:nvPr/>
        </p:nvSpPr>
        <p:spPr>
          <a:xfrm>
            <a:off x="411480" y="4297680"/>
            <a:ext cx="3840480" cy="228600"/>
          </a:xfrm>
          <a:prstGeom prst="rect">
            <a:avLst/>
          </a:prstGeom>
          <a:noFill/>
          <a:ln/>
        </p:spPr>
        <p:txBody>
          <a:bodyPr wrap="square" lIns="0" tIns="0" rIns="0" bIns="0" rtlCol="0" anchor="ctr"/>
          <a:lstStyle/>
          <a:p>
            <a:pPr marL="0" indent="0">
              <a:buNone/>
            </a:pPr>
            <a:r>
              <a:rPr lang="en-US" sz="1150" b="1" dirty="0">
                <a:solidFill>
                  <a:srgbClr val="2DD4BF"/>
                </a:solidFill>
                <a:latin typeface="Calibri" pitchFamily="34" charset="0"/>
                <a:ea typeface="Calibri" pitchFamily="34" charset="-122"/>
                <a:cs typeface="Calibri" pitchFamily="34" charset="-120"/>
              </a:rPr>
              <a:t>▸ Transaction on import:</a:t>
            </a:r>
            <a:endParaRPr lang="en-US" sz="1150" dirty="0"/>
          </a:p>
        </p:txBody>
      </p:sp>
      <p:sp>
        <p:nvSpPr>
          <p:cNvPr id="41" name="Text 39"/>
          <p:cNvSpPr/>
          <p:nvPr/>
        </p:nvSpPr>
        <p:spPr>
          <a:xfrm>
            <a:off x="411480" y="4526280"/>
            <a:ext cx="3840480" cy="228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All grade rows committed atomically — any error rolls back the entire batch</a:t>
            </a:r>
            <a:endParaRPr lang="en-US" sz="1050" dirty="0"/>
          </a:p>
        </p:txBody>
      </p:sp>
      <p:sp>
        <p:nvSpPr>
          <p:cNvPr id="42" name="Text 40"/>
          <p:cNvSpPr/>
          <p:nvPr/>
        </p:nvSpPr>
        <p:spPr>
          <a:xfrm>
            <a:off x="4526280" y="3703320"/>
            <a:ext cx="3840480" cy="228600"/>
          </a:xfrm>
          <a:prstGeom prst="rect">
            <a:avLst/>
          </a:prstGeom>
          <a:noFill/>
          <a:ln/>
        </p:spPr>
        <p:txBody>
          <a:bodyPr wrap="square" lIns="0" tIns="0" rIns="0" bIns="0" rtlCol="0" anchor="ctr"/>
          <a:lstStyle/>
          <a:p>
            <a:pPr marL="0" indent="0">
              <a:buNone/>
            </a:pPr>
            <a:r>
              <a:rPr lang="en-US" sz="1150" b="1" dirty="0">
                <a:solidFill>
                  <a:srgbClr val="2DD4BF"/>
                </a:solidFill>
                <a:latin typeface="Calibri" pitchFamily="34" charset="0"/>
                <a:ea typeface="Calibri" pitchFamily="34" charset="-122"/>
                <a:cs typeface="Calibri" pitchFamily="34" charset="-120"/>
              </a:rPr>
              <a:t>▸ Audit log (immutable):</a:t>
            </a:r>
            <a:endParaRPr lang="en-US" sz="1150" dirty="0"/>
          </a:p>
        </p:txBody>
      </p:sp>
      <p:sp>
        <p:nvSpPr>
          <p:cNvPr id="43" name="Text 41"/>
          <p:cNvSpPr/>
          <p:nvPr/>
        </p:nvSpPr>
        <p:spPr>
          <a:xfrm>
            <a:off x="4526280" y="3931920"/>
            <a:ext cx="3840480" cy="228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Every auth event recorded with actor, action, and timestamp — GDPR accountability</a:t>
            </a:r>
            <a:endParaRPr lang="en-US" sz="1050" dirty="0"/>
          </a:p>
        </p:txBody>
      </p:sp>
      <p:sp>
        <p:nvSpPr>
          <p:cNvPr id="44" name="Text 42"/>
          <p:cNvSpPr/>
          <p:nvPr/>
        </p:nvSpPr>
        <p:spPr>
          <a:xfrm>
            <a:off x="4526280" y="4297680"/>
            <a:ext cx="3840480" cy="228600"/>
          </a:xfrm>
          <a:prstGeom prst="rect">
            <a:avLst/>
          </a:prstGeom>
          <a:noFill/>
          <a:ln/>
        </p:spPr>
        <p:txBody>
          <a:bodyPr wrap="square" lIns="0" tIns="0" rIns="0" bIns="0" rtlCol="0" anchor="ctr"/>
          <a:lstStyle/>
          <a:p>
            <a:pPr marL="0" indent="0">
              <a:buNone/>
            </a:pPr>
            <a:r>
              <a:rPr lang="en-US" sz="1150" b="1" dirty="0">
                <a:solidFill>
                  <a:srgbClr val="2DD4BF"/>
                </a:solidFill>
                <a:latin typeface="Calibri" pitchFamily="34" charset="0"/>
                <a:ea typeface="Calibri" pitchFamily="34" charset="-122"/>
                <a:cs typeface="Calibri" pitchFamily="34" charset="-120"/>
              </a:rPr>
              <a:t>▸ GDPR-minimised schema:</a:t>
            </a:r>
            <a:endParaRPr lang="en-US" sz="1150" dirty="0"/>
          </a:p>
        </p:txBody>
      </p:sp>
      <p:sp>
        <p:nvSpPr>
          <p:cNvPr id="45" name="Text 43"/>
          <p:cNvSpPr/>
          <p:nvPr/>
        </p:nvSpPr>
        <p:spPr>
          <a:xfrm>
            <a:off x="4526280" y="4526280"/>
            <a:ext cx="3840480" cy="228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Only operationally necessary personal fields; supports learner deletion on request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Backend — Core Automation Services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BACKEND  3 OF 3</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960120"/>
            <a:ext cx="4023360" cy="3794760"/>
          </a:xfrm>
          <a:prstGeom prst="roundRect">
            <a:avLst>
              <a:gd name="adj" fmla="val 2410"/>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8" name="Text 6"/>
          <p:cNvSpPr/>
          <p:nvPr/>
        </p:nvSpPr>
        <p:spPr>
          <a:xfrm>
            <a:off x="594360" y="1097280"/>
            <a:ext cx="3657600" cy="320040"/>
          </a:xfrm>
          <a:prstGeom prst="rect">
            <a:avLst/>
          </a:prstGeom>
          <a:noFill/>
          <a:ln/>
        </p:spPr>
        <p:txBody>
          <a:bodyPr wrap="square" lIns="0" tIns="0" rIns="0" bIns="0" rtlCol="0" anchor="ctr"/>
          <a:lstStyle/>
          <a:p>
            <a:pPr marL="0" indent="0">
              <a:buNone/>
            </a:pPr>
            <a:r>
              <a:rPr lang="en-US" sz="1400" b="1" dirty="0">
                <a:solidFill>
                  <a:srgbClr val="0D7377"/>
                </a:solidFill>
                <a:latin typeface="Courier New" pitchFamily="34" charset="0"/>
                <a:ea typeface="Courier New" pitchFamily="34" charset="-122"/>
                <a:cs typeface="Courier New" pitchFamily="34" charset="-120"/>
              </a:rPr>
              <a:t>scheduleEngine.js</a:t>
            </a:r>
            <a:endParaRPr lang="en-US" sz="1400" dirty="0"/>
          </a:p>
        </p:txBody>
      </p:sp>
      <p:sp>
        <p:nvSpPr>
          <p:cNvPr id="9" name="Shape 7"/>
          <p:cNvSpPr/>
          <p:nvPr/>
        </p:nvSpPr>
        <p:spPr>
          <a:xfrm>
            <a:off x="594360" y="1572768"/>
            <a:ext cx="256032" cy="256032"/>
          </a:xfrm>
          <a:prstGeom prst="ellipse">
            <a:avLst/>
          </a:prstGeom>
          <a:solidFill>
            <a:srgbClr val="0D7377"/>
          </a:solidFill>
          <a:ln/>
        </p:spPr>
        <p:txBody>
          <a:bodyPr/>
          <a:lstStyle/>
          <a:p>
            <a:endParaRPr lang="en-GB"/>
          </a:p>
        </p:txBody>
      </p:sp>
      <p:sp>
        <p:nvSpPr>
          <p:cNvPr id="10" name="Text 8"/>
          <p:cNvSpPr/>
          <p:nvPr/>
        </p:nvSpPr>
        <p:spPr>
          <a:xfrm>
            <a:off x="594360" y="15727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969264" y="1572768"/>
            <a:ext cx="329184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Accept semester start, end, and break date ranges</a:t>
            </a:r>
            <a:endParaRPr lang="en-US" sz="1200" dirty="0"/>
          </a:p>
        </p:txBody>
      </p:sp>
      <p:sp>
        <p:nvSpPr>
          <p:cNvPr id="12" name="Shape 10"/>
          <p:cNvSpPr/>
          <p:nvPr/>
        </p:nvSpPr>
        <p:spPr>
          <a:xfrm>
            <a:off x="594360" y="2121408"/>
            <a:ext cx="256032" cy="256032"/>
          </a:xfrm>
          <a:prstGeom prst="ellipse">
            <a:avLst/>
          </a:prstGeom>
          <a:solidFill>
            <a:srgbClr val="0D7377"/>
          </a:solidFill>
          <a:ln/>
        </p:spPr>
        <p:txBody>
          <a:bodyPr/>
          <a:lstStyle/>
          <a:p>
            <a:endParaRPr lang="en-GB"/>
          </a:p>
        </p:txBody>
      </p:sp>
      <p:sp>
        <p:nvSpPr>
          <p:cNvPr id="13" name="Text 11"/>
          <p:cNvSpPr/>
          <p:nvPr/>
        </p:nvSpPr>
        <p:spPr>
          <a:xfrm>
            <a:off x="594360" y="212140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969264" y="2121408"/>
            <a:ext cx="329184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Iterate weekly from start to end date</a:t>
            </a:r>
            <a:endParaRPr lang="en-US" sz="1200" dirty="0"/>
          </a:p>
        </p:txBody>
      </p:sp>
      <p:sp>
        <p:nvSpPr>
          <p:cNvPr id="15" name="Shape 13"/>
          <p:cNvSpPr/>
          <p:nvPr/>
        </p:nvSpPr>
        <p:spPr>
          <a:xfrm>
            <a:off x="594360" y="2670048"/>
            <a:ext cx="256032" cy="256032"/>
          </a:xfrm>
          <a:prstGeom prst="ellipse">
            <a:avLst/>
          </a:prstGeom>
          <a:solidFill>
            <a:srgbClr val="0D7377"/>
          </a:solidFill>
          <a:ln/>
        </p:spPr>
        <p:txBody>
          <a:bodyPr/>
          <a:lstStyle/>
          <a:p>
            <a:endParaRPr lang="en-GB"/>
          </a:p>
        </p:txBody>
      </p:sp>
      <p:sp>
        <p:nvSpPr>
          <p:cNvPr id="16" name="Text 14"/>
          <p:cNvSpPr/>
          <p:nvPr/>
        </p:nvSpPr>
        <p:spPr>
          <a:xfrm>
            <a:off x="594360" y="267004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969264" y="2670048"/>
            <a:ext cx="329184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Skip any week overlapping a configured break</a:t>
            </a:r>
            <a:endParaRPr lang="en-US" sz="1200" dirty="0"/>
          </a:p>
        </p:txBody>
      </p:sp>
      <p:sp>
        <p:nvSpPr>
          <p:cNvPr id="18" name="Shape 16"/>
          <p:cNvSpPr/>
          <p:nvPr/>
        </p:nvSpPr>
        <p:spPr>
          <a:xfrm>
            <a:off x="594360" y="3218688"/>
            <a:ext cx="256032" cy="256032"/>
          </a:xfrm>
          <a:prstGeom prst="ellipse">
            <a:avLst/>
          </a:prstGeom>
          <a:solidFill>
            <a:srgbClr val="0D7377"/>
          </a:solidFill>
          <a:ln/>
        </p:spPr>
        <p:txBody>
          <a:bodyPr/>
          <a:lstStyle/>
          <a:p>
            <a:endParaRPr lang="en-GB"/>
          </a:p>
        </p:txBody>
      </p:sp>
      <p:sp>
        <p:nvSpPr>
          <p:cNvPr id="19" name="Text 17"/>
          <p:cNvSpPr/>
          <p:nvPr/>
        </p:nvSpPr>
        <p:spPr>
          <a:xfrm>
            <a:off x="594360" y="321868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969264" y="3218688"/>
            <a:ext cx="329184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Insert session records into database</a:t>
            </a:r>
            <a:endParaRPr lang="en-US" sz="1200" dirty="0"/>
          </a:p>
        </p:txBody>
      </p:sp>
      <p:sp>
        <p:nvSpPr>
          <p:cNvPr id="21" name="Shape 19"/>
          <p:cNvSpPr/>
          <p:nvPr/>
        </p:nvSpPr>
        <p:spPr>
          <a:xfrm>
            <a:off x="594360" y="3767328"/>
            <a:ext cx="256032" cy="256032"/>
          </a:xfrm>
          <a:prstGeom prst="ellipse">
            <a:avLst/>
          </a:prstGeom>
          <a:solidFill>
            <a:srgbClr val="0D7377"/>
          </a:solidFill>
          <a:ln/>
        </p:spPr>
        <p:txBody>
          <a:bodyPr/>
          <a:lstStyle/>
          <a:p>
            <a:endParaRPr lang="en-GB"/>
          </a:p>
        </p:txBody>
      </p:sp>
      <p:sp>
        <p:nvSpPr>
          <p:cNvPr id="22" name="Text 20"/>
          <p:cNvSpPr/>
          <p:nvPr/>
        </p:nvSpPr>
        <p:spPr>
          <a:xfrm>
            <a:off x="594360" y="37673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969264" y="3767328"/>
            <a:ext cx="329184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Export as .xlsx (per-module &amp; Gantt format)</a:t>
            </a:r>
            <a:endParaRPr lang="en-US" sz="1200" dirty="0"/>
          </a:p>
        </p:txBody>
      </p:sp>
      <p:sp>
        <p:nvSpPr>
          <p:cNvPr id="24" name="Text 22"/>
          <p:cNvSpPr/>
          <p:nvPr/>
        </p:nvSpPr>
        <p:spPr>
          <a:xfrm>
            <a:off x="594360" y="4315968"/>
            <a:ext cx="228600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Library: ExcelJS</a:t>
            </a:r>
            <a:endParaRPr lang="en-US" sz="1000" dirty="0"/>
          </a:p>
        </p:txBody>
      </p:sp>
      <p:sp>
        <p:nvSpPr>
          <p:cNvPr id="25" name="Shape 23"/>
          <p:cNvSpPr/>
          <p:nvPr/>
        </p:nvSpPr>
        <p:spPr>
          <a:xfrm>
            <a:off x="4663440" y="960120"/>
            <a:ext cx="4069080" cy="3794760"/>
          </a:xfrm>
          <a:prstGeom prst="roundRect">
            <a:avLst>
              <a:gd name="adj" fmla="val 2410"/>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6" name="Text 24"/>
          <p:cNvSpPr/>
          <p:nvPr/>
        </p:nvSpPr>
        <p:spPr>
          <a:xfrm>
            <a:off x="4846320" y="1097280"/>
            <a:ext cx="3657600" cy="320040"/>
          </a:xfrm>
          <a:prstGeom prst="rect">
            <a:avLst/>
          </a:prstGeom>
          <a:noFill/>
          <a:ln/>
        </p:spPr>
        <p:txBody>
          <a:bodyPr wrap="square" lIns="0" tIns="0" rIns="0" bIns="0" rtlCol="0" anchor="ctr"/>
          <a:lstStyle/>
          <a:p>
            <a:pPr marL="0" indent="0">
              <a:buNone/>
            </a:pPr>
            <a:r>
              <a:rPr lang="en-US" sz="1400" b="1" dirty="0">
                <a:solidFill>
                  <a:srgbClr val="0D7377"/>
                </a:solidFill>
                <a:latin typeface="Courier New" pitchFamily="34" charset="0"/>
                <a:ea typeface="Courier New" pitchFamily="34" charset="-122"/>
                <a:cs typeface="Courier New" pitchFamily="34" charset="-120"/>
              </a:rPr>
              <a:t>gradeProcessor.js</a:t>
            </a:r>
            <a:endParaRPr lang="en-US" sz="1400" dirty="0"/>
          </a:p>
        </p:txBody>
      </p:sp>
      <p:sp>
        <p:nvSpPr>
          <p:cNvPr id="27" name="Shape 25"/>
          <p:cNvSpPr/>
          <p:nvPr/>
        </p:nvSpPr>
        <p:spPr>
          <a:xfrm>
            <a:off x="4846320" y="1572768"/>
            <a:ext cx="256032" cy="256032"/>
          </a:xfrm>
          <a:prstGeom prst="ellipse">
            <a:avLst/>
          </a:prstGeom>
          <a:solidFill>
            <a:srgbClr val="0D7377"/>
          </a:solidFill>
          <a:ln/>
        </p:spPr>
        <p:txBody>
          <a:bodyPr/>
          <a:lstStyle/>
          <a:p>
            <a:endParaRPr lang="en-GB"/>
          </a:p>
        </p:txBody>
      </p:sp>
      <p:sp>
        <p:nvSpPr>
          <p:cNvPr id="28" name="Text 26"/>
          <p:cNvSpPr/>
          <p:nvPr/>
        </p:nvSpPr>
        <p:spPr>
          <a:xfrm>
            <a:off x="4846320" y="15727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9" name="Text 27"/>
          <p:cNvSpPr/>
          <p:nvPr/>
        </p:nvSpPr>
        <p:spPr>
          <a:xfrm>
            <a:off x="5230368" y="1572768"/>
            <a:ext cx="333756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Accept CSV (PapaParse) or Excel (ExcelJS) upload</a:t>
            </a:r>
            <a:endParaRPr lang="en-US" sz="1200" dirty="0"/>
          </a:p>
        </p:txBody>
      </p:sp>
      <p:sp>
        <p:nvSpPr>
          <p:cNvPr id="30" name="Shape 28"/>
          <p:cNvSpPr/>
          <p:nvPr/>
        </p:nvSpPr>
        <p:spPr>
          <a:xfrm>
            <a:off x="4846320" y="2121408"/>
            <a:ext cx="256032" cy="256032"/>
          </a:xfrm>
          <a:prstGeom prst="ellipse">
            <a:avLst/>
          </a:prstGeom>
          <a:solidFill>
            <a:srgbClr val="0D7377"/>
          </a:solidFill>
          <a:ln/>
        </p:spPr>
        <p:txBody>
          <a:bodyPr/>
          <a:lstStyle/>
          <a:p>
            <a:endParaRPr lang="en-GB"/>
          </a:p>
        </p:txBody>
      </p:sp>
      <p:sp>
        <p:nvSpPr>
          <p:cNvPr id="31" name="Text 29"/>
          <p:cNvSpPr/>
          <p:nvPr/>
        </p:nvSpPr>
        <p:spPr>
          <a:xfrm>
            <a:off x="4846320" y="212140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2" name="Text 30"/>
          <p:cNvSpPr/>
          <p:nvPr/>
        </p:nvSpPr>
        <p:spPr>
          <a:xfrm>
            <a:off x="5230368" y="2121408"/>
            <a:ext cx="333756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Normalise column headers across naming variants</a:t>
            </a:r>
            <a:endParaRPr lang="en-US" sz="1200" dirty="0"/>
          </a:p>
        </p:txBody>
      </p:sp>
      <p:sp>
        <p:nvSpPr>
          <p:cNvPr id="33" name="Shape 31"/>
          <p:cNvSpPr/>
          <p:nvPr/>
        </p:nvSpPr>
        <p:spPr>
          <a:xfrm>
            <a:off x="4846320" y="2670048"/>
            <a:ext cx="256032" cy="256032"/>
          </a:xfrm>
          <a:prstGeom prst="ellipse">
            <a:avLst/>
          </a:prstGeom>
          <a:solidFill>
            <a:srgbClr val="0D7377"/>
          </a:solidFill>
          <a:ln/>
        </p:spPr>
        <p:txBody>
          <a:bodyPr/>
          <a:lstStyle/>
          <a:p>
            <a:endParaRPr lang="en-GB"/>
          </a:p>
        </p:txBody>
      </p:sp>
      <p:sp>
        <p:nvSpPr>
          <p:cNvPr id="34" name="Text 32"/>
          <p:cNvSpPr/>
          <p:nvPr/>
        </p:nvSpPr>
        <p:spPr>
          <a:xfrm>
            <a:off x="4846320" y="267004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5" name="Text 33"/>
          <p:cNvSpPr/>
          <p:nvPr/>
        </p:nvSpPr>
        <p:spPr>
          <a:xfrm>
            <a:off x="5230368" y="2670048"/>
            <a:ext cx="333756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Validate rows against learner &amp; module records</a:t>
            </a:r>
            <a:endParaRPr lang="en-US" sz="1200" dirty="0"/>
          </a:p>
        </p:txBody>
      </p:sp>
      <p:sp>
        <p:nvSpPr>
          <p:cNvPr id="36" name="Shape 34"/>
          <p:cNvSpPr/>
          <p:nvPr/>
        </p:nvSpPr>
        <p:spPr>
          <a:xfrm>
            <a:off x="4846320" y="3218688"/>
            <a:ext cx="256032" cy="256032"/>
          </a:xfrm>
          <a:prstGeom prst="ellipse">
            <a:avLst/>
          </a:prstGeom>
          <a:solidFill>
            <a:srgbClr val="0D7377"/>
          </a:solidFill>
          <a:ln/>
        </p:spPr>
        <p:txBody>
          <a:bodyPr/>
          <a:lstStyle/>
          <a:p>
            <a:endParaRPr lang="en-GB"/>
          </a:p>
        </p:txBody>
      </p:sp>
      <p:sp>
        <p:nvSpPr>
          <p:cNvPr id="37" name="Text 35"/>
          <p:cNvSpPr/>
          <p:nvPr/>
        </p:nvSpPr>
        <p:spPr>
          <a:xfrm>
            <a:off x="4846320" y="321868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8" name="Text 36"/>
          <p:cNvSpPr/>
          <p:nvPr/>
        </p:nvSpPr>
        <p:spPr>
          <a:xfrm>
            <a:off x="5230368" y="3218688"/>
            <a:ext cx="333756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Flag at-risk if grade &lt; 40% or missing</a:t>
            </a:r>
            <a:endParaRPr lang="en-US" sz="1200" dirty="0"/>
          </a:p>
        </p:txBody>
      </p:sp>
      <p:sp>
        <p:nvSpPr>
          <p:cNvPr id="39" name="Shape 37"/>
          <p:cNvSpPr/>
          <p:nvPr/>
        </p:nvSpPr>
        <p:spPr>
          <a:xfrm>
            <a:off x="4846320" y="3767328"/>
            <a:ext cx="256032" cy="256032"/>
          </a:xfrm>
          <a:prstGeom prst="ellipse">
            <a:avLst/>
          </a:prstGeom>
          <a:solidFill>
            <a:srgbClr val="0D7377"/>
          </a:solidFill>
          <a:ln/>
        </p:spPr>
        <p:txBody>
          <a:bodyPr/>
          <a:lstStyle/>
          <a:p>
            <a:endParaRPr lang="en-GB"/>
          </a:p>
        </p:txBody>
      </p:sp>
      <p:sp>
        <p:nvSpPr>
          <p:cNvPr id="40" name="Text 38"/>
          <p:cNvSpPr/>
          <p:nvPr/>
        </p:nvSpPr>
        <p:spPr>
          <a:xfrm>
            <a:off x="4846320" y="37673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1" name="Text 39"/>
          <p:cNvSpPr/>
          <p:nvPr/>
        </p:nvSpPr>
        <p:spPr>
          <a:xfrm>
            <a:off x="5230368" y="3767328"/>
            <a:ext cx="3337560" cy="3200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Upsert all records in a single transaction</a:t>
            </a:r>
            <a:endParaRPr lang="en-US" sz="1200" dirty="0"/>
          </a:p>
        </p:txBody>
      </p:sp>
      <p:sp>
        <p:nvSpPr>
          <p:cNvPr id="42" name="Text 40"/>
          <p:cNvSpPr/>
          <p:nvPr/>
        </p:nvSpPr>
        <p:spPr>
          <a:xfrm>
            <a:off x="4846320" y="4315968"/>
            <a:ext cx="347472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Libraries: PapaParse  ·  ExcelJS  ·  Multer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Testing — Strategy Overview</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TESTING  1 OF 4</a:t>
            </a:r>
            <a:endParaRPr lang="en-US" sz="900" dirty="0"/>
          </a:p>
        </p:txBody>
      </p:sp>
      <p:sp>
        <p:nvSpPr>
          <p:cNvPr id="6" name="Shape 4"/>
          <p:cNvSpPr/>
          <p:nvPr/>
        </p:nvSpPr>
        <p:spPr>
          <a:xfrm>
            <a:off x="411480" y="1005840"/>
            <a:ext cx="1993392" cy="3108960"/>
          </a:xfrm>
          <a:prstGeom prst="roundRect">
            <a:avLst>
              <a:gd name="adj" fmla="val 4587"/>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7" name="Shape 5"/>
          <p:cNvSpPr/>
          <p:nvPr/>
        </p:nvSpPr>
        <p:spPr>
          <a:xfrm>
            <a:off x="1170432" y="1188720"/>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1239012" y="1257300"/>
            <a:ext cx="320040" cy="320040"/>
          </a:xfrm>
          <a:prstGeom prst="rect">
            <a:avLst/>
          </a:prstGeom>
        </p:spPr>
      </p:pic>
      <p:sp>
        <p:nvSpPr>
          <p:cNvPr id="9" name="Text 6"/>
          <p:cNvSpPr/>
          <p:nvPr/>
        </p:nvSpPr>
        <p:spPr>
          <a:xfrm>
            <a:off x="521208" y="1810512"/>
            <a:ext cx="177393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Heuristic Evaluation</a:t>
            </a:r>
            <a:endParaRPr lang="en-US" sz="1300" dirty="0"/>
          </a:p>
        </p:txBody>
      </p:sp>
      <p:sp>
        <p:nvSpPr>
          <p:cNvPr id="10" name="Text 7"/>
          <p:cNvSpPr/>
          <p:nvPr/>
        </p:nvSpPr>
        <p:spPr>
          <a:xfrm>
            <a:off x="548640" y="2240280"/>
            <a:ext cx="1719072" cy="16916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Nielsen's 10 heuristics applied across all 32 pages</a:t>
            </a:r>
            <a:endParaRPr lang="en-US" sz="1100" dirty="0"/>
          </a:p>
        </p:txBody>
      </p:sp>
      <p:sp>
        <p:nvSpPr>
          <p:cNvPr id="11" name="Shape 8"/>
          <p:cNvSpPr/>
          <p:nvPr/>
        </p:nvSpPr>
        <p:spPr>
          <a:xfrm>
            <a:off x="2587752" y="1005840"/>
            <a:ext cx="1993392" cy="3108960"/>
          </a:xfrm>
          <a:prstGeom prst="roundRect">
            <a:avLst>
              <a:gd name="adj" fmla="val 4587"/>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2" name="Shape 9"/>
          <p:cNvSpPr/>
          <p:nvPr/>
        </p:nvSpPr>
        <p:spPr>
          <a:xfrm>
            <a:off x="3346704" y="1188720"/>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3" name="Image 1" descr="preencoded.png"/>
          <p:cNvPicPr>
            <a:picLocks noChangeAspect="1"/>
          </p:cNvPicPr>
          <p:nvPr/>
        </p:nvPicPr>
        <p:blipFill>
          <a:blip r:embed="rId4"/>
          <a:stretch>
            <a:fillRect/>
          </a:stretch>
        </p:blipFill>
        <p:spPr>
          <a:xfrm>
            <a:off x="3415284" y="1257300"/>
            <a:ext cx="320040" cy="320040"/>
          </a:xfrm>
          <a:prstGeom prst="rect">
            <a:avLst/>
          </a:prstGeom>
        </p:spPr>
      </p:pic>
      <p:sp>
        <p:nvSpPr>
          <p:cNvPr id="14" name="Text 10"/>
          <p:cNvSpPr/>
          <p:nvPr/>
        </p:nvSpPr>
        <p:spPr>
          <a:xfrm>
            <a:off x="2697480" y="1810512"/>
            <a:ext cx="177393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Task-based Usability</a:t>
            </a:r>
            <a:endParaRPr lang="en-US" sz="1300" dirty="0"/>
          </a:p>
        </p:txBody>
      </p:sp>
      <p:sp>
        <p:nvSpPr>
          <p:cNvPr id="15" name="Text 11"/>
          <p:cNvSpPr/>
          <p:nvPr/>
        </p:nvSpPr>
        <p:spPr>
          <a:xfrm>
            <a:off x="2724912" y="2240280"/>
            <a:ext cx="1719072" cy="16916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Programme lead &amp; staff scenarios: import, schedule, evidence</a:t>
            </a:r>
            <a:endParaRPr lang="en-US" sz="1100" dirty="0"/>
          </a:p>
        </p:txBody>
      </p:sp>
      <p:sp>
        <p:nvSpPr>
          <p:cNvPr id="16" name="Shape 12"/>
          <p:cNvSpPr/>
          <p:nvPr/>
        </p:nvSpPr>
        <p:spPr>
          <a:xfrm>
            <a:off x="4764024" y="1005840"/>
            <a:ext cx="1993392" cy="3108960"/>
          </a:xfrm>
          <a:prstGeom prst="roundRect">
            <a:avLst>
              <a:gd name="adj" fmla="val 4587"/>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7" name="Shape 13"/>
          <p:cNvSpPr/>
          <p:nvPr/>
        </p:nvSpPr>
        <p:spPr>
          <a:xfrm>
            <a:off x="5522976" y="1188720"/>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8" name="Image 2" descr="preencoded.png"/>
          <p:cNvPicPr>
            <a:picLocks noChangeAspect="1"/>
          </p:cNvPicPr>
          <p:nvPr/>
        </p:nvPicPr>
        <p:blipFill>
          <a:blip r:embed="rId5"/>
          <a:stretch>
            <a:fillRect/>
          </a:stretch>
        </p:blipFill>
        <p:spPr>
          <a:xfrm>
            <a:off x="5591556" y="1257300"/>
            <a:ext cx="320040" cy="320040"/>
          </a:xfrm>
          <a:prstGeom prst="rect">
            <a:avLst/>
          </a:prstGeom>
        </p:spPr>
      </p:pic>
      <p:sp>
        <p:nvSpPr>
          <p:cNvPr id="19" name="Text 14"/>
          <p:cNvSpPr/>
          <p:nvPr/>
        </p:nvSpPr>
        <p:spPr>
          <a:xfrm>
            <a:off x="4873752" y="1810512"/>
            <a:ext cx="177393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Accessibility Review</a:t>
            </a:r>
            <a:endParaRPr lang="en-US" sz="1300" dirty="0"/>
          </a:p>
        </p:txBody>
      </p:sp>
      <p:sp>
        <p:nvSpPr>
          <p:cNvPr id="20" name="Text 15"/>
          <p:cNvSpPr/>
          <p:nvPr/>
        </p:nvSpPr>
        <p:spPr>
          <a:xfrm>
            <a:off x="4901184" y="2240280"/>
            <a:ext cx="1719072" cy="16916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Keyboard navigation, colour contrast — WCAG 2.2</a:t>
            </a:r>
            <a:endParaRPr lang="en-US" sz="1100" dirty="0"/>
          </a:p>
        </p:txBody>
      </p:sp>
      <p:sp>
        <p:nvSpPr>
          <p:cNvPr id="21" name="Shape 16"/>
          <p:cNvSpPr/>
          <p:nvPr/>
        </p:nvSpPr>
        <p:spPr>
          <a:xfrm>
            <a:off x="6940296" y="1005840"/>
            <a:ext cx="1993392" cy="3108960"/>
          </a:xfrm>
          <a:prstGeom prst="roundRect">
            <a:avLst>
              <a:gd name="adj" fmla="val 4587"/>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2" name="Shape 17"/>
          <p:cNvSpPr/>
          <p:nvPr/>
        </p:nvSpPr>
        <p:spPr>
          <a:xfrm>
            <a:off x="7699248" y="1188720"/>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3" name="Image 3" descr="preencoded.png"/>
          <p:cNvPicPr>
            <a:picLocks noChangeAspect="1"/>
          </p:cNvPicPr>
          <p:nvPr/>
        </p:nvPicPr>
        <p:blipFill>
          <a:blip r:embed="rId6"/>
          <a:stretch>
            <a:fillRect/>
          </a:stretch>
        </p:blipFill>
        <p:spPr>
          <a:xfrm>
            <a:off x="7767828" y="1257300"/>
            <a:ext cx="320040" cy="320040"/>
          </a:xfrm>
          <a:prstGeom prst="rect">
            <a:avLst/>
          </a:prstGeom>
        </p:spPr>
      </p:pic>
      <p:sp>
        <p:nvSpPr>
          <p:cNvPr id="24" name="Text 18"/>
          <p:cNvSpPr/>
          <p:nvPr/>
        </p:nvSpPr>
        <p:spPr>
          <a:xfrm>
            <a:off x="7050024" y="1810512"/>
            <a:ext cx="177393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SUS Questionnaire</a:t>
            </a:r>
            <a:endParaRPr lang="en-US" sz="1300" dirty="0"/>
          </a:p>
        </p:txBody>
      </p:sp>
      <p:sp>
        <p:nvSpPr>
          <p:cNvPr id="25" name="Text 19"/>
          <p:cNvSpPr/>
          <p:nvPr/>
        </p:nvSpPr>
        <p:spPr>
          <a:xfrm>
            <a:off x="7077456" y="2240280"/>
            <a:ext cx="1719072" cy="16916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Quantitative usability score with qualitative feedback</a:t>
            </a:r>
            <a:endParaRPr lang="en-US" sz="1100" dirty="0"/>
          </a:p>
        </p:txBody>
      </p:sp>
      <p:sp>
        <p:nvSpPr>
          <p:cNvPr id="26" name="Shape 20"/>
          <p:cNvSpPr/>
          <p:nvPr/>
        </p:nvSpPr>
        <p:spPr>
          <a:xfrm>
            <a:off x="411480" y="4251960"/>
            <a:ext cx="8321040" cy="658368"/>
          </a:xfrm>
          <a:prstGeom prst="roundRect">
            <a:avLst>
              <a:gd name="adj" fmla="val 13889"/>
            </a:avLst>
          </a:prstGeom>
          <a:solidFill>
            <a:srgbClr val="0D7377"/>
          </a:solidFill>
          <a:ln/>
        </p:spPr>
        <p:txBody>
          <a:bodyPr/>
          <a:lstStyle/>
          <a:p>
            <a:endParaRPr lang="en-GB"/>
          </a:p>
        </p:txBody>
      </p:sp>
      <p:sp>
        <p:nvSpPr>
          <p:cNvPr id="27" name="Text 21"/>
          <p:cNvSpPr/>
          <p:nvPr/>
        </p:nvSpPr>
        <p:spPr>
          <a:xfrm>
            <a:off x="548640" y="4315968"/>
            <a:ext cx="8046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Testing was conducted across Sprint 3 ·  All 12 functional test cases passed  ·  All 7 non-functional tests passed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Testing — Functional Test Results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TESTING  2 OF 4</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graphicFrame>
        <p:nvGraphicFramePr>
          <p:cNvPr id="16" name="Table 0"/>
          <p:cNvGraphicFramePr>
            <a:graphicFrameLocks noGrp="1"/>
          </p:cNvGraphicFramePr>
          <p:nvPr/>
        </p:nvGraphicFramePr>
        <p:xfrm>
          <a:off x="411480" y="914400"/>
          <a:ext cx="8321040" cy="3922776"/>
        </p:xfrm>
        <a:graphic>
          <a:graphicData uri="http://schemas.openxmlformats.org/drawingml/2006/table">
            <a:tbl>
              <a:tblPr/>
              <a:tblGrid>
                <a:gridCol w="640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01752">
                <a:tc>
                  <a:txBody>
                    <a:bodyPr/>
                    <a:lstStyle/>
                    <a:p>
                      <a:pPr marL="0" indent="0" algn="ctr">
                        <a:buNone/>
                      </a:pPr>
                      <a:r>
                        <a:rPr lang="en-US" sz="1200" b="1" dirty="0">
                          <a:solidFill>
                            <a:srgbClr val="FFFFFF"/>
                          </a:solidFill>
                        </a:rPr>
                        <a:t>ID</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rPr>
                        <a:t>Test Case</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rPr>
                        <a:t>Result</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Status</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Login — valid credentials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Dashboard accessed with correct role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Login — invalid credentials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HTTP 401 + error message displayed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Register new user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User stored; login confirmed with role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TC04</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Upload valid CSV grade file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42 records imported; 3 at-risk flagged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Upload CSV with invalid rows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Errors reported; valid rows imported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Generate schedule with breaks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Christmas/Easter weeks excluded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Create learner profile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Profile saved and listed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TC08</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Upload evidence file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File visible in evidence library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TC09</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Submit mentor feedback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Feedback stored and displayed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Unauthenticated API request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HTTP 401 returned for all routes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0"/>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TC11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Insufficient-role API request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HTTP 403 returned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r h="301752">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TC12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KSB mapping entry added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Matrix updates; coverage recalculates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Testing — Non-Functional &amp; Security</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TESTING  3 OF 4</a:t>
            </a:r>
            <a:endParaRPr lang="en-US" sz="900" dirty="0"/>
          </a:p>
        </p:txBody>
      </p:sp>
      <p:sp>
        <p:nvSpPr>
          <p:cNvPr id="6" name="Shape 4"/>
          <p:cNvSpPr/>
          <p:nvPr/>
        </p:nvSpPr>
        <p:spPr>
          <a:xfrm>
            <a:off x="411480" y="987552"/>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7" name="Shape 5"/>
          <p:cNvSpPr/>
          <p:nvPr/>
        </p:nvSpPr>
        <p:spPr>
          <a:xfrm>
            <a:off x="521208" y="1097280"/>
            <a:ext cx="502920" cy="292608"/>
          </a:xfrm>
          <a:prstGeom prst="roundRect">
            <a:avLst>
              <a:gd name="adj" fmla="val 15625"/>
            </a:avLst>
          </a:prstGeom>
          <a:solidFill>
            <a:srgbClr val="0F172A"/>
          </a:solidFill>
          <a:ln/>
        </p:spPr>
        <p:txBody>
          <a:bodyPr/>
          <a:lstStyle/>
          <a:p>
            <a:endParaRPr lang="en-GB"/>
          </a:p>
        </p:txBody>
      </p:sp>
      <p:sp>
        <p:nvSpPr>
          <p:cNvPr id="8" name="Text 6"/>
          <p:cNvSpPr/>
          <p:nvPr/>
        </p:nvSpPr>
        <p:spPr>
          <a:xfrm>
            <a:off x="521208" y="1097280"/>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NT1</a:t>
            </a:r>
            <a:endParaRPr lang="en-US" sz="1000" dirty="0"/>
          </a:p>
        </p:txBody>
      </p:sp>
      <p:sp>
        <p:nvSpPr>
          <p:cNvPr id="9" name="Text 7"/>
          <p:cNvSpPr/>
          <p:nvPr/>
        </p:nvSpPr>
        <p:spPr>
          <a:xfrm>
            <a:off x="1133856" y="1069848"/>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Passwords bcrypt-hashed — plain text not persisted</a:t>
            </a:r>
            <a:endParaRPr lang="en-US" sz="1100" dirty="0"/>
          </a:p>
        </p:txBody>
      </p:sp>
      <p:sp>
        <p:nvSpPr>
          <p:cNvPr id="10" name="Text 8"/>
          <p:cNvSpPr/>
          <p:nvPr/>
        </p:nvSpPr>
        <p:spPr>
          <a:xfrm>
            <a:off x="4663440" y="1069848"/>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11" name="Shape 9"/>
          <p:cNvSpPr/>
          <p:nvPr/>
        </p:nvSpPr>
        <p:spPr>
          <a:xfrm>
            <a:off x="411480" y="1563624"/>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2" name="Shape 10"/>
          <p:cNvSpPr/>
          <p:nvPr/>
        </p:nvSpPr>
        <p:spPr>
          <a:xfrm>
            <a:off x="521208" y="1673352"/>
            <a:ext cx="502920" cy="292608"/>
          </a:xfrm>
          <a:prstGeom prst="roundRect">
            <a:avLst>
              <a:gd name="adj" fmla="val 15625"/>
            </a:avLst>
          </a:prstGeom>
          <a:solidFill>
            <a:srgbClr val="0F172A"/>
          </a:solidFill>
          <a:ln/>
        </p:spPr>
        <p:txBody>
          <a:bodyPr/>
          <a:lstStyle/>
          <a:p>
            <a:endParaRPr lang="en-GB"/>
          </a:p>
        </p:txBody>
      </p:sp>
      <p:sp>
        <p:nvSpPr>
          <p:cNvPr id="13" name="Text 11"/>
          <p:cNvSpPr/>
          <p:nvPr/>
        </p:nvSpPr>
        <p:spPr>
          <a:xfrm>
            <a:off x="521208" y="1673352"/>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NT2</a:t>
            </a:r>
            <a:endParaRPr lang="en-US" sz="1000" dirty="0"/>
          </a:p>
        </p:txBody>
      </p:sp>
      <p:sp>
        <p:nvSpPr>
          <p:cNvPr id="14" name="Text 12"/>
          <p:cNvSpPr/>
          <p:nvPr/>
        </p:nvSpPr>
        <p:spPr>
          <a:xfrm>
            <a:off x="1133856" y="1645920"/>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Dashboard loads within 4 seconds</a:t>
            </a:r>
            <a:endParaRPr lang="en-US" sz="1100" dirty="0"/>
          </a:p>
        </p:txBody>
      </p:sp>
      <p:sp>
        <p:nvSpPr>
          <p:cNvPr id="15" name="Text 13"/>
          <p:cNvSpPr/>
          <p:nvPr/>
        </p:nvSpPr>
        <p:spPr>
          <a:xfrm>
            <a:off x="4663440" y="1645920"/>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16" name="Shape 14"/>
          <p:cNvSpPr/>
          <p:nvPr/>
        </p:nvSpPr>
        <p:spPr>
          <a:xfrm>
            <a:off x="411480" y="2139696"/>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7" name="Shape 15"/>
          <p:cNvSpPr/>
          <p:nvPr/>
        </p:nvSpPr>
        <p:spPr>
          <a:xfrm>
            <a:off x="521208" y="2249424"/>
            <a:ext cx="502920" cy="292608"/>
          </a:xfrm>
          <a:prstGeom prst="roundRect">
            <a:avLst>
              <a:gd name="adj" fmla="val 15625"/>
            </a:avLst>
          </a:prstGeom>
          <a:solidFill>
            <a:srgbClr val="0F172A"/>
          </a:solidFill>
          <a:ln/>
        </p:spPr>
        <p:txBody>
          <a:bodyPr/>
          <a:lstStyle/>
          <a:p>
            <a:endParaRPr lang="en-GB"/>
          </a:p>
        </p:txBody>
      </p:sp>
      <p:sp>
        <p:nvSpPr>
          <p:cNvPr id="18" name="Text 16"/>
          <p:cNvSpPr/>
          <p:nvPr/>
        </p:nvSpPr>
        <p:spPr>
          <a:xfrm>
            <a:off x="521208" y="2249424"/>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NT3</a:t>
            </a:r>
            <a:endParaRPr lang="en-US" sz="1000" dirty="0"/>
          </a:p>
        </p:txBody>
      </p:sp>
      <p:sp>
        <p:nvSpPr>
          <p:cNvPr id="19" name="Text 17"/>
          <p:cNvSpPr/>
          <p:nvPr/>
        </p:nvSpPr>
        <p:spPr>
          <a:xfrm>
            <a:off x="1133856" y="2221992"/>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Non-CSV/Excel file rejected with error message</a:t>
            </a:r>
            <a:endParaRPr lang="en-US" sz="1100" dirty="0"/>
          </a:p>
        </p:txBody>
      </p:sp>
      <p:sp>
        <p:nvSpPr>
          <p:cNvPr id="20" name="Text 18"/>
          <p:cNvSpPr/>
          <p:nvPr/>
        </p:nvSpPr>
        <p:spPr>
          <a:xfrm>
            <a:off x="4663440" y="2221992"/>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21" name="Shape 19"/>
          <p:cNvSpPr/>
          <p:nvPr/>
        </p:nvSpPr>
        <p:spPr>
          <a:xfrm>
            <a:off x="411480" y="2715768"/>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2" name="Shape 20"/>
          <p:cNvSpPr/>
          <p:nvPr/>
        </p:nvSpPr>
        <p:spPr>
          <a:xfrm>
            <a:off x="521208" y="2825496"/>
            <a:ext cx="502920" cy="292608"/>
          </a:xfrm>
          <a:prstGeom prst="roundRect">
            <a:avLst>
              <a:gd name="adj" fmla="val 15625"/>
            </a:avLst>
          </a:prstGeom>
          <a:solidFill>
            <a:srgbClr val="0F172A"/>
          </a:solidFill>
          <a:ln/>
        </p:spPr>
        <p:txBody>
          <a:bodyPr/>
          <a:lstStyle/>
          <a:p>
            <a:endParaRPr lang="en-GB"/>
          </a:p>
        </p:txBody>
      </p:sp>
      <p:sp>
        <p:nvSpPr>
          <p:cNvPr id="23" name="Text 21"/>
          <p:cNvSpPr/>
          <p:nvPr/>
        </p:nvSpPr>
        <p:spPr>
          <a:xfrm>
            <a:off x="521208" y="2825496"/>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NT4</a:t>
            </a:r>
            <a:endParaRPr lang="en-US" sz="1000" dirty="0"/>
          </a:p>
        </p:txBody>
      </p:sp>
      <p:sp>
        <p:nvSpPr>
          <p:cNvPr id="24" name="Text 22"/>
          <p:cNvSpPr/>
          <p:nvPr/>
        </p:nvSpPr>
        <p:spPr>
          <a:xfrm>
            <a:off x="1133856" y="2798064"/>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100-record import completes in &lt; 10 seconds</a:t>
            </a:r>
            <a:endParaRPr lang="en-US" sz="1100" dirty="0"/>
          </a:p>
        </p:txBody>
      </p:sp>
      <p:sp>
        <p:nvSpPr>
          <p:cNvPr id="25" name="Text 23"/>
          <p:cNvSpPr/>
          <p:nvPr/>
        </p:nvSpPr>
        <p:spPr>
          <a:xfrm>
            <a:off x="4663440" y="2798064"/>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26" name="Shape 24"/>
          <p:cNvSpPr/>
          <p:nvPr/>
        </p:nvSpPr>
        <p:spPr>
          <a:xfrm>
            <a:off x="411480" y="3291840"/>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7" name="Shape 25"/>
          <p:cNvSpPr/>
          <p:nvPr/>
        </p:nvSpPr>
        <p:spPr>
          <a:xfrm>
            <a:off x="521208" y="3401568"/>
            <a:ext cx="502920" cy="292608"/>
          </a:xfrm>
          <a:prstGeom prst="roundRect">
            <a:avLst>
              <a:gd name="adj" fmla="val 15625"/>
            </a:avLst>
          </a:prstGeom>
          <a:solidFill>
            <a:srgbClr val="0F172A"/>
          </a:solidFill>
          <a:ln/>
        </p:spPr>
        <p:txBody>
          <a:bodyPr/>
          <a:lstStyle/>
          <a:p>
            <a:endParaRPr lang="en-GB"/>
          </a:p>
        </p:txBody>
      </p:sp>
      <p:sp>
        <p:nvSpPr>
          <p:cNvPr id="28" name="Text 26"/>
          <p:cNvSpPr/>
          <p:nvPr/>
        </p:nvSpPr>
        <p:spPr>
          <a:xfrm>
            <a:off x="521208" y="3401568"/>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NT5</a:t>
            </a:r>
            <a:endParaRPr lang="en-US" sz="1000" dirty="0"/>
          </a:p>
        </p:txBody>
      </p:sp>
      <p:sp>
        <p:nvSpPr>
          <p:cNvPr id="29" name="Text 27"/>
          <p:cNvSpPr/>
          <p:nvPr/>
        </p:nvSpPr>
        <p:spPr>
          <a:xfrm>
            <a:off x="1133856" y="3374136"/>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All status badge contrast meets WCAG 2.2 minimum</a:t>
            </a:r>
            <a:endParaRPr lang="en-US" sz="1100" dirty="0"/>
          </a:p>
        </p:txBody>
      </p:sp>
      <p:sp>
        <p:nvSpPr>
          <p:cNvPr id="30" name="Text 28"/>
          <p:cNvSpPr/>
          <p:nvPr/>
        </p:nvSpPr>
        <p:spPr>
          <a:xfrm>
            <a:off x="4663440" y="3374136"/>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31" name="Shape 29"/>
          <p:cNvSpPr/>
          <p:nvPr/>
        </p:nvSpPr>
        <p:spPr>
          <a:xfrm>
            <a:off x="411480" y="3867912"/>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2" name="Shape 30"/>
          <p:cNvSpPr/>
          <p:nvPr/>
        </p:nvSpPr>
        <p:spPr>
          <a:xfrm>
            <a:off x="521208" y="3977640"/>
            <a:ext cx="502920" cy="292608"/>
          </a:xfrm>
          <a:prstGeom prst="roundRect">
            <a:avLst>
              <a:gd name="adj" fmla="val 15625"/>
            </a:avLst>
          </a:prstGeom>
          <a:solidFill>
            <a:srgbClr val="0F172A"/>
          </a:solidFill>
          <a:ln/>
        </p:spPr>
        <p:txBody>
          <a:bodyPr/>
          <a:lstStyle/>
          <a:p>
            <a:endParaRPr lang="en-GB"/>
          </a:p>
        </p:txBody>
      </p:sp>
      <p:sp>
        <p:nvSpPr>
          <p:cNvPr id="33" name="Text 31"/>
          <p:cNvSpPr/>
          <p:nvPr/>
        </p:nvSpPr>
        <p:spPr>
          <a:xfrm>
            <a:off x="521208" y="3977640"/>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NT6</a:t>
            </a:r>
            <a:endParaRPr lang="en-US" sz="1000" dirty="0"/>
          </a:p>
        </p:txBody>
      </p:sp>
      <p:sp>
        <p:nvSpPr>
          <p:cNvPr id="34" name="Text 32"/>
          <p:cNvSpPr/>
          <p:nvPr/>
        </p:nvSpPr>
        <p:spPr>
          <a:xfrm>
            <a:off x="1133856" y="3950208"/>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Protected endpoints return HTTP 401 without token</a:t>
            </a:r>
            <a:endParaRPr lang="en-US" sz="1100" dirty="0"/>
          </a:p>
        </p:txBody>
      </p:sp>
      <p:sp>
        <p:nvSpPr>
          <p:cNvPr id="35" name="Text 33"/>
          <p:cNvSpPr/>
          <p:nvPr/>
        </p:nvSpPr>
        <p:spPr>
          <a:xfrm>
            <a:off x="4663440" y="3950208"/>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36" name="Shape 34"/>
          <p:cNvSpPr/>
          <p:nvPr/>
        </p:nvSpPr>
        <p:spPr>
          <a:xfrm>
            <a:off x="411480" y="4443984"/>
            <a:ext cx="4892040" cy="502920"/>
          </a:xfrm>
          <a:prstGeom prst="roundRect">
            <a:avLst>
              <a:gd name="adj" fmla="val 1818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7" name="Shape 35"/>
          <p:cNvSpPr/>
          <p:nvPr/>
        </p:nvSpPr>
        <p:spPr>
          <a:xfrm>
            <a:off x="521208" y="4553712"/>
            <a:ext cx="502920" cy="292608"/>
          </a:xfrm>
          <a:prstGeom prst="roundRect">
            <a:avLst>
              <a:gd name="adj" fmla="val 15625"/>
            </a:avLst>
          </a:prstGeom>
          <a:solidFill>
            <a:srgbClr val="0F172A"/>
          </a:solidFill>
          <a:ln/>
        </p:spPr>
        <p:txBody>
          <a:bodyPr/>
          <a:lstStyle/>
          <a:p>
            <a:endParaRPr lang="en-GB"/>
          </a:p>
        </p:txBody>
      </p:sp>
      <p:sp>
        <p:nvSpPr>
          <p:cNvPr id="38" name="Text 36"/>
          <p:cNvSpPr/>
          <p:nvPr/>
        </p:nvSpPr>
        <p:spPr>
          <a:xfrm>
            <a:off x="521208" y="4553712"/>
            <a:ext cx="502920" cy="292608"/>
          </a:xfrm>
          <a:prstGeom prst="rect">
            <a:avLst/>
          </a:prstGeom>
          <a:noFill/>
          <a:ln/>
        </p:spPr>
        <p:txBody>
          <a:bodyPr wrap="square" lIns="0" tIns="0" rIns="0" bIns="0" rtlCol="0" anchor="ctr"/>
          <a:lstStyle/>
          <a:p>
            <a:pPr marL="0" indent="0" algn="ctr">
              <a:buNone/>
            </a:pPr>
            <a:r>
              <a:rPr lang="en-US" sz="1000" b="1" dirty="0">
                <a:solidFill>
                  <a:srgbClr val="2DD4BF"/>
                </a:solidFill>
                <a:latin typeface="Courier New" pitchFamily="34" charset="0"/>
                <a:ea typeface="Courier New" pitchFamily="34" charset="-122"/>
                <a:cs typeface="Courier New" pitchFamily="34" charset="-120"/>
              </a:rPr>
              <a:t>NT7</a:t>
            </a:r>
            <a:endParaRPr lang="en-US" sz="1000" dirty="0"/>
          </a:p>
        </p:txBody>
      </p:sp>
      <p:sp>
        <p:nvSpPr>
          <p:cNvPr id="39" name="Text 37"/>
          <p:cNvSpPr/>
          <p:nvPr/>
        </p:nvSpPr>
        <p:spPr>
          <a:xfrm>
            <a:off x="1133856" y="4526280"/>
            <a:ext cx="352044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Role-restricted endpoints return HTTP 403</a:t>
            </a:r>
            <a:endParaRPr lang="en-US" sz="1100" dirty="0"/>
          </a:p>
        </p:txBody>
      </p:sp>
      <p:sp>
        <p:nvSpPr>
          <p:cNvPr id="40" name="Text 38"/>
          <p:cNvSpPr/>
          <p:nvPr/>
        </p:nvSpPr>
        <p:spPr>
          <a:xfrm>
            <a:off x="4663440" y="4526280"/>
            <a:ext cx="548640"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Pass</a:t>
            </a:r>
            <a:endParaRPr lang="en-US" sz="1100" dirty="0"/>
          </a:p>
        </p:txBody>
      </p:sp>
      <p:sp>
        <p:nvSpPr>
          <p:cNvPr id="41" name="Shape 39"/>
          <p:cNvSpPr/>
          <p:nvPr/>
        </p:nvSpPr>
        <p:spPr>
          <a:xfrm>
            <a:off x="5394960" y="987552"/>
            <a:ext cx="3337560" cy="3566160"/>
          </a:xfrm>
          <a:prstGeom prst="roundRect">
            <a:avLst>
              <a:gd name="adj" fmla="val 2740"/>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42" name="Text 40"/>
          <p:cNvSpPr/>
          <p:nvPr/>
        </p:nvSpPr>
        <p:spPr>
          <a:xfrm>
            <a:off x="5577840" y="1143000"/>
            <a:ext cx="2971800" cy="320040"/>
          </a:xfrm>
          <a:prstGeom prst="rect">
            <a:avLst/>
          </a:prstGeom>
          <a:noFill/>
          <a:ln/>
        </p:spPr>
        <p:txBody>
          <a:bodyPr wrap="square" lIns="0" tIns="0" rIns="0" bIns="0" rtlCol="0" anchor="ctr"/>
          <a:lstStyle/>
          <a:p>
            <a:pPr marL="0" indent="0">
              <a:buNone/>
            </a:pPr>
            <a:r>
              <a:rPr lang="en-US" sz="1400" b="1" dirty="0">
                <a:solidFill>
                  <a:srgbClr val="2DD4BF"/>
                </a:solidFill>
                <a:latin typeface="Cambria" pitchFamily="34" charset="0"/>
                <a:ea typeface="Cambria" pitchFamily="34" charset="-122"/>
                <a:cs typeface="Cambria" pitchFamily="34" charset="-120"/>
              </a:rPr>
              <a:t>SonarQube Analysis</a:t>
            </a:r>
            <a:endParaRPr lang="en-US" sz="1400" dirty="0"/>
          </a:p>
        </p:txBody>
      </p:sp>
      <p:sp>
        <p:nvSpPr>
          <p:cNvPr id="43" name="Text 41"/>
          <p:cNvSpPr/>
          <p:nvPr/>
        </p:nvSpPr>
        <p:spPr>
          <a:xfrm>
            <a:off x="5577840" y="1600200"/>
            <a:ext cx="18288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Code smells</a:t>
            </a:r>
            <a:endParaRPr lang="en-US" sz="1200" dirty="0"/>
          </a:p>
        </p:txBody>
      </p:sp>
      <p:sp>
        <p:nvSpPr>
          <p:cNvPr id="44" name="Text 42"/>
          <p:cNvSpPr/>
          <p:nvPr/>
        </p:nvSpPr>
        <p:spPr>
          <a:xfrm>
            <a:off x="7452360" y="1600200"/>
            <a:ext cx="1097280" cy="27432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Low</a:t>
            </a:r>
            <a:endParaRPr lang="en-US" sz="1200" dirty="0"/>
          </a:p>
        </p:txBody>
      </p:sp>
      <p:sp>
        <p:nvSpPr>
          <p:cNvPr id="45" name="Text 43"/>
          <p:cNvSpPr/>
          <p:nvPr/>
        </p:nvSpPr>
        <p:spPr>
          <a:xfrm>
            <a:off x="5577840" y="2112264"/>
            <a:ext cx="18288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Hardcoded secrets</a:t>
            </a:r>
            <a:endParaRPr lang="en-US" sz="1200" dirty="0"/>
          </a:p>
        </p:txBody>
      </p:sp>
      <p:sp>
        <p:nvSpPr>
          <p:cNvPr id="46" name="Text 44"/>
          <p:cNvSpPr/>
          <p:nvPr/>
        </p:nvSpPr>
        <p:spPr>
          <a:xfrm>
            <a:off x="7452360" y="2112264"/>
            <a:ext cx="1097280" cy="274320"/>
          </a:xfrm>
          <a:prstGeom prst="rect">
            <a:avLst/>
          </a:prstGeom>
          <a:noFill/>
          <a:ln/>
        </p:spPr>
        <p:txBody>
          <a:bodyPr wrap="square" lIns="0" tIns="0" rIns="0" bIns="0"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8 found</a:t>
            </a:r>
            <a:endParaRPr lang="en-US" sz="1200" dirty="0"/>
          </a:p>
        </p:txBody>
      </p:sp>
      <p:sp>
        <p:nvSpPr>
          <p:cNvPr id="47" name="Text 45"/>
          <p:cNvSpPr/>
          <p:nvPr/>
        </p:nvSpPr>
        <p:spPr>
          <a:xfrm>
            <a:off x="5577840" y="2624328"/>
            <a:ext cx="18288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Comment ratio</a:t>
            </a:r>
            <a:endParaRPr lang="en-US" sz="1200" dirty="0"/>
          </a:p>
        </p:txBody>
      </p:sp>
      <p:sp>
        <p:nvSpPr>
          <p:cNvPr id="48" name="Text 46"/>
          <p:cNvSpPr/>
          <p:nvPr/>
        </p:nvSpPr>
        <p:spPr>
          <a:xfrm>
            <a:off x="7452360" y="2624328"/>
            <a:ext cx="1097280" cy="274320"/>
          </a:xfrm>
          <a:prstGeom prst="rect">
            <a:avLst/>
          </a:prstGeom>
          <a:noFill/>
          <a:ln/>
        </p:spPr>
        <p:txBody>
          <a:bodyPr wrap="square" lIns="0" tIns="0" rIns="0" bIns="0"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1.48%</a:t>
            </a:r>
            <a:endParaRPr lang="en-US" sz="1200" dirty="0"/>
          </a:p>
        </p:txBody>
      </p:sp>
      <p:sp>
        <p:nvSpPr>
          <p:cNvPr id="49" name="Text 47"/>
          <p:cNvSpPr/>
          <p:nvPr/>
        </p:nvSpPr>
        <p:spPr>
          <a:xfrm>
            <a:off x="5577840" y="3136392"/>
            <a:ext cx="18288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Functions</a:t>
            </a:r>
            <a:endParaRPr lang="en-US" sz="1200" dirty="0"/>
          </a:p>
        </p:txBody>
      </p:sp>
      <p:sp>
        <p:nvSpPr>
          <p:cNvPr id="50" name="Text 48"/>
          <p:cNvSpPr/>
          <p:nvPr/>
        </p:nvSpPr>
        <p:spPr>
          <a:xfrm>
            <a:off x="7452360" y="3136392"/>
            <a:ext cx="1097280" cy="27432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116</a:t>
            </a:r>
            <a:endParaRPr lang="en-US" sz="1200" dirty="0"/>
          </a:p>
        </p:txBody>
      </p:sp>
      <p:sp>
        <p:nvSpPr>
          <p:cNvPr id="51" name="Text 49"/>
          <p:cNvSpPr/>
          <p:nvPr/>
        </p:nvSpPr>
        <p:spPr>
          <a:xfrm>
            <a:off x="5577840" y="3648456"/>
            <a:ext cx="18288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Total files</a:t>
            </a:r>
            <a:endParaRPr lang="en-US" sz="1200" dirty="0"/>
          </a:p>
        </p:txBody>
      </p:sp>
      <p:sp>
        <p:nvSpPr>
          <p:cNvPr id="52" name="Text 50"/>
          <p:cNvSpPr/>
          <p:nvPr/>
        </p:nvSpPr>
        <p:spPr>
          <a:xfrm>
            <a:off x="7452360" y="3648456"/>
            <a:ext cx="1097280" cy="27432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74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Testing — Code Quality Metrics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TESTING  4 OF 4</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960120"/>
            <a:ext cx="1938528" cy="1965960"/>
          </a:xfrm>
          <a:prstGeom prst="roundRect">
            <a:avLst>
              <a:gd name="adj" fmla="val 4717"/>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8" name="Text 6"/>
          <p:cNvSpPr/>
          <p:nvPr/>
        </p:nvSpPr>
        <p:spPr>
          <a:xfrm>
            <a:off x="521208" y="1097280"/>
            <a:ext cx="1719072" cy="868680"/>
          </a:xfrm>
          <a:prstGeom prst="rect">
            <a:avLst/>
          </a:prstGeom>
          <a:noFill/>
          <a:ln/>
        </p:spPr>
        <p:txBody>
          <a:bodyPr wrap="square" lIns="0" tIns="0" rIns="0" bIns="0" rtlCol="0" anchor="ctr"/>
          <a:lstStyle/>
          <a:p>
            <a:pPr marL="0" indent="0" algn="ctr">
              <a:buNone/>
            </a:pPr>
            <a:r>
              <a:rPr lang="en-US" sz="4200" b="1" dirty="0">
                <a:solidFill>
                  <a:srgbClr val="0D7377"/>
                </a:solidFill>
                <a:latin typeface="Cambria" pitchFamily="34" charset="0"/>
                <a:ea typeface="Cambria" pitchFamily="34" charset="-122"/>
                <a:cs typeface="Cambria" pitchFamily="34" charset="-120"/>
              </a:rPr>
              <a:t>74</a:t>
            </a:r>
            <a:endParaRPr lang="en-US" sz="4200" dirty="0"/>
          </a:p>
        </p:txBody>
      </p:sp>
      <p:sp>
        <p:nvSpPr>
          <p:cNvPr id="9" name="Text 7"/>
          <p:cNvSpPr/>
          <p:nvPr/>
        </p:nvSpPr>
        <p:spPr>
          <a:xfrm>
            <a:off x="521208" y="1993392"/>
            <a:ext cx="1719072"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Source files</a:t>
            </a:r>
            <a:endParaRPr lang="en-US" sz="1300" dirty="0"/>
          </a:p>
        </p:txBody>
      </p:sp>
      <p:sp>
        <p:nvSpPr>
          <p:cNvPr id="10" name="Text 8"/>
          <p:cNvSpPr/>
          <p:nvPr/>
        </p:nvSpPr>
        <p:spPr>
          <a:xfrm>
            <a:off x="521208" y="2286000"/>
            <a:ext cx="1719072" cy="228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Frontend &amp; backend</a:t>
            </a:r>
            <a:endParaRPr lang="en-US" sz="1000" dirty="0"/>
          </a:p>
        </p:txBody>
      </p:sp>
      <p:sp>
        <p:nvSpPr>
          <p:cNvPr id="11" name="Shape 9"/>
          <p:cNvSpPr/>
          <p:nvPr/>
        </p:nvSpPr>
        <p:spPr>
          <a:xfrm>
            <a:off x="2532888" y="960120"/>
            <a:ext cx="1938528" cy="1965960"/>
          </a:xfrm>
          <a:prstGeom prst="roundRect">
            <a:avLst>
              <a:gd name="adj" fmla="val 4717"/>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2" name="Text 10"/>
          <p:cNvSpPr/>
          <p:nvPr/>
        </p:nvSpPr>
        <p:spPr>
          <a:xfrm>
            <a:off x="2642616" y="1097280"/>
            <a:ext cx="1719072" cy="868680"/>
          </a:xfrm>
          <a:prstGeom prst="rect">
            <a:avLst/>
          </a:prstGeom>
          <a:noFill/>
          <a:ln/>
        </p:spPr>
        <p:txBody>
          <a:bodyPr wrap="square" lIns="0" tIns="0" rIns="0" bIns="0" rtlCol="0" anchor="ctr"/>
          <a:lstStyle/>
          <a:p>
            <a:pPr marL="0" indent="0" algn="ctr">
              <a:buNone/>
            </a:pPr>
            <a:r>
              <a:rPr lang="en-US" sz="4200" b="1" dirty="0">
                <a:solidFill>
                  <a:srgbClr val="0D7377"/>
                </a:solidFill>
                <a:latin typeface="Cambria" pitchFamily="34" charset="0"/>
                <a:ea typeface="Cambria" pitchFamily="34" charset="-122"/>
                <a:cs typeface="Cambria" pitchFamily="34" charset="-120"/>
              </a:rPr>
              <a:t>10,147</a:t>
            </a:r>
            <a:endParaRPr lang="en-US" sz="4200" dirty="0"/>
          </a:p>
        </p:txBody>
      </p:sp>
      <p:sp>
        <p:nvSpPr>
          <p:cNvPr id="13" name="Text 11"/>
          <p:cNvSpPr/>
          <p:nvPr/>
        </p:nvSpPr>
        <p:spPr>
          <a:xfrm>
            <a:off x="2642616" y="1993392"/>
            <a:ext cx="1719072"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Lines of code</a:t>
            </a:r>
            <a:endParaRPr lang="en-US" sz="1300" dirty="0"/>
          </a:p>
        </p:txBody>
      </p:sp>
      <p:sp>
        <p:nvSpPr>
          <p:cNvPr id="14" name="Text 12"/>
          <p:cNvSpPr/>
          <p:nvPr/>
        </p:nvSpPr>
        <p:spPr>
          <a:xfrm>
            <a:off x="2642616" y="2286000"/>
            <a:ext cx="1719072" cy="228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Across all modules</a:t>
            </a:r>
            <a:endParaRPr lang="en-US" sz="1000" dirty="0"/>
          </a:p>
        </p:txBody>
      </p:sp>
      <p:sp>
        <p:nvSpPr>
          <p:cNvPr id="15" name="Shape 13"/>
          <p:cNvSpPr/>
          <p:nvPr/>
        </p:nvSpPr>
        <p:spPr>
          <a:xfrm>
            <a:off x="4654296" y="960120"/>
            <a:ext cx="1938528" cy="1965960"/>
          </a:xfrm>
          <a:prstGeom prst="roundRect">
            <a:avLst>
              <a:gd name="adj" fmla="val 4717"/>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6" name="Text 14"/>
          <p:cNvSpPr/>
          <p:nvPr/>
        </p:nvSpPr>
        <p:spPr>
          <a:xfrm>
            <a:off x="4764024" y="1097280"/>
            <a:ext cx="1719072" cy="868680"/>
          </a:xfrm>
          <a:prstGeom prst="rect">
            <a:avLst/>
          </a:prstGeom>
          <a:noFill/>
          <a:ln/>
        </p:spPr>
        <p:txBody>
          <a:bodyPr wrap="square" lIns="0" tIns="0" rIns="0" bIns="0" rtlCol="0" anchor="ctr"/>
          <a:lstStyle/>
          <a:p>
            <a:pPr marL="0" indent="0" algn="ctr">
              <a:buNone/>
            </a:pPr>
            <a:r>
              <a:rPr lang="en-US" sz="4200" b="1" dirty="0">
                <a:solidFill>
                  <a:srgbClr val="0D7377"/>
                </a:solidFill>
                <a:latin typeface="Cambria" pitchFamily="34" charset="0"/>
                <a:ea typeface="Cambria" pitchFamily="34" charset="-122"/>
                <a:cs typeface="Cambria" pitchFamily="34" charset="-120"/>
              </a:rPr>
              <a:t>116</a:t>
            </a:r>
            <a:endParaRPr lang="en-US" sz="4200" dirty="0"/>
          </a:p>
        </p:txBody>
      </p:sp>
      <p:sp>
        <p:nvSpPr>
          <p:cNvPr id="17" name="Text 15"/>
          <p:cNvSpPr/>
          <p:nvPr/>
        </p:nvSpPr>
        <p:spPr>
          <a:xfrm>
            <a:off x="4764024" y="1993392"/>
            <a:ext cx="1719072"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Functions</a:t>
            </a:r>
            <a:endParaRPr lang="en-US" sz="1300" dirty="0"/>
          </a:p>
        </p:txBody>
      </p:sp>
      <p:sp>
        <p:nvSpPr>
          <p:cNvPr id="18" name="Text 16"/>
          <p:cNvSpPr/>
          <p:nvPr/>
        </p:nvSpPr>
        <p:spPr>
          <a:xfrm>
            <a:off x="4764024" y="2286000"/>
            <a:ext cx="1719072" cy="228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Modular, reusable design</a:t>
            </a:r>
            <a:endParaRPr lang="en-US" sz="1000" dirty="0"/>
          </a:p>
        </p:txBody>
      </p:sp>
      <p:sp>
        <p:nvSpPr>
          <p:cNvPr id="19" name="Shape 17"/>
          <p:cNvSpPr/>
          <p:nvPr/>
        </p:nvSpPr>
        <p:spPr>
          <a:xfrm>
            <a:off x="6775704" y="960120"/>
            <a:ext cx="1938528" cy="1965960"/>
          </a:xfrm>
          <a:prstGeom prst="roundRect">
            <a:avLst>
              <a:gd name="adj" fmla="val 4717"/>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0" name="Text 18"/>
          <p:cNvSpPr/>
          <p:nvPr/>
        </p:nvSpPr>
        <p:spPr>
          <a:xfrm>
            <a:off x="6885432" y="1097280"/>
            <a:ext cx="1719072" cy="868680"/>
          </a:xfrm>
          <a:prstGeom prst="rect">
            <a:avLst/>
          </a:prstGeom>
          <a:noFill/>
          <a:ln/>
        </p:spPr>
        <p:txBody>
          <a:bodyPr wrap="square" lIns="0" tIns="0" rIns="0" bIns="0" rtlCol="0" anchor="ctr"/>
          <a:lstStyle/>
          <a:p>
            <a:pPr marL="0" indent="0" algn="ctr">
              <a:buNone/>
            </a:pPr>
            <a:r>
              <a:rPr lang="en-US" sz="4200" b="1" dirty="0">
                <a:solidFill>
                  <a:srgbClr val="10B981"/>
                </a:solidFill>
                <a:latin typeface="Cambria" pitchFamily="34" charset="0"/>
                <a:ea typeface="Cambria" pitchFamily="34" charset="-122"/>
                <a:cs typeface="Cambria" pitchFamily="34" charset="-120"/>
              </a:rPr>
              <a:t>94%</a:t>
            </a:r>
            <a:endParaRPr lang="en-US" sz="4200" dirty="0"/>
          </a:p>
        </p:txBody>
      </p:sp>
      <p:sp>
        <p:nvSpPr>
          <p:cNvPr id="21" name="Text 19"/>
          <p:cNvSpPr/>
          <p:nvPr/>
        </p:nvSpPr>
        <p:spPr>
          <a:xfrm>
            <a:off x="6885432" y="1993392"/>
            <a:ext cx="1719072"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Usability score</a:t>
            </a:r>
            <a:endParaRPr lang="en-US" sz="1300" dirty="0"/>
          </a:p>
        </p:txBody>
      </p:sp>
      <p:sp>
        <p:nvSpPr>
          <p:cNvPr id="22" name="Text 20"/>
          <p:cNvSpPr/>
          <p:nvPr/>
        </p:nvSpPr>
        <p:spPr>
          <a:xfrm>
            <a:off x="6885432" y="2286000"/>
            <a:ext cx="1719072" cy="228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Nielsen heuristics</a:t>
            </a:r>
            <a:endParaRPr lang="en-US" sz="1000" dirty="0"/>
          </a:p>
        </p:txBody>
      </p:sp>
      <p:sp>
        <p:nvSpPr>
          <p:cNvPr id="23" name="Text 21"/>
          <p:cNvSpPr/>
          <p:nvPr/>
        </p:nvSpPr>
        <p:spPr>
          <a:xfrm>
            <a:off x="411480" y="3154680"/>
            <a:ext cx="8229600" cy="292608"/>
          </a:xfrm>
          <a:prstGeom prst="rect">
            <a:avLst/>
          </a:prstGeom>
          <a:noFill/>
          <a:ln/>
        </p:spPr>
        <p:txBody>
          <a:bodyPr wrap="square" lIns="0" tIns="0" rIns="0" bIns="0" rtlCol="0" anchor="ctr"/>
          <a:lstStyle/>
          <a:p>
            <a:pPr marL="0" indent="0">
              <a:buNone/>
            </a:pPr>
            <a:r>
              <a:rPr lang="en-US" sz="1600" b="1" dirty="0">
                <a:solidFill>
                  <a:srgbClr val="0D7377"/>
                </a:solidFill>
                <a:latin typeface="Cambria" pitchFamily="34" charset="0"/>
                <a:ea typeface="Cambria" pitchFamily="34" charset="-122"/>
                <a:cs typeface="Cambria" pitchFamily="34" charset="-120"/>
              </a:rPr>
              <a:t>What the metrics tell us:</a:t>
            </a:r>
            <a:endParaRPr lang="en-US" sz="1600" dirty="0"/>
          </a:p>
        </p:txBody>
      </p:sp>
      <p:sp>
        <p:nvSpPr>
          <p:cNvPr id="24" name="Text 22"/>
          <p:cNvSpPr/>
          <p:nvPr/>
        </p:nvSpPr>
        <p:spPr>
          <a:xfrm>
            <a:off x="411480" y="3520440"/>
            <a:ext cx="8321040" cy="1417320"/>
          </a:xfrm>
          <a:prstGeom prst="rect">
            <a:avLst/>
          </a:prstGeom>
          <a:noFill/>
          <a:ln/>
        </p:spPr>
        <p:txBody>
          <a:bodyPr wrap="square" rtlCol="0" anchor="ctr"/>
          <a:lstStyle/>
          <a:p>
            <a:pPr marL="342900" indent="-342900">
              <a:buSzPct val="100000"/>
              <a:buChar char="•"/>
            </a:pPr>
            <a:r>
              <a:rPr lang="en-US" sz="1600" dirty="0">
                <a:solidFill>
                  <a:srgbClr val="0F172A"/>
                </a:solidFill>
                <a:latin typeface="Calibri" pitchFamily="34" charset="0"/>
                <a:ea typeface="Calibri" pitchFamily="34" charset="-122"/>
                <a:cs typeface="Calibri" pitchFamily="34" charset="-120"/>
              </a:rPr>
              <a:t>74 files across 17 backend routes and 32 frontend pages confirms well-decomposed, modular structure</a:t>
            </a:r>
            <a:endParaRPr lang="en-US" sz="1600" dirty="0"/>
          </a:p>
          <a:p>
            <a:pPr marL="342900" indent="-342900">
              <a:buSzPct val="100000"/>
              <a:buChar char="•"/>
            </a:pPr>
            <a:r>
              <a:rPr lang="en-US" sz="1600" dirty="0">
                <a:solidFill>
                  <a:srgbClr val="0F172A"/>
                </a:solidFill>
                <a:latin typeface="Calibri" pitchFamily="34" charset="0"/>
                <a:ea typeface="Calibri" pitchFamily="34" charset="-122"/>
                <a:cs typeface="Calibri" pitchFamily="34" charset="-120"/>
              </a:rPr>
              <a:t>116 functions support readability, reusability, and independent testing of components</a:t>
            </a:r>
            <a:endParaRPr lang="en-US" sz="1600" dirty="0"/>
          </a:p>
          <a:p>
            <a:pPr marL="342900" indent="-342900">
              <a:buSzPct val="100000"/>
              <a:buChar char="•"/>
            </a:pPr>
            <a:r>
              <a:rPr lang="en-US" sz="1600" dirty="0">
                <a:solidFill>
                  <a:srgbClr val="0F172A"/>
                </a:solidFill>
                <a:latin typeface="Calibri" pitchFamily="34" charset="0"/>
                <a:ea typeface="Calibri" pitchFamily="34" charset="-122"/>
                <a:cs typeface="Calibri" pitchFamily="34" charset="-120"/>
              </a:rPr>
              <a:t>1.48% comment ratio is below recommended levels, improving inline docs is our top recommendation</a:t>
            </a:r>
            <a:endParaRPr lang="en-US" sz="1600" dirty="0"/>
          </a:p>
          <a:p>
            <a:pPr marL="342900" indent="-342900">
              <a:buSzPct val="100000"/>
              <a:buChar char="•"/>
            </a:pPr>
            <a:r>
              <a:rPr lang="en-US" sz="1600" dirty="0">
                <a:solidFill>
                  <a:srgbClr val="0F172A"/>
                </a:solidFill>
                <a:latin typeface="Calibri" pitchFamily="34" charset="0"/>
                <a:ea typeface="Calibri" pitchFamily="34" charset="-122"/>
                <a:cs typeface="Calibri" pitchFamily="34" charset="-120"/>
              </a:rPr>
              <a:t>10,147 lines demonstrates a substantially built product, not a prototype skeleton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Recommendations — Technical Improvements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77240"/>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RECOMMENDATIONS  1 OF 2</a:t>
            </a:r>
            <a:endParaRPr lang="en-US" sz="900" dirty="0"/>
          </a:p>
        </p:txBody>
      </p:sp>
      <p:sp>
        <p:nvSpPr>
          <p:cNvPr id="6" name="Shape 4"/>
          <p:cNvSpPr/>
          <p:nvPr/>
        </p:nvSpPr>
        <p:spPr>
          <a:xfrm>
            <a:off x="411480" y="100584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7" name="Shape 5"/>
          <p:cNvSpPr/>
          <p:nvPr/>
        </p:nvSpPr>
        <p:spPr>
          <a:xfrm>
            <a:off x="576072" y="137160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633679" y="1429207"/>
            <a:ext cx="268834" cy="268834"/>
          </a:xfrm>
          <a:prstGeom prst="rect">
            <a:avLst/>
          </a:prstGeom>
        </p:spPr>
      </p:pic>
      <p:sp>
        <p:nvSpPr>
          <p:cNvPr id="9" name="Shape 6"/>
          <p:cNvSpPr/>
          <p:nvPr/>
        </p:nvSpPr>
        <p:spPr>
          <a:xfrm>
            <a:off x="3904488" y="1143000"/>
            <a:ext cx="548640" cy="256032"/>
          </a:xfrm>
          <a:prstGeom prst="roundRect">
            <a:avLst>
              <a:gd name="adj" fmla="val 17857"/>
            </a:avLst>
          </a:prstGeom>
          <a:solidFill>
            <a:srgbClr val="EF4444"/>
          </a:solidFill>
          <a:ln/>
        </p:spPr>
        <p:txBody>
          <a:bodyPr/>
          <a:lstStyle/>
          <a:p>
            <a:endParaRPr lang="en-GB"/>
          </a:p>
        </p:txBody>
      </p:sp>
      <p:sp>
        <p:nvSpPr>
          <p:cNvPr id="10" name="Text 7"/>
          <p:cNvSpPr/>
          <p:nvPr/>
        </p:nvSpPr>
        <p:spPr>
          <a:xfrm>
            <a:off x="3904488" y="114300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1" name="Text 8"/>
          <p:cNvSpPr/>
          <p:nvPr/>
        </p:nvSpPr>
        <p:spPr>
          <a:xfrm>
            <a:off x="1106424" y="114300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Fix hardcoded secrets</a:t>
            </a:r>
            <a:endParaRPr lang="en-US" sz="1300" dirty="0"/>
          </a:p>
        </p:txBody>
      </p:sp>
      <p:sp>
        <p:nvSpPr>
          <p:cNvPr id="12" name="Text 9"/>
          <p:cNvSpPr/>
          <p:nvPr/>
        </p:nvSpPr>
        <p:spPr>
          <a:xfrm>
            <a:off x="1106424" y="146304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Move JWT secret and DB strings to .env — high priority before public deployment</a:t>
            </a:r>
            <a:endParaRPr lang="en-US" sz="1050" dirty="0"/>
          </a:p>
        </p:txBody>
      </p:sp>
      <p:sp>
        <p:nvSpPr>
          <p:cNvPr id="13" name="Shape 10"/>
          <p:cNvSpPr/>
          <p:nvPr/>
        </p:nvSpPr>
        <p:spPr>
          <a:xfrm>
            <a:off x="4800600" y="100584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4" name="Shape 11"/>
          <p:cNvSpPr/>
          <p:nvPr/>
        </p:nvSpPr>
        <p:spPr>
          <a:xfrm>
            <a:off x="4965192" y="137160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5" name="Image 1" descr="preencoded.png"/>
          <p:cNvPicPr>
            <a:picLocks noChangeAspect="1"/>
          </p:cNvPicPr>
          <p:nvPr/>
        </p:nvPicPr>
        <p:blipFill>
          <a:blip r:embed="rId4"/>
          <a:stretch>
            <a:fillRect/>
          </a:stretch>
        </p:blipFill>
        <p:spPr>
          <a:xfrm>
            <a:off x="5022799" y="1429207"/>
            <a:ext cx="268834" cy="268834"/>
          </a:xfrm>
          <a:prstGeom prst="rect">
            <a:avLst/>
          </a:prstGeom>
        </p:spPr>
      </p:pic>
      <p:sp>
        <p:nvSpPr>
          <p:cNvPr id="16" name="Shape 12"/>
          <p:cNvSpPr/>
          <p:nvPr/>
        </p:nvSpPr>
        <p:spPr>
          <a:xfrm>
            <a:off x="8293608" y="1143000"/>
            <a:ext cx="548640" cy="256032"/>
          </a:xfrm>
          <a:prstGeom prst="roundRect">
            <a:avLst>
              <a:gd name="adj" fmla="val 17857"/>
            </a:avLst>
          </a:prstGeom>
          <a:solidFill>
            <a:srgbClr val="EF4444"/>
          </a:solidFill>
          <a:ln/>
        </p:spPr>
        <p:txBody>
          <a:bodyPr/>
          <a:lstStyle/>
          <a:p>
            <a:endParaRPr lang="en-GB"/>
          </a:p>
        </p:txBody>
      </p:sp>
      <p:sp>
        <p:nvSpPr>
          <p:cNvPr id="17" name="Text 13"/>
          <p:cNvSpPr/>
          <p:nvPr/>
        </p:nvSpPr>
        <p:spPr>
          <a:xfrm>
            <a:off x="8293608" y="114300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8" name="Text 14"/>
          <p:cNvSpPr/>
          <p:nvPr/>
        </p:nvSpPr>
        <p:spPr>
          <a:xfrm>
            <a:off x="5495544" y="114300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Increase code comments</a:t>
            </a:r>
            <a:endParaRPr lang="en-US" sz="1300" dirty="0"/>
          </a:p>
        </p:txBody>
      </p:sp>
      <p:sp>
        <p:nvSpPr>
          <p:cNvPr id="19" name="Text 15"/>
          <p:cNvSpPr/>
          <p:nvPr/>
        </p:nvSpPr>
        <p:spPr>
          <a:xfrm>
            <a:off x="5495544" y="146304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Raise comment ratio from 1.48% to ≥10%; focus on scheduleEngine and gradeProcessor logic</a:t>
            </a:r>
            <a:endParaRPr lang="en-US" sz="1050" dirty="0"/>
          </a:p>
        </p:txBody>
      </p:sp>
      <p:sp>
        <p:nvSpPr>
          <p:cNvPr id="20" name="Shape 16"/>
          <p:cNvSpPr/>
          <p:nvPr/>
        </p:nvSpPr>
        <p:spPr>
          <a:xfrm>
            <a:off x="411480" y="233172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1" name="Shape 17"/>
          <p:cNvSpPr/>
          <p:nvPr/>
        </p:nvSpPr>
        <p:spPr>
          <a:xfrm>
            <a:off x="576072" y="269748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2" name="Image 2" descr="preencoded.png"/>
          <p:cNvPicPr>
            <a:picLocks noChangeAspect="1"/>
          </p:cNvPicPr>
          <p:nvPr/>
        </p:nvPicPr>
        <p:blipFill>
          <a:blip r:embed="rId5"/>
          <a:stretch>
            <a:fillRect/>
          </a:stretch>
        </p:blipFill>
        <p:spPr>
          <a:xfrm>
            <a:off x="633679" y="2755087"/>
            <a:ext cx="268834" cy="268834"/>
          </a:xfrm>
          <a:prstGeom prst="rect">
            <a:avLst/>
          </a:prstGeom>
        </p:spPr>
      </p:pic>
      <p:sp>
        <p:nvSpPr>
          <p:cNvPr id="23" name="Shape 18"/>
          <p:cNvSpPr/>
          <p:nvPr/>
        </p:nvSpPr>
        <p:spPr>
          <a:xfrm>
            <a:off x="3904488" y="2468880"/>
            <a:ext cx="548640" cy="256032"/>
          </a:xfrm>
          <a:prstGeom prst="roundRect">
            <a:avLst>
              <a:gd name="adj" fmla="val 17857"/>
            </a:avLst>
          </a:prstGeom>
          <a:solidFill>
            <a:srgbClr val="F59E0B"/>
          </a:solidFill>
          <a:ln/>
        </p:spPr>
        <p:txBody>
          <a:bodyPr/>
          <a:lstStyle/>
          <a:p>
            <a:endParaRPr lang="en-GB"/>
          </a:p>
        </p:txBody>
      </p:sp>
      <p:sp>
        <p:nvSpPr>
          <p:cNvPr id="24" name="Text 19"/>
          <p:cNvSpPr/>
          <p:nvPr/>
        </p:nvSpPr>
        <p:spPr>
          <a:xfrm>
            <a:off x="3904488" y="246888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25" name="Text 20"/>
          <p:cNvSpPr/>
          <p:nvPr/>
        </p:nvSpPr>
        <p:spPr>
          <a:xfrm>
            <a:off x="1106424" y="246888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Migrate to PostgreSQL</a:t>
            </a:r>
            <a:endParaRPr lang="en-US" sz="1300" dirty="0"/>
          </a:p>
        </p:txBody>
      </p:sp>
      <p:sp>
        <p:nvSpPr>
          <p:cNvPr id="26" name="Text 21"/>
          <p:cNvSpPr/>
          <p:nvPr/>
        </p:nvSpPr>
        <p:spPr>
          <a:xfrm>
            <a:off x="1106424" y="278892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If platform expands to multi-department use, move from SQLite for concurrent write support</a:t>
            </a:r>
            <a:endParaRPr lang="en-US" sz="1050" dirty="0"/>
          </a:p>
        </p:txBody>
      </p:sp>
      <p:sp>
        <p:nvSpPr>
          <p:cNvPr id="27" name="Shape 22"/>
          <p:cNvSpPr/>
          <p:nvPr/>
        </p:nvSpPr>
        <p:spPr>
          <a:xfrm>
            <a:off x="4800600" y="233172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28" name="Shape 23"/>
          <p:cNvSpPr/>
          <p:nvPr/>
        </p:nvSpPr>
        <p:spPr>
          <a:xfrm>
            <a:off x="4965192" y="269748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9" name="Image 3" descr="preencoded.png"/>
          <p:cNvPicPr>
            <a:picLocks noChangeAspect="1"/>
          </p:cNvPicPr>
          <p:nvPr/>
        </p:nvPicPr>
        <p:blipFill>
          <a:blip r:embed="rId6"/>
          <a:stretch>
            <a:fillRect/>
          </a:stretch>
        </p:blipFill>
        <p:spPr>
          <a:xfrm>
            <a:off x="5022799" y="2755087"/>
            <a:ext cx="268834" cy="268834"/>
          </a:xfrm>
          <a:prstGeom prst="rect">
            <a:avLst/>
          </a:prstGeom>
        </p:spPr>
      </p:pic>
      <p:sp>
        <p:nvSpPr>
          <p:cNvPr id="30" name="Shape 24"/>
          <p:cNvSpPr/>
          <p:nvPr/>
        </p:nvSpPr>
        <p:spPr>
          <a:xfrm>
            <a:off x="8293608" y="2468880"/>
            <a:ext cx="548640" cy="256032"/>
          </a:xfrm>
          <a:prstGeom prst="roundRect">
            <a:avLst>
              <a:gd name="adj" fmla="val 17857"/>
            </a:avLst>
          </a:prstGeom>
          <a:solidFill>
            <a:srgbClr val="F59E0B"/>
          </a:solidFill>
          <a:ln/>
        </p:spPr>
        <p:txBody>
          <a:bodyPr/>
          <a:lstStyle/>
          <a:p>
            <a:endParaRPr lang="en-GB"/>
          </a:p>
        </p:txBody>
      </p:sp>
      <p:sp>
        <p:nvSpPr>
          <p:cNvPr id="31" name="Text 25"/>
          <p:cNvSpPr/>
          <p:nvPr/>
        </p:nvSpPr>
        <p:spPr>
          <a:xfrm>
            <a:off x="8293608" y="246888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32" name="Text 26"/>
          <p:cNvSpPr/>
          <p:nvPr/>
        </p:nvSpPr>
        <p:spPr>
          <a:xfrm>
            <a:off x="5495544" y="246888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Add CI/CD pipeline</a:t>
            </a:r>
            <a:endParaRPr lang="en-US" sz="1300" dirty="0"/>
          </a:p>
        </p:txBody>
      </p:sp>
      <p:sp>
        <p:nvSpPr>
          <p:cNvPr id="33" name="Text 27"/>
          <p:cNvSpPr/>
          <p:nvPr/>
        </p:nvSpPr>
        <p:spPr>
          <a:xfrm>
            <a:off x="5495544" y="278892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Automate testing and deployment with GitHub Actions — reduces manual deploy steps</a:t>
            </a:r>
            <a:endParaRPr lang="en-US" sz="1050" dirty="0"/>
          </a:p>
        </p:txBody>
      </p:sp>
      <p:sp>
        <p:nvSpPr>
          <p:cNvPr id="34" name="Shape 28"/>
          <p:cNvSpPr/>
          <p:nvPr/>
        </p:nvSpPr>
        <p:spPr>
          <a:xfrm>
            <a:off x="411480" y="365760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35" name="Shape 29"/>
          <p:cNvSpPr/>
          <p:nvPr/>
        </p:nvSpPr>
        <p:spPr>
          <a:xfrm>
            <a:off x="576072" y="402336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36" name="Image 4" descr="preencoded.png"/>
          <p:cNvPicPr>
            <a:picLocks noChangeAspect="1"/>
          </p:cNvPicPr>
          <p:nvPr/>
        </p:nvPicPr>
        <p:blipFill>
          <a:blip r:embed="rId7"/>
          <a:stretch>
            <a:fillRect/>
          </a:stretch>
        </p:blipFill>
        <p:spPr>
          <a:xfrm>
            <a:off x="633679" y="4080967"/>
            <a:ext cx="268834" cy="268834"/>
          </a:xfrm>
          <a:prstGeom prst="rect">
            <a:avLst/>
          </a:prstGeom>
        </p:spPr>
      </p:pic>
      <p:sp>
        <p:nvSpPr>
          <p:cNvPr id="37" name="Shape 30"/>
          <p:cNvSpPr/>
          <p:nvPr/>
        </p:nvSpPr>
        <p:spPr>
          <a:xfrm>
            <a:off x="3904488" y="3794760"/>
            <a:ext cx="548640" cy="256032"/>
          </a:xfrm>
          <a:prstGeom prst="roundRect">
            <a:avLst>
              <a:gd name="adj" fmla="val 17857"/>
            </a:avLst>
          </a:prstGeom>
          <a:solidFill>
            <a:srgbClr val="10B981"/>
          </a:solidFill>
          <a:ln/>
        </p:spPr>
        <p:txBody>
          <a:bodyPr/>
          <a:lstStyle/>
          <a:p>
            <a:endParaRPr lang="en-GB"/>
          </a:p>
        </p:txBody>
      </p:sp>
      <p:sp>
        <p:nvSpPr>
          <p:cNvPr id="38" name="Text 31"/>
          <p:cNvSpPr/>
          <p:nvPr/>
        </p:nvSpPr>
        <p:spPr>
          <a:xfrm>
            <a:off x="3904488" y="379476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39" name="Text 32"/>
          <p:cNvSpPr/>
          <p:nvPr/>
        </p:nvSpPr>
        <p:spPr>
          <a:xfrm>
            <a:off x="1106424" y="379476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Notification system</a:t>
            </a:r>
            <a:endParaRPr lang="en-US" sz="1300" dirty="0"/>
          </a:p>
        </p:txBody>
      </p:sp>
      <p:sp>
        <p:nvSpPr>
          <p:cNvPr id="40" name="Text 33"/>
          <p:cNvSpPr/>
          <p:nvPr/>
        </p:nvSpPr>
        <p:spPr>
          <a:xfrm>
            <a:off x="1106424" y="411480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Email or in-app alerts for upcoming deadlines, overdue marking, and scheduled visits</a:t>
            </a:r>
            <a:endParaRPr lang="en-US" sz="1050" dirty="0"/>
          </a:p>
        </p:txBody>
      </p:sp>
      <p:sp>
        <p:nvSpPr>
          <p:cNvPr id="41" name="Shape 34"/>
          <p:cNvSpPr/>
          <p:nvPr/>
        </p:nvSpPr>
        <p:spPr>
          <a:xfrm>
            <a:off x="4800600" y="3657600"/>
            <a:ext cx="4160520" cy="1188720"/>
          </a:xfrm>
          <a:prstGeom prst="roundRect">
            <a:avLst>
              <a:gd name="adj" fmla="val 7692"/>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42" name="Shape 35"/>
          <p:cNvSpPr/>
          <p:nvPr/>
        </p:nvSpPr>
        <p:spPr>
          <a:xfrm>
            <a:off x="4965192" y="4023360"/>
            <a:ext cx="384048" cy="384048"/>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43" name="Image 5" descr="preencoded.png"/>
          <p:cNvPicPr>
            <a:picLocks noChangeAspect="1"/>
          </p:cNvPicPr>
          <p:nvPr/>
        </p:nvPicPr>
        <p:blipFill>
          <a:blip r:embed="rId8"/>
          <a:stretch>
            <a:fillRect/>
          </a:stretch>
        </p:blipFill>
        <p:spPr>
          <a:xfrm>
            <a:off x="5022799" y="4080967"/>
            <a:ext cx="268834" cy="268834"/>
          </a:xfrm>
          <a:prstGeom prst="rect">
            <a:avLst/>
          </a:prstGeom>
        </p:spPr>
      </p:pic>
      <p:sp>
        <p:nvSpPr>
          <p:cNvPr id="44" name="Shape 36"/>
          <p:cNvSpPr/>
          <p:nvPr/>
        </p:nvSpPr>
        <p:spPr>
          <a:xfrm>
            <a:off x="8293608" y="3794760"/>
            <a:ext cx="548640" cy="256032"/>
          </a:xfrm>
          <a:prstGeom prst="roundRect">
            <a:avLst>
              <a:gd name="adj" fmla="val 17857"/>
            </a:avLst>
          </a:prstGeom>
          <a:solidFill>
            <a:srgbClr val="10B981"/>
          </a:solidFill>
          <a:ln/>
        </p:spPr>
        <p:txBody>
          <a:bodyPr/>
          <a:lstStyle/>
          <a:p>
            <a:endParaRPr lang="en-GB"/>
          </a:p>
        </p:txBody>
      </p:sp>
      <p:sp>
        <p:nvSpPr>
          <p:cNvPr id="45" name="Text 37"/>
          <p:cNvSpPr/>
          <p:nvPr/>
        </p:nvSpPr>
        <p:spPr>
          <a:xfrm>
            <a:off x="8293608" y="3794760"/>
            <a:ext cx="5486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46" name="Text 38"/>
          <p:cNvSpPr/>
          <p:nvPr/>
        </p:nvSpPr>
        <p:spPr>
          <a:xfrm>
            <a:off x="5495544" y="3794760"/>
            <a:ext cx="27432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Advanced analytics</a:t>
            </a:r>
            <a:endParaRPr lang="en-US" sz="1300" dirty="0"/>
          </a:p>
        </p:txBody>
      </p:sp>
      <p:sp>
        <p:nvSpPr>
          <p:cNvPr id="47" name="Text 39"/>
          <p:cNvSpPr/>
          <p:nvPr/>
        </p:nvSpPr>
        <p:spPr>
          <a:xfrm>
            <a:off x="5495544" y="4114800"/>
            <a:ext cx="3337560" cy="5943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Trend reporting: pass rates over time, cohort comparison, predictive at-risk modelling</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Recommendations — Future Features</a:t>
            </a:r>
            <a:endParaRPr lang="en-US" sz="3000" dirty="0"/>
          </a:p>
        </p:txBody>
      </p:sp>
      <p:sp>
        <p:nvSpPr>
          <p:cNvPr id="3" name="Shape 1"/>
          <p:cNvSpPr/>
          <p:nvPr/>
        </p:nvSpPr>
        <p:spPr>
          <a:xfrm>
            <a:off x="8503920" y="137160"/>
            <a:ext cx="320040" cy="320040"/>
          </a:xfrm>
          <a:prstGeom prst="ellipse">
            <a:avLst/>
          </a:prstGeom>
          <a:solidFill>
            <a:srgbClr val="2DD4BF">
              <a:alpha val="60000"/>
            </a:srgbClr>
          </a:solidFill>
          <a:ln/>
        </p:spPr>
        <p:txBody>
          <a:bodyPr/>
          <a:lstStyle/>
          <a:p>
            <a:endParaRPr lang="en-GB"/>
          </a:p>
        </p:txBody>
      </p:sp>
      <p:sp>
        <p:nvSpPr>
          <p:cNvPr id="4" name="Shape 2"/>
          <p:cNvSpPr/>
          <p:nvPr/>
        </p:nvSpPr>
        <p:spPr>
          <a:xfrm>
            <a:off x="411480" y="777240"/>
            <a:ext cx="1645920" cy="256032"/>
          </a:xfrm>
          <a:prstGeom prst="roundRect">
            <a:avLst>
              <a:gd name="adj" fmla="val 21429"/>
            </a:avLst>
          </a:prstGeom>
          <a:solidFill>
            <a:srgbClr val="2DD4BF">
              <a:alpha val="80000"/>
            </a:srgbClr>
          </a:solidFill>
          <a:ln/>
        </p:spPr>
        <p:txBody>
          <a:bodyPr/>
          <a:lstStyle/>
          <a:p>
            <a:endParaRPr lang="en-GB"/>
          </a:p>
        </p:txBody>
      </p:sp>
      <p:sp>
        <p:nvSpPr>
          <p:cNvPr id="5" name="Text 3"/>
          <p:cNvSpPr/>
          <p:nvPr/>
        </p:nvSpPr>
        <p:spPr>
          <a:xfrm>
            <a:off x="411480" y="748284"/>
            <a:ext cx="1645920" cy="256032"/>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RECOMMENDATIONS  2 OF 2</a:t>
            </a:r>
            <a:endParaRPr lang="en-US" sz="9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7" name="Shape 5"/>
          <p:cNvSpPr/>
          <p:nvPr/>
        </p:nvSpPr>
        <p:spPr>
          <a:xfrm>
            <a:off x="411480" y="960120"/>
            <a:ext cx="4114800" cy="1783080"/>
          </a:xfrm>
          <a:prstGeom prst="roundRect">
            <a:avLst>
              <a:gd name="adj" fmla="val 5128"/>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8" name="Shape 6"/>
          <p:cNvSpPr/>
          <p:nvPr/>
        </p:nvSpPr>
        <p:spPr>
          <a:xfrm>
            <a:off x="594360" y="1618488"/>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9" name="Image 0" descr="preencoded.png"/>
          <p:cNvPicPr>
            <a:picLocks noChangeAspect="1"/>
          </p:cNvPicPr>
          <p:nvPr/>
        </p:nvPicPr>
        <p:blipFill>
          <a:blip r:embed="rId3"/>
          <a:stretch>
            <a:fillRect/>
          </a:stretch>
        </p:blipFill>
        <p:spPr>
          <a:xfrm>
            <a:off x="662940" y="1687068"/>
            <a:ext cx="320040" cy="320040"/>
          </a:xfrm>
          <a:prstGeom prst="rect">
            <a:avLst/>
          </a:prstGeom>
        </p:spPr>
      </p:pic>
      <p:sp>
        <p:nvSpPr>
          <p:cNvPr id="10" name="Text 7"/>
          <p:cNvSpPr/>
          <p:nvPr/>
        </p:nvSpPr>
        <p:spPr>
          <a:xfrm>
            <a:off x="1216152" y="1124712"/>
            <a:ext cx="3154680" cy="365760"/>
          </a:xfrm>
          <a:prstGeom prst="rect">
            <a:avLst/>
          </a:prstGeom>
          <a:noFill/>
          <a:ln/>
        </p:spPr>
        <p:txBody>
          <a:bodyPr wrap="square" lIns="0" tIns="0" rIns="0" bIns="0"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University System Integration</a:t>
            </a:r>
            <a:endParaRPr lang="en-US" sz="1300" dirty="0"/>
          </a:p>
        </p:txBody>
      </p:sp>
      <p:sp>
        <p:nvSpPr>
          <p:cNvPr id="11" name="Text 8"/>
          <p:cNvSpPr/>
          <p:nvPr/>
        </p:nvSpPr>
        <p:spPr>
          <a:xfrm>
            <a:off x="1216152" y="1527048"/>
            <a:ext cx="3154680" cy="10515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Connect to institutional SIS/LMS to eliminate manual CSV exports and keep grade data automatically synchronised.</a:t>
            </a:r>
            <a:endParaRPr lang="en-US" sz="1150" dirty="0"/>
          </a:p>
        </p:txBody>
      </p:sp>
      <p:sp>
        <p:nvSpPr>
          <p:cNvPr id="12" name="Shape 9"/>
          <p:cNvSpPr/>
          <p:nvPr/>
        </p:nvSpPr>
        <p:spPr>
          <a:xfrm>
            <a:off x="4754880" y="960120"/>
            <a:ext cx="4114800" cy="1783080"/>
          </a:xfrm>
          <a:prstGeom prst="roundRect">
            <a:avLst>
              <a:gd name="adj" fmla="val 5128"/>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3" name="Shape 10"/>
          <p:cNvSpPr/>
          <p:nvPr/>
        </p:nvSpPr>
        <p:spPr>
          <a:xfrm>
            <a:off x="4937760" y="1618488"/>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4" name="Image 1" descr="preencoded.png"/>
          <p:cNvPicPr>
            <a:picLocks noChangeAspect="1"/>
          </p:cNvPicPr>
          <p:nvPr/>
        </p:nvPicPr>
        <p:blipFill>
          <a:blip r:embed="rId4"/>
          <a:stretch>
            <a:fillRect/>
          </a:stretch>
        </p:blipFill>
        <p:spPr>
          <a:xfrm>
            <a:off x="5006340" y="1687068"/>
            <a:ext cx="320040" cy="320040"/>
          </a:xfrm>
          <a:prstGeom prst="rect">
            <a:avLst/>
          </a:prstGeom>
        </p:spPr>
      </p:pic>
      <p:sp>
        <p:nvSpPr>
          <p:cNvPr id="15" name="Text 11"/>
          <p:cNvSpPr/>
          <p:nvPr/>
        </p:nvSpPr>
        <p:spPr>
          <a:xfrm>
            <a:off x="5559552" y="1124712"/>
            <a:ext cx="3154680" cy="365760"/>
          </a:xfrm>
          <a:prstGeom prst="rect">
            <a:avLst/>
          </a:prstGeom>
          <a:noFill/>
          <a:ln/>
        </p:spPr>
        <p:txBody>
          <a:bodyPr wrap="square" lIns="0" tIns="0" rIns="0" bIns="0"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Expanded KSB Evidence Linking</a:t>
            </a:r>
            <a:endParaRPr lang="en-US" sz="1300" dirty="0"/>
          </a:p>
        </p:txBody>
      </p:sp>
      <p:sp>
        <p:nvSpPr>
          <p:cNvPr id="16" name="Text 12"/>
          <p:cNvSpPr/>
          <p:nvPr/>
        </p:nvSpPr>
        <p:spPr>
          <a:xfrm>
            <a:off x="5559552" y="1527048"/>
            <a:ext cx="3154680" cy="10515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Allow evidence records to be tagged directly to KSB codes, strengthening the demonstrable link between provision and inspection criteria.</a:t>
            </a:r>
            <a:endParaRPr lang="en-US" sz="1150" dirty="0"/>
          </a:p>
        </p:txBody>
      </p:sp>
      <p:sp>
        <p:nvSpPr>
          <p:cNvPr id="17" name="Shape 13"/>
          <p:cNvSpPr/>
          <p:nvPr/>
        </p:nvSpPr>
        <p:spPr>
          <a:xfrm>
            <a:off x="411480" y="2926080"/>
            <a:ext cx="4114800" cy="1783080"/>
          </a:xfrm>
          <a:prstGeom prst="roundRect">
            <a:avLst>
              <a:gd name="adj" fmla="val 5128"/>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18" name="Shape 14"/>
          <p:cNvSpPr/>
          <p:nvPr/>
        </p:nvSpPr>
        <p:spPr>
          <a:xfrm>
            <a:off x="594360" y="3584448"/>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19" name="Image 2" descr="preencoded.png"/>
          <p:cNvPicPr>
            <a:picLocks noChangeAspect="1"/>
          </p:cNvPicPr>
          <p:nvPr/>
        </p:nvPicPr>
        <p:blipFill>
          <a:blip r:embed="rId5"/>
          <a:stretch>
            <a:fillRect/>
          </a:stretch>
        </p:blipFill>
        <p:spPr>
          <a:xfrm>
            <a:off x="662940" y="3653028"/>
            <a:ext cx="320040" cy="320040"/>
          </a:xfrm>
          <a:prstGeom prst="rect">
            <a:avLst/>
          </a:prstGeom>
        </p:spPr>
      </p:pic>
      <p:sp>
        <p:nvSpPr>
          <p:cNvPr id="20" name="Text 15"/>
          <p:cNvSpPr/>
          <p:nvPr/>
        </p:nvSpPr>
        <p:spPr>
          <a:xfrm>
            <a:off x="1216152" y="3090672"/>
            <a:ext cx="3154680" cy="365760"/>
          </a:xfrm>
          <a:prstGeom prst="rect">
            <a:avLst/>
          </a:prstGeom>
          <a:noFill/>
          <a:ln/>
        </p:spPr>
        <p:txBody>
          <a:bodyPr wrap="square" lIns="0" tIns="0" rIns="0" bIns="0"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Predictive Analytics</a:t>
            </a:r>
            <a:endParaRPr lang="en-US" sz="1300" dirty="0"/>
          </a:p>
        </p:txBody>
      </p:sp>
      <p:sp>
        <p:nvSpPr>
          <p:cNvPr id="21" name="Text 16"/>
          <p:cNvSpPr/>
          <p:nvPr/>
        </p:nvSpPr>
        <p:spPr>
          <a:xfrm>
            <a:off x="1216152" y="3493008"/>
            <a:ext cx="3154680" cy="10515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Use historical grade data to model at-risk likelihood early in the module, enabling proactive rather than reactive intervention.</a:t>
            </a:r>
            <a:endParaRPr lang="en-US" sz="1150" dirty="0"/>
          </a:p>
        </p:txBody>
      </p:sp>
      <p:sp>
        <p:nvSpPr>
          <p:cNvPr id="22" name="Shape 17"/>
          <p:cNvSpPr/>
          <p:nvPr/>
        </p:nvSpPr>
        <p:spPr>
          <a:xfrm>
            <a:off x="4754880" y="2926080"/>
            <a:ext cx="4114800" cy="1783080"/>
          </a:xfrm>
          <a:prstGeom prst="roundRect">
            <a:avLst>
              <a:gd name="adj" fmla="val 5128"/>
            </a:avLst>
          </a:prstGeom>
          <a:solidFill>
            <a:srgbClr val="FFFFFF"/>
          </a:solidFill>
          <a:ln/>
          <a:effectLst>
            <a:outerShdw blurRad="101600" dist="38100" dir="8100000" algn="bl" rotWithShape="0">
              <a:srgbClr val="000000">
                <a:alpha val="10000"/>
              </a:srgbClr>
            </a:outerShdw>
          </a:effectLst>
        </p:spPr>
        <p:txBody>
          <a:bodyPr/>
          <a:lstStyle/>
          <a:p>
            <a:endParaRPr lang="en-GB"/>
          </a:p>
        </p:txBody>
      </p:sp>
      <p:sp>
        <p:nvSpPr>
          <p:cNvPr id="23" name="Shape 18"/>
          <p:cNvSpPr/>
          <p:nvPr/>
        </p:nvSpPr>
        <p:spPr>
          <a:xfrm>
            <a:off x="4937760" y="3584448"/>
            <a:ext cx="457200" cy="457200"/>
          </a:xfrm>
          <a:prstGeom prst="ellipse">
            <a:avLst/>
          </a:prstGeom>
          <a:solidFill>
            <a:srgbClr val="0D7377"/>
          </a:solidFill>
          <a:ln/>
          <a:effectLst>
            <a:outerShdw blurRad="101600" dist="38100" dir="8100000" algn="bl" rotWithShape="0">
              <a:srgbClr val="000000">
                <a:alpha val="10000"/>
              </a:srgbClr>
            </a:outerShdw>
          </a:effectLst>
        </p:spPr>
        <p:txBody>
          <a:bodyPr/>
          <a:lstStyle/>
          <a:p>
            <a:endParaRPr lang="en-GB"/>
          </a:p>
        </p:txBody>
      </p:sp>
      <p:pic>
        <p:nvPicPr>
          <p:cNvPr id="24" name="Image 3" descr="preencoded.png"/>
          <p:cNvPicPr>
            <a:picLocks noChangeAspect="1"/>
          </p:cNvPicPr>
          <p:nvPr/>
        </p:nvPicPr>
        <p:blipFill>
          <a:blip r:embed="rId6"/>
          <a:stretch>
            <a:fillRect/>
          </a:stretch>
        </p:blipFill>
        <p:spPr>
          <a:xfrm>
            <a:off x="5006340" y="3653028"/>
            <a:ext cx="320040" cy="320040"/>
          </a:xfrm>
          <a:prstGeom prst="rect">
            <a:avLst/>
          </a:prstGeom>
        </p:spPr>
      </p:pic>
      <p:sp>
        <p:nvSpPr>
          <p:cNvPr id="25" name="Text 19"/>
          <p:cNvSpPr/>
          <p:nvPr/>
        </p:nvSpPr>
        <p:spPr>
          <a:xfrm>
            <a:off x="5559552" y="3090672"/>
            <a:ext cx="3154680" cy="365760"/>
          </a:xfrm>
          <a:prstGeom prst="rect">
            <a:avLst/>
          </a:prstGeom>
          <a:noFill/>
          <a:ln/>
        </p:spPr>
        <p:txBody>
          <a:bodyPr wrap="square" lIns="0" tIns="0" rIns="0" bIns="0"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Self-Assessment Report (SAR)</a:t>
            </a:r>
            <a:endParaRPr lang="en-US" sz="1300" dirty="0"/>
          </a:p>
        </p:txBody>
      </p:sp>
      <p:sp>
        <p:nvSpPr>
          <p:cNvPr id="26" name="Text 20"/>
          <p:cNvSpPr/>
          <p:nvPr/>
        </p:nvSpPr>
        <p:spPr>
          <a:xfrm>
            <a:off x="5559552" y="3493008"/>
            <a:ext cx="3154680" cy="10515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Auto-generate Ofsted SAR documents from system data, saving programme leaders significant manual effort at inspection time.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411480" y="713232"/>
            <a:ext cx="8321040" cy="0"/>
          </a:xfrm>
          <a:prstGeom prst="line">
            <a:avLst/>
          </a:prstGeom>
          <a:noFill/>
          <a:ln w="6350">
            <a:solidFill>
              <a:srgbClr val="E2E8F0"/>
            </a:solidFill>
            <a:prstDash val="solid"/>
          </a:ln>
        </p:spPr>
        <p:txBody>
          <a:bodyPr/>
          <a:lstStyle/>
          <a:p>
            <a:endParaRPr lang="en-GB"/>
          </a:p>
        </p:txBody>
      </p:sp>
      <p:sp>
        <p:nvSpPr>
          <p:cNvPr id="4" name="TextBox 3">
            <a:extLst>
              <a:ext uri="{FF2B5EF4-FFF2-40B4-BE49-F238E27FC236}">
                <a16:creationId xmlns:a16="http://schemas.microsoft.com/office/drawing/2014/main" id="{F6DCA5B4-B3CC-8654-D73D-3B818C44379D}"/>
              </a:ext>
            </a:extLst>
          </p:cNvPr>
          <p:cNvSpPr txBox="1"/>
          <p:nvPr/>
        </p:nvSpPr>
        <p:spPr>
          <a:xfrm>
            <a:off x="314960" y="1473204"/>
            <a:ext cx="6898640" cy="1754326"/>
          </a:xfrm>
          <a:prstGeom prst="rect">
            <a:avLst/>
          </a:prstGeom>
          <a:noFill/>
        </p:spPr>
        <p:txBody>
          <a:bodyPr wrap="square">
            <a:spAutoFit/>
          </a:bodyPr>
          <a:lstStyle/>
          <a:p>
            <a:pPr marL="285750" indent="-285750">
              <a:buFont typeface="Arial" panose="020B0604020202020204" pitchFamily="34" charset="0"/>
              <a:buChar char="•"/>
            </a:pPr>
            <a:r>
              <a:rPr lang="en-GB" dirty="0"/>
              <a:t>Clarity Edu successfully delivered a functional MVP supporting academic quality management and continuous Ofsted readiness</a:t>
            </a:r>
          </a:p>
          <a:p>
            <a:pPr marL="285750" indent="-285750">
              <a:buFont typeface="Arial" panose="020B0604020202020204" pitchFamily="34" charset="0"/>
              <a:buChar char="•"/>
            </a:pPr>
            <a:r>
              <a:rPr lang="en-GB" dirty="0"/>
              <a:t>Improved learner monitoring across programmes</a:t>
            </a:r>
          </a:p>
          <a:p>
            <a:pPr marL="285750" indent="-285750">
              <a:buFont typeface="Arial" panose="020B0604020202020204" pitchFamily="34" charset="0"/>
              <a:buChar char="•"/>
            </a:pPr>
            <a:r>
              <a:rPr lang="en-GB" dirty="0"/>
              <a:t>Reduced administrative workload for staff</a:t>
            </a:r>
          </a:p>
          <a:p>
            <a:pPr marL="285750" indent="-285750">
              <a:buFont typeface="Arial" panose="020B0604020202020204" pitchFamily="34" charset="0"/>
              <a:buChar char="•"/>
            </a:pPr>
            <a:r>
              <a:rPr lang="en-GB" dirty="0"/>
              <a:t>Centralised platform for programme management</a:t>
            </a:r>
          </a:p>
          <a:p>
            <a:pPr marL="285750" indent="-285750">
              <a:buFont typeface="Arial" panose="020B0604020202020204" pitchFamily="34" charset="0"/>
              <a:buChar char="•"/>
            </a:pPr>
            <a:r>
              <a:rPr lang="en-GB" dirty="0"/>
              <a:t>Project objectives fully achieved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2743200" y="-731520"/>
            <a:ext cx="4114800" cy="4114800"/>
          </a:xfrm>
          <a:prstGeom prst="ellipse">
            <a:avLst/>
          </a:prstGeom>
          <a:solidFill>
            <a:srgbClr val="14A8AD">
              <a:alpha val="12000"/>
            </a:srgbClr>
          </a:solidFill>
          <a:ln/>
        </p:spPr>
        <p:txBody>
          <a:bodyPr/>
          <a:lstStyle/>
          <a:p>
            <a:endParaRPr lang="en-GB"/>
          </a:p>
        </p:txBody>
      </p:sp>
      <p:sp>
        <p:nvSpPr>
          <p:cNvPr id="3" name="Text 1"/>
          <p:cNvSpPr/>
          <p:nvPr/>
        </p:nvSpPr>
        <p:spPr>
          <a:xfrm>
            <a:off x="457200" y="1005840"/>
            <a:ext cx="822960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Q &amp; A</a:t>
            </a:r>
            <a:endParaRPr lang="en-US" sz="8000" dirty="0"/>
          </a:p>
        </p:txBody>
      </p:sp>
      <p:sp>
        <p:nvSpPr>
          <p:cNvPr id="4" name="Text 2"/>
          <p:cNvSpPr/>
          <p:nvPr/>
        </p:nvSpPr>
        <p:spPr>
          <a:xfrm>
            <a:off x="457200" y="2423160"/>
            <a:ext cx="8229600" cy="502920"/>
          </a:xfrm>
          <a:prstGeom prst="rect">
            <a:avLst/>
          </a:prstGeom>
          <a:noFill/>
          <a:ln/>
        </p:spPr>
        <p:txBody>
          <a:bodyPr wrap="square" lIns="0" tIns="0" rIns="0" bIns="0" rtlCol="0" anchor="ctr"/>
          <a:lstStyle/>
          <a:p>
            <a:pPr marL="0" indent="0" algn="ctr">
              <a:buNone/>
            </a:pP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D7377">
              <a:alpha val="18000"/>
            </a:srgbClr>
          </a:solidFill>
          <a:ln/>
        </p:spPr>
        <p:txBody>
          <a:bodyPr/>
          <a:lstStyle/>
          <a:p>
            <a:endParaRPr lang="en-GB"/>
          </a:p>
        </p:txBody>
      </p:sp>
      <p:sp>
        <p:nvSpPr>
          <p:cNvPr id="3" name="Shape 1"/>
          <p:cNvSpPr/>
          <p:nvPr/>
        </p:nvSpPr>
        <p:spPr>
          <a:xfrm>
            <a:off x="-1371600" y="2926080"/>
            <a:ext cx="3657600" cy="3657600"/>
          </a:xfrm>
          <a:prstGeom prst="ellipse">
            <a:avLst/>
          </a:prstGeom>
          <a:solidFill>
            <a:srgbClr val="2DD4BF">
              <a:alpha val="12000"/>
            </a:srgbClr>
          </a:solidFill>
          <a:ln/>
        </p:spPr>
        <p:txBody>
          <a:bodyPr/>
          <a:lstStyle/>
          <a:p>
            <a:endParaRPr lang="en-GB"/>
          </a:p>
        </p:txBody>
      </p:sp>
      <p:sp>
        <p:nvSpPr>
          <p:cNvPr id="4" name="Text 2"/>
          <p:cNvSpPr/>
          <p:nvPr/>
        </p:nvSpPr>
        <p:spPr>
          <a:xfrm>
            <a:off x="640080" y="1097280"/>
            <a:ext cx="7863840" cy="109728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Thank You</a:t>
            </a:r>
            <a:endParaRPr lang="en-US" sz="7200" dirty="0"/>
          </a:p>
        </p:txBody>
      </p:sp>
      <p:sp>
        <p:nvSpPr>
          <p:cNvPr id="5" name="Text 3"/>
          <p:cNvSpPr/>
          <p:nvPr/>
        </p:nvSpPr>
        <p:spPr>
          <a:xfrm>
            <a:off x="914400" y="2331720"/>
            <a:ext cx="7315200" cy="457200"/>
          </a:xfrm>
          <a:prstGeom prst="rect">
            <a:avLst/>
          </a:prstGeom>
          <a:noFill/>
          <a:ln/>
        </p:spPr>
        <p:txBody>
          <a:bodyPr wrap="square" lIns="0" tIns="0" rIns="0" bIns="0" rtlCol="0" anchor="ctr"/>
          <a:lstStyle/>
          <a:p>
            <a:pPr marL="0" indent="0" algn="ctr">
              <a:buNone/>
            </a:pPr>
            <a:r>
              <a:rPr lang="en-US" sz="1700" i="1" dirty="0">
                <a:solidFill>
                  <a:srgbClr val="2DD4BF"/>
                </a:solidFill>
                <a:latin typeface="Calibri" pitchFamily="34" charset="0"/>
                <a:ea typeface="Calibri" pitchFamily="34" charset="-122"/>
                <a:cs typeface="Calibri" pitchFamily="34" charset="-120"/>
              </a:rPr>
              <a:t>We hope Clarity demonstrates the value of continuous Ofsted readiness.</a:t>
            </a:r>
            <a:endParaRPr lang="en-US" sz="1700" dirty="0"/>
          </a:p>
        </p:txBody>
      </p:sp>
      <p:sp>
        <p:nvSpPr>
          <p:cNvPr id="6" name="Text 4"/>
          <p:cNvSpPr/>
          <p:nvPr/>
        </p:nvSpPr>
        <p:spPr>
          <a:xfrm>
            <a:off x="1371600" y="3063240"/>
            <a:ext cx="6400800" cy="365760"/>
          </a:xfrm>
          <a:prstGeom prst="rect">
            <a:avLst/>
          </a:prstGeom>
          <a:noFill/>
          <a:ln/>
        </p:spPr>
        <p:txBody>
          <a:bodyPr wrap="square" lIns="0" tIns="0" rIns="0" bIns="0"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GitHub:  </a:t>
            </a:r>
            <a:r>
              <a:rPr lang="en-US" sz="1300" dirty="0">
                <a:solidFill>
                  <a:srgbClr val="2DD4BF"/>
                </a:solidFill>
                <a:latin typeface="Calibri" pitchFamily="34" charset="0"/>
                <a:ea typeface="Calibri" pitchFamily="34" charset="-122"/>
                <a:cs typeface="Calibri" pitchFamily="34" charset="-120"/>
              </a:rPr>
              <a:t>github.com/Kanekrish/Clarity-Edu</a:t>
            </a:r>
            <a:endParaRPr lang="en-US" sz="1300" dirty="0"/>
          </a:p>
        </p:txBody>
      </p:sp>
      <p:sp>
        <p:nvSpPr>
          <p:cNvPr id="7" name="Text 5"/>
          <p:cNvSpPr/>
          <p:nvPr/>
        </p:nvSpPr>
        <p:spPr>
          <a:xfrm>
            <a:off x="914400" y="3520440"/>
            <a:ext cx="731520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Dr Ajmal Gharib  ·  Shiv (Supervisor)  ·  Southampton Solent University</a:t>
            </a:r>
            <a:endParaRPr lang="en-US" sz="1100" dirty="0"/>
          </a:p>
        </p:txBody>
      </p:sp>
      <p:sp>
        <p:nvSpPr>
          <p:cNvPr id="8" name="Shape 6"/>
          <p:cNvSpPr/>
          <p:nvPr/>
        </p:nvSpPr>
        <p:spPr>
          <a:xfrm>
            <a:off x="1417320" y="4069080"/>
            <a:ext cx="1417320" cy="594360"/>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9" name="Text 7"/>
          <p:cNvSpPr/>
          <p:nvPr/>
        </p:nvSpPr>
        <p:spPr>
          <a:xfrm>
            <a:off x="1417320" y="4069080"/>
            <a:ext cx="1417320" cy="594360"/>
          </a:xfrm>
          <a:prstGeom prst="rect">
            <a:avLst/>
          </a:prstGeom>
          <a:noFill/>
          <a:ln/>
        </p:spPr>
        <p:txBody>
          <a:bodyPr wrap="square" lIns="0" tIns="0" rIns="0" bIns="0" rtlCol="0" anchor="ctr"/>
          <a:lstStyle/>
          <a:p>
            <a:pPr marL="0" indent="0" algn="ctr">
              <a:buNone/>
            </a:pPr>
            <a:r>
              <a:rPr lang="en-US" sz="1400" b="1" dirty="0">
                <a:solidFill>
                  <a:srgbClr val="2DD4BF"/>
                </a:solidFill>
                <a:latin typeface="Calibri" pitchFamily="34" charset="0"/>
                <a:ea typeface="Calibri" pitchFamily="34" charset="-122"/>
                <a:cs typeface="Calibri" pitchFamily="34" charset="-120"/>
              </a:rPr>
              <a:t>Krishna</a:t>
            </a:r>
            <a:endParaRPr lang="en-US" sz="1400" dirty="0"/>
          </a:p>
        </p:txBody>
      </p:sp>
      <p:sp>
        <p:nvSpPr>
          <p:cNvPr id="10" name="Shape 8"/>
          <p:cNvSpPr/>
          <p:nvPr/>
        </p:nvSpPr>
        <p:spPr>
          <a:xfrm>
            <a:off x="3063240" y="4069080"/>
            <a:ext cx="1417320" cy="594360"/>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1" name="Text 9"/>
          <p:cNvSpPr/>
          <p:nvPr/>
        </p:nvSpPr>
        <p:spPr>
          <a:xfrm>
            <a:off x="3063240" y="4069080"/>
            <a:ext cx="1417320" cy="594360"/>
          </a:xfrm>
          <a:prstGeom prst="rect">
            <a:avLst/>
          </a:prstGeom>
          <a:noFill/>
          <a:ln/>
        </p:spPr>
        <p:txBody>
          <a:bodyPr wrap="square" lIns="0" tIns="0" rIns="0" bIns="0" rtlCol="0" anchor="ctr"/>
          <a:lstStyle/>
          <a:p>
            <a:pPr marL="0" indent="0" algn="ctr">
              <a:buNone/>
            </a:pPr>
            <a:r>
              <a:rPr lang="en-US" sz="1400" b="1" dirty="0">
                <a:solidFill>
                  <a:srgbClr val="2DD4BF"/>
                </a:solidFill>
                <a:latin typeface="Calibri" pitchFamily="34" charset="0"/>
                <a:ea typeface="Calibri" pitchFamily="34" charset="-122"/>
                <a:cs typeface="Calibri" pitchFamily="34" charset="-120"/>
              </a:rPr>
              <a:t>Delia-Larisa</a:t>
            </a:r>
            <a:endParaRPr lang="en-US" sz="1400" dirty="0"/>
          </a:p>
        </p:txBody>
      </p:sp>
      <p:sp>
        <p:nvSpPr>
          <p:cNvPr id="12" name="Shape 10"/>
          <p:cNvSpPr/>
          <p:nvPr/>
        </p:nvSpPr>
        <p:spPr>
          <a:xfrm>
            <a:off x="4709160" y="4069080"/>
            <a:ext cx="1417320" cy="594360"/>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3" name="Text 11"/>
          <p:cNvSpPr/>
          <p:nvPr/>
        </p:nvSpPr>
        <p:spPr>
          <a:xfrm>
            <a:off x="4709160" y="4069080"/>
            <a:ext cx="1417320" cy="594360"/>
          </a:xfrm>
          <a:prstGeom prst="rect">
            <a:avLst/>
          </a:prstGeom>
          <a:noFill/>
          <a:ln/>
        </p:spPr>
        <p:txBody>
          <a:bodyPr wrap="square" lIns="0" tIns="0" rIns="0" bIns="0" rtlCol="0" anchor="ctr"/>
          <a:lstStyle/>
          <a:p>
            <a:pPr marL="0" indent="0" algn="ctr">
              <a:buNone/>
            </a:pPr>
            <a:r>
              <a:rPr lang="en-US" sz="1400" b="1" dirty="0">
                <a:solidFill>
                  <a:srgbClr val="2DD4BF"/>
                </a:solidFill>
                <a:latin typeface="Calibri" pitchFamily="34" charset="0"/>
                <a:ea typeface="Calibri" pitchFamily="34" charset="-122"/>
                <a:cs typeface="Calibri" pitchFamily="34" charset="-120"/>
              </a:rPr>
              <a:t>Alin</a:t>
            </a:r>
            <a:endParaRPr lang="en-US" sz="1400" dirty="0"/>
          </a:p>
        </p:txBody>
      </p:sp>
      <p:sp>
        <p:nvSpPr>
          <p:cNvPr id="14" name="Shape 12"/>
          <p:cNvSpPr/>
          <p:nvPr/>
        </p:nvSpPr>
        <p:spPr>
          <a:xfrm>
            <a:off x="6355080" y="4069080"/>
            <a:ext cx="1417320" cy="594360"/>
          </a:xfrm>
          <a:prstGeom prst="roundRect">
            <a:avLst>
              <a:gd name="adj" fmla="val 15385"/>
            </a:avLst>
          </a:prstGeom>
          <a:solidFill>
            <a:srgbClr val="1A2332"/>
          </a:solidFill>
          <a:ln/>
          <a:effectLst>
            <a:outerShdw blurRad="101600" dist="38100" dir="8100000" algn="bl" rotWithShape="0">
              <a:srgbClr val="000000">
                <a:alpha val="10000"/>
              </a:srgbClr>
            </a:outerShdw>
          </a:effectLst>
        </p:spPr>
        <p:txBody>
          <a:bodyPr/>
          <a:lstStyle/>
          <a:p>
            <a:endParaRPr lang="en-GB"/>
          </a:p>
        </p:txBody>
      </p:sp>
      <p:sp>
        <p:nvSpPr>
          <p:cNvPr id="15" name="Text 13"/>
          <p:cNvSpPr/>
          <p:nvPr/>
        </p:nvSpPr>
        <p:spPr>
          <a:xfrm>
            <a:off x="6355080" y="4069080"/>
            <a:ext cx="1417320" cy="594360"/>
          </a:xfrm>
          <a:prstGeom prst="rect">
            <a:avLst/>
          </a:prstGeom>
          <a:noFill/>
          <a:ln/>
        </p:spPr>
        <p:txBody>
          <a:bodyPr wrap="square" lIns="0" tIns="0" rIns="0" bIns="0" rtlCol="0" anchor="ctr"/>
          <a:lstStyle/>
          <a:p>
            <a:pPr marL="0" indent="0" algn="ctr">
              <a:buNone/>
            </a:pPr>
            <a:r>
              <a:rPr lang="en-US" sz="1400" b="1" dirty="0">
                <a:solidFill>
                  <a:srgbClr val="2DD4BF"/>
                </a:solidFill>
                <a:latin typeface="Calibri" pitchFamily="34" charset="0"/>
                <a:ea typeface="Calibri" pitchFamily="34" charset="-122"/>
                <a:cs typeface="Calibri" pitchFamily="34" charset="-120"/>
              </a:rPr>
              <a:t>Ashik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3880</Words>
  <Application>Microsoft Office PowerPoint</Application>
  <PresentationFormat>On-screen Show (16:9)</PresentationFormat>
  <Paragraphs>483</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Clarity Edu – Final Presentation</dc:title>
  <dc:subject>PptxGenJS Presentation</dc:subject>
  <dc:creator>PptxGenJS</dc:creator>
  <cp:lastModifiedBy>Delia Alin</cp:lastModifiedBy>
  <cp:revision>29</cp:revision>
  <dcterms:created xsi:type="dcterms:W3CDTF">2026-06-10T18:39:30Z</dcterms:created>
  <dcterms:modified xsi:type="dcterms:W3CDTF">2026-06-11T05:00:56Z</dcterms:modified>
</cp:coreProperties>
</file>